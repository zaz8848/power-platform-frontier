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8337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P01 · 开场 · 40 秒</a:t>
            </a:r>
          </a:p>
          <a:p>
            <a:endParaRPr/>
          </a:p>
          <a:p>
            <a:r>
              <a:t>最近 Copilot Studio 更新了不少东西，说实话</a:t>
            </a:r>
          </a:p>
          <a:p>
            <a:r>
              <a:t>变化挺大的</a:t>
            </a:r>
          </a:p>
          <a:p>
            <a:r>
              <a:t>，几乎隔一阵就有新能力冒出来。</a:t>
            </a:r>
          </a:p>
          <a:p>
            <a:r>
              <a:t>⏸ 停 1 秒</a:t>
            </a:r>
          </a:p>
          <a:p>
            <a:r>
              <a:t>也正因为这样，最近</a:t>
            </a:r>
          </a:p>
          <a:p>
            <a:r>
              <a:t>很多客户跑来问我们</a:t>
            </a:r>
          </a:p>
          <a:p>
            <a:r>
              <a:t>——新版到底改了什么、我要不要跟。</a:t>
            </a:r>
          </a:p>
          <a:p>
            <a:r>
              <a:t>⏸ 停 2 秒</a:t>
            </a:r>
          </a:p>
          <a:p>
            <a:r>
              <a:t>所以今天这一场，</a:t>
            </a:r>
          </a:p>
          <a:p>
            <a:r>
              <a:t>我们不打算把功能从头到尾念一遍</a:t>
            </a:r>
          </a:p>
          <a:p>
            <a:r>
              <a:t>，而是</a:t>
            </a:r>
          </a:p>
          <a:p>
            <a:r>
              <a:t>挑了大家问得最多的四个问题</a:t>
            </a:r>
          </a:p>
          <a:p>
            <a:r>
              <a:t>，一个一个说清楚。</a:t>
            </a:r>
          </a:p>
          <a:p>
            <a:r>
              <a:t>⏸ 停 1 秒</a:t>
            </a:r>
          </a:p>
          <a:p>
            <a:r>
              <a:t>第一，</a:t>
            </a:r>
          </a:p>
          <a:p>
            <a:r>
              <a:t>它做了哪些核心改变</a:t>
            </a:r>
          </a:p>
          <a:p>
            <a:r>
              <a:t>；</a:t>
            </a:r>
          </a:p>
          <a:p>
            <a:r>
              <a:t>第二，</a:t>
            </a:r>
          </a:p>
          <a:p>
            <a:r>
              <a:t>面对复杂任务它强在哪</a:t>
            </a:r>
          </a:p>
          <a:p>
            <a:r>
              <a:t>；</a:t>
            </a:r>
          </a:p>
          <a:p>
            <a:r>
              <a:t>第三，</a:t>
            </a:r>
          </a:p>
          <a:p>
            <a:r>
              <a:t>功能和路线图长什么样</a:t>
            </a:r>
          </a:p>
          <a:p>
            <a:r>
              <a:t>；</a:t>
            </a:r>
          </a:p>
          <a:p>
            <a:r>
              <a:t>第四，</a:t>
            </a:r>
          </a:p>
          <a:p>
            <a:r>
              <a:t>怎么收费、成本怎么管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这四个想明白了，你基本就</a:t>
            </a:r>
          </a:p>
          <a:p>
            <a:r>
              <a:t>能判断该不该上、怎么上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而贯穿全场其实就一句话：</a:t>
            </a:r>
          </a:p>
          <a:p>
            <a:r>
              <a:t>三条 harness 并存，不是新的取代旧的，而是按需求挑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02 · 50 秒 · 先讲背景</a:t>
            </a:r>
          </a:p>
          <a:p>
            <a:endParaRPr/>
          </a:p>
          <a:p>
            <a:r>
              <a:t>先不谈产品，谈一件更根本的事：</a:t>
            </a:r>
          </a:p>
          <a:p>
            <a:r>
              <a:t>人对 AI 的期待变了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这四行你扫一眼就懂。但真正的分水岭是中间这一行——</a:t>
            </a:r>
          </a:p>
          <a:p>
            <a:r>
              <a:t>⏸ 停 1 秒</a:t>
            </a:r>
          </a:p>
          <a:p>
            <a:r>
              <a:t>AI 从「助手」变成「执行者」</a:t>
            </a:r>
          </a:p>
          <a:p>
            <a:r>
              <a:t>。从 AI assistant 到 AI doer。</a:t>
            </a:r>
          </a:p>
          <a:p>
            <a:r>
              <a:t>⏸ 停 3 秒 · 让这句话落地</a:t>
            </a:r>
          </a:p>
          <a:p>
            <a:r>
              <a:t>别小看这一个词的差别。</a:t>
            </a:r>
          </a:p>
          <a:p>
            <a:r>
              <a:t>回答问题，模型自己就够了</a:t>
            </a:r>
          </a:p>
          <a:p>
            <a:r>
              <a:t>；</a:t>
            </a:r>
          </a:p>
          <a:p>
            <a:r>
              <a:t>但接手工作，就得会规划、会调工具、跑错了还能自己爬起来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需求变了，AI 的工作模式跟着变——</a:t>
            </a:r>
          </a:p>
          <a:p>
            <a:r>
              <a:t>那么造 Agent 的平台，也必须换引擎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这就是今天所有内容的背景。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03 · 65 秒 · 为什么要三件套</a:t>
            </a:r>
          </a:p>
          <a:p>
            <a:endParaRPr/>
          </a:p>
          <a:p>
            <a:r>
              <a:t>换完引擎的 Copilot Studio 长什么样？一句话：</a:t>
            </a:r>
          </a:p>
          <a:p>
            <a:r>
              <a:t>一个 Studio，一次对话，三样一起建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但我更想先回答一个问题——</a:t>
            </a:r>
          </a:p>
          <a:p>
            <a:r>
              <a:t>为什么非要有 Workflow 和 App？只有 Agent 不行吗？</a:t>
            </a:r>
          </a:p>
          <a:p>
            <a:r>
              <a:t>⏸ 停 2 秒</a:t>
            </a:r>
          </a:p>
          <a:p>
            <a:r>
              <a:t>我的看法是：</a:t>
            </a:r>
          </a:p>
          <a:p>
            <a:r>
              <a:t>Agent 解决的是「判断」，但判断完了，得落到系统里</a:t>
            </a:r>
          </a:p>
          <a:p>
            <a:r>
              <a:t>。它想通了这张发票有问题，然后呢？</a:t>
            </a:r>
          </a:p>
          <a:p>
            <a:r>
              <a:t>要写进财务系统、要发审批、要有人点确认</a:t>
            </a:r>
          </a:p>
          <a:p>
            <a:r>
              <a:t>——这一步过去全靠写代码。</a:t>
            </a:r>
          </a:p>
          <a:p>
            <a:r>
              <a:t>⏸ 停 2 秒</a:t>
            </a:r>
          </a:p>
          <a:p>
            <a:r>
              <a:t>所以三件套是一条完整链路：</a:t>
            </a:r>
          </a:p>
          <a:p>
            <a:r>
              <a:t>Agent 管判断，Workflow 管执行，App 管确认</a:t>
            </a:r>
          </a:p>
          <a:p>
            <a:r>
              <a:t>。缺一环，事就跑不完。</a:t>
            </a:r>
          </a:p>
          <a:p>
            <a:r>
              <a:t>⏸ 停 2 秒</a:t>
            </a:r>
          </a:p>
          <a:p>
            <a:r>
              <a:t>顺便说说另外两家。</a:t>
            </a:r>
          </a:p>
          <a:p>
            <a:r>
              <a:t>Anthropic 走 MCP 加 SDK</a:t>
            </a:r>
          </a:p>
          <a:p>
            <a:r>
              <a:t>，工具能接，但编排还是靠写代码；</a:t>
            </a:r>
          </a:p>
          <a:p>
            <a:r>
              <a:t>OpenAI 更值得一提</a:t>
            </a:r>
          </a:p>
          <a:p>
            <a:r>
              <a:t>——他们做过可视化的 Agent Builder，但已经官宣</a:t>
            </a:r>
          </a:p>
          <a:p>
            <a:r>
              <a:t>今年 11 月 30 日停用</a:t>
            </a:r>
          </a:p>
          <a:p>
            <a:r>
              <a:t>，让大家回到 SDK，也就是回到写代码。</a:t>
            </a:r>
          </a:p>
          <a:p>
            <a:r>
              <a:t>⏸ 停 3 秒 · 让这个信息落地</a:t>
            </a:r>
          </a:p>
          <a:p>
            <a:r>
              <a:t>这说明什么？</a:t>
            </a:r>
          </a:p>
          <a:p>
            <a:r>
              <a:t>说明「编排」这一层是真的难做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而我们的选择不一样：</a:t>
            </a:r>
          </a:p>
          <a:p>
            <a:r>
              <a:t>把编排做成可视化画布，直接拖 1,500 多个现成连接器</a:t>
            </a:r>
          </a:p>
          <a:p>
            <a:r>
              <a:t>，业务人员自己就能接上。</a:t>
            </a:r>
          </a:p>
          <a:p>
            <a:r>
              <a:t>⏸ 停 2 秒</a:t>
            </a:r>
          </a:p>
          <a:p>
            <a:r>
              <a:t>不是谁强谁弱，是面向的人不同</a:t>
            </a:r>
          </a:p>
          <a:p>
            <a:r>
              <a:t>——他们交给开发者，我们交给懂业务的人。</a:t>
            </a:r>
          </a:p>
          <a:p>
            <a:r>
              <a:t>⏸ 停 2 秒</a:t>
            </a:r>
          </a:p>
          <a:p>
            <a:r>
              <a:t>说得再好，不如看一眼。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03B · 40 秒 · 横向对比</a:t>
            </a:r>
          </a:p>
          <a:p>
            <a:endParaRPr/>
          </a:p>
          <a:p>
            <a:r>
              <a:t>刚才说 Copilot Studio 是</a:t>
            </a:r>
          </a:p>
          <a:p>
            <a:r>
              <a:t>一个 Studio 建三件套</a:t>
            </a:r>
          </a:p>
          <a:p>
            <a:r>
              <a:t>。那放到整个行业里，</a:t>
            </a:r>
          </a:p>
          <a:p>
            <a:r>
              <a:t>别人是不是也这样？</a:t>
            </a:r>
          </a:p>
          <a:p>
            <a:r>
              <a:t>⏸ 停 2 秒</a:t>
            </a:r>
          </a:p>
          <a:p>
            <a:r>
              <a:t>我把四家摆在一起看，标准就一个：</a:t>
            </a:r>
          </a:p>
          <a:p>
            <a:r>
              <a:t>同样要建 Agent、Workflow、App 这三层，谁能不写代码、一站式做完。</a:t>
            </a:r>
          </a:p>
          <a:p>
            <a:r>
              <a:t>⏸ 停 2 秒</a:t>
            </a:r>
          </a:p>
          <a:p>
            <a:r>
              <a:t>Agent 这一层，四家都行</a:t>
            </a:r>
          </a:p>
          <a:p>
            <a:r>
              <a:t>——都能建一个会判断的智能体。</a:t>
            </a:r>
          </a:p>
          <a:p>
            <a:r>
              <a:t>⏸ 停 1 秒</a:t>
            </a:r>
          </a:p>
          <a:p>
            <a:r>
              <a:t>但往下走就分化了。</a:t>
            </a:r>
          </a:p>
          <a:p>
            <a:r>
              <a:t>Workflow 编排层</a:t>
            </a:r>
          </a:p>
          <a:p>
            <a:r>
              <a:t>：OpenAI 做过可视化 Agent Builder，</a:t>
            </a:r>
          </a:p>
          <a:p>
            <a:r>
              <a:t>但已官宣今年 11 月 30 日停用</a:t>
            </a:r>
          </a:p>
          <a:p>
            <a:r>
              <a:t>，让大家回到 SDK；Anthropic 直接就是 MCP 加 SDK，靠写代码；Google 的 Pipelines 也是偏工程。</a:t>
            </a:r>
          </a:p>
          <a:p>
            <a:r>
              <a:t>⏸ 停 2 秒</a:t>
            </a:r>
          </a:p>
          <a:p>
            <a:r>
              <a:t>App 这一层差距最大</a:t>
            </a:r>
          </a:p>
          <a:p>
            <a:r>
              <a:t>——让人在界面里查看、修改、批准，OpenAI 只有能嵌聊天窗的 ChatKit，Google 和 Anthropic 干脆没有。</a:t>
            </a:r>
          </a:p>
          <a:p>
            <a:r>
              <a:t>⏸ 停 2 秒</a:t>
            </a:r>
          </a:p>
          <a:p>
            <a:r>
              <a:t>所以</a:t>
            </a:r>
          </a:p>
          <a:p>
            <a:r>
              <a:t>不是谁强谁弱，是面向谁</a:t>
            </a:r>
          </a:p>
          <a:p>
            <a:r>
              <a:t>：其他三家都交给</a:t>
            </a:r>
          </a:p>
          <a:p>
            <a:r>
              <a:t>开发者写代码</a:t>
            </a:r>
          </a:p>
          <a:p>
            <a:r>
              <a:t>，只有 Copilot Studio 把三层都做成</a:t>
            </a:r>
          </a:p>
          <a:p>
            <a:r>
              <a:t>懂业务的人能用的低代码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这就是它真正的差异化。说得再好不如看一眼——下面直接现场建一遍。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04 · Demo · 25 秒 + 视频</a:t>
            </a:r>
          </a:p>
          <a:p>
            <a:endParaRPr/>
          </a:p>
          <a:p>
            <a:r>
              <a:t>这段我少说，</a:t>
            </a:r>
          </a:p>
          <a:p>
            <a:r>
              <a:t>你们自己看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看的时候留意四件事：</a:t>
            </a:r>
          </a:p>
          <a:p>
            <a:r>
              <a:t>提需求用的是日常语言</a:t>
            </a:r>
          </a:p>
          <a:p>
            <a:r>
              <a:t>，不写代码；</a:t>
            </a:r>
          </a:p>
          <a:p>
            <a:r>
              <a:t>它自己拆解</a:t>
            </a:r>
          </a:p>
          <a:p>
            <a:r>
              <a:t>，理解意图、生成结构、接上数据；</a:t>
            </a:r>
          </a:p>
          <a:p>
            <a:r>
              <a:t>生成完当场能试</a:t>
            </a:r>
          </a:p>
          <a:p>
            <a:r>
              <a:t>，不满意再说一句就改；最后出来的是</a:t>
            </a:r>
          </a:p>
          <a:p>
            <a:r>
              <a:t>三件套互相调用</a:t>
            </a:r>
          </a:p>
          <a:p>
            <a:r>
              <a:t>，不是一个孤立的聊天机器人。</a:t>
            </a:r>
          </a:p>
          <a:p>
            <a:r>
              <a:t>⏸ 停 2 秒 · 然后播放</a:t>
            </a:r>
          </a:p>
          <a:p>
            <a:r>
              <a:t>……看完了。</a:t>
            </a:r>
          </a:p>
          <a:p>
            <a:r>
              <a:t>⏸ 停 1 秒</a:t>
            </a:r>
          </a:p>
          <a:p>
            <a:r>
              <a:t>那问题就来了——</a:t>
            </a:r>
          </a:p>
          <a:p>
            <a:r>
              <a:t>它凭什么能做到这些？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05 · 60 秒 · 只换了一层</a:t>
            </a:r>
          </a:p>
          <a:p>
            <a:endParaRPr/>
          </a:p>
          <a:p>
            <a:r>
              <a:t>答案在这张图上：</a:t>
            </a:r>
          </a:p>
          <a:p>
            <a:r>
              <a:t>只换了一层，就是中间的执行引擎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看左边。以前是</a:t>
            </a:r>
          </a:p>
          <a:p>
            <a:r>
              <a:t>Standard 的规则编排</a:t>
            </a:r>
          </a:p>
          <a:p>
            <a:r>
              <a:t>——Topics 加 Agent Flow，</a:t>
            </a:r>
          </a:p>
          <a:p>
            <a:r>
              <a:t>按你配好的路径走，遇到没配过的情况就停在那儿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换成 GHCP 之后变成</a:t>
            </a:r>
          </a:p>
          <a:p>
            <a:r>
              <a:t>agentic orchestrator</a:t>
            </a:r>
          </a:p>
          <a:p>
            <a:r>
              <a:t>：</a:t>
            </a:r>
          </a:p>
          <a:p>
            <a:r>
              <a:t>自己规划、自己迭代、跑错自己恢复</a:t>
            </a:r>
          </a:p>
          <a:p>
            <a:r>
              <a:t>，而且这个 loop 是</a:t>
            </a:r>
          </a:p>
          <a:p>
            <a:r>
              <a:t>在隔离的安全沙箱里跑的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但请特别看</a:t>
            </a:r>
          </a:p>
          <a:p>
            <a:r>
              <a:t>没变的部分</a:t>
            </a:r>
          </a:p>
          <a:p>
            <a:r>
              <a:t>——上面的渠道接入，Teams、M365 Copilot、Web；下面受治理的模型调用。</a:t>
            </a:r>
          </a:p>
          <a:p>
            <a:r>
              <a:t>三条 harness 完全一样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所以这不是让你重建一套，是</a:t>
            </a:r>
          </a:p>
          <a:p>
            <a:r>
              <a:t>同一个平台里换个更强的引擎</a:t>
            </a:r>
          </a:p>
          <a:p>
            <a:r>
              <a:t>。</a:t>
            </a:r>
          </a:p>
          <a:p>
            <a:r>
              <a:t>⏸ 停 3 秒 · 手指向绿色那条</a:t>
            </a:r>
          </a:p>
          <a:p>
            <a:r>
              <a:t>最后一句几乎每个客户都会问：</a:t>
            </a:r>
          </a:p>
          <a:p>
            <a:r>
              <a:t>不用另外买 GitHub Copilot License</a:t>
            </a:r>
          </a:p>
          <a:p>
            <a:r>
              <a:t>。它是内置的执行引擎，不是单独采购的产品——</a:t>
            </a:r>
          </a:p>
          <a:p>
            <a:r>
              <a:t>只消耗 Copilot Credits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06 · 70 秒 · 能力配数字</a:t>
            </a:r>
          </a:p>
          <a:p>
            <a:endParaRPr/>
          </a:p>
          <a:p>
            <a:r>
              <a:t>换了引擎，具体多了哪些本事？</a:t>
            </a:r>
          </a:p>
          <a:p>
            <a:r>
              <a:t>四件事，每一件我都配了数字</a:t>
            </a:r>
          </a:p>
          <a:p>
            <a:r>
              <a:t>——因为「更强」这两个字，</a:t>
            </a:r>
          </a:p>
          <a:p>
            <a:r>
              <a:t>不给数据就是空话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94% 的通过率，所以它啃得动复杂流程</a:t>
            </a:r>
          </a:p>
          <a:p>
            <a:r>
              <a:t>——把一件大事自己拆成若干步做到完。以前呢？一次问答就结束了。</a:t>
            </a:r>
          </a:p>
          <a:p>
            <a:r>
              <a:t>⏸ 停 2 秒</a:t>
            </a:r>
          </a:p>
          <a:p>
            <a:r>
              <a:t>半年 58 个点的进步，所以它跑错了自己恢复</a:t>
            </a:r>
          </a:p>
          <a:p>
            <a:r>
              <a:t>——某一步失败会重试或换条路，而不是停摆。</a:t>
            </a:r>
          </a:p>
          <a:p>
            <a:r>
              <a:t>⏸ 停 2 秒</a:t>
            </a:r>
          </a:p>
          <a:p>
            <a:r>
              <a:t>Multi-tool 涨 11.9 个点、File 任务涨 28.2，所以工具挑得准</a:t>
            </a:r>
          </a:p>
          <a:p>
            <a:r>
              <a:t>——第一次就选对工具、填对参数。</a:t>
            </a:r>
          </a:p>
          <a:p>
            <a:r>
              <a:t>⏸ 停 2 秒</a:t>
            </a:r>
          </a:p>
          <a:p>
            <a:r>
              <a:t>最后一张最反直觉：</a:t>
            </a:r>
          </a:p>
          <a:p>
            <a:r>
              <a:t>输入 token 降了 45%，所以它又稳又省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为什么能同时做到？</a:t>
            </a:r>
          </a:p>
          <a:p>
            <a:r>
              <a:t>更听指令就少走弯路，缓存命中高就少重复读</a:t>
            </a:r>
          </a:p>
          <a:p>
            <a:r>
              <a:t>——省下来的不是压缩出来的，</a:t>
            </a:r>
          </a:p>
          <a:p>
            <a:r>
              <a:t>是不浪费省出来的</a:t>
            </a:r>
          </a:p>
          <a:p>
            <a:r>
              <a:t>。</a:t>
            </a:r>
          </a:p>
          <a:p>
            <a:r>
              <a:t>⏸ 停 3 秒 · 手指向底部那条</a:t>
            </a:r>
          </a:p>
          <a:p>
            <a:r>
              <a:t>底部这条是</a:t>
            </a:r>
          </a:p>
          <a:p>
            <a:r>
              <a:t>完整口径</a:t>
            </a:r>
          </a:p>
          <a:p>
            <a:r>
              <a:t>：同一套最难评估集，</a:t>
            </a:r>
          </a:p>
          <a:p>
            <a:r>
              <a:t>我们 94%，领先竞品 65%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有两句必须说清楚，</a:t>
            </a:r>
          </a:p>
          <a:p>
            <a:r>
              <a:t>不然会被追问</a:t>
            </a:r>
          </a:p>
          <a:p>
            <a:r>
              <a:t>：第一，</a:t>
            </a:r>
          </a:p>
          <a:p>
            <a:r>
              <a:t>同一个模型基线 Sonnet 4.6，唯一变量是 harness</a:t>
            </a:r>
          </a:p>
          <a:p>
            <a:r>
              <a:t>；</a:t>
            </a:r>
          </a:p>
          <a:p>
            <a:r>
              <a:t>第二，</a:t>
            </a:r>
          </a:p>
          <a:p>
            <a:r>
              <a:t>这套评估集是刻意压到失败的</a:t>
            </a:r>
          </a:p>
          <a:p>
            <a:r>
              <a:t>，65% 本身已经算强，而且</a:t>
            </a:r>
          </a:p>
          <a:p>
            <a:r>
              <a:t>eval 通过率不等于生产成功率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那问题来了——</a:t>
            </a:r>
          </a:p>
          <a:p>
            <a:r>
              <a:t>凭什么换个 harness 就能做到这些？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07 · 45 秒 · 概念定桩</a:t>
            </a:r>
          </a:p>
          <a:p>
            <a:endParaRPr/>
          </a:p>
          <a:p>
            <a:r>
              <a:t>因为 harness 这个词，很多人是第一次听。我给一个比喻：</a:t>
            </a:r>
          </a:p>
          <a:p>
            <a:r>
              <a:t>harness 就是给 AI 铺的铁轨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模型本身像一台有动力的车头——</a:t>
            </a:r>
          </a:p>
          <a:p>
            <a:r>
              <a:t>力气很大，但会跑偏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harness 干三件事：</a:t>
            </a:r>
          </a:p>
          <a:p>
            <a:r>
              <a:t>铁轨</a:t>
            </a:r>
          </a:p>
          <a:p>
            <a:r>
              <a:t>，划定 agentic loop 的边界；</a:t>
            </a:r>
          </a:p>
          <a:p>
            <a:r>
              <a:t>沙盒</a:t>
            </a:r>
          </a:p>
          <a:p>
            <a:r>
              <a:t>，在隔离环境里执行，不误伤真实系统；</a:t>
            </a:r>
          </a:p>
          <a:p>
            <a:r>
              <a:t>工具</a:t>
            </a:r>
          </a:p>
          <a:p>
            <a:r>
              <a:t>，文件工具加 Memory、Skills 随取随用。</a:t>
            </a:r>
          </a:p>
          <a:p>
            <a:r>
              <a:t>⏸ 停 2 秒</a:t>
            </a:r>
          </a:p>
          <a:p>
            <a:r>
              <a:t>装上这套，Copilot Studio 就</a:t>
            </a:r>
          </a:p>
          <a:p>
            <a:r>
              <a:t>能接长流程、跑错能自己恢复、工具一次挑对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这里再强调一次，因为最容易误解：</a:t>
            </a:r>
          </a:p>
          <a:p>
            <a:r>
              <a:t>harness 不是另一个要买的产品</a:t>
            </a:r>
          </a:p>
          <a:p>
            <a:r>
              <a:t>，它是 Studio 内部换上的引擎。</a:t>
            </a:r>
          </a:p>
          <a:p>
            <a:r>
              <a:t>引擎更强，平台能接的业务就更复杂</a:t>
            </a:r>
          </a:p>
          <a:p>
            <a:r>
              <a:t>，仅此而已。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08B · 55 秒 · 按公认定义比</a:t>
            </a:r>
          </a:p>
          <a:p>
            <a:endParaRPr/>
          </a:p>
          <a:p>
            <a:r>
              <a:t>讲完 harness 是什么，自然要问：</a:t>
            </a:r>
          </a:p>
          <a:p>
            <a:r>
              <a:t>别人的 harness 呢？</a:t>
            </a:r>
          </a:p>
          <a:p>
            <a:r>
              <a:t>⏸ 停 2 秒</a:t>
            </a:r>
          </a:p>
          <a:p>
            <a:r>
              <a:t>比之前先说清楚</a:t>
            </a:r>
          </a:p>
          <a:p>
            <a:r>
              <a:t>拿什么标准比</a:t>
            </a:r>
          </a:p>
          <a:p>
            <a:r>
              <a:t>。这不是我编的框架——</a:t>
            </a:r>
          </a:p>
          <a:p>
            <a:r>
              <a:t>Anthropic 官方给过定义</a:t>
            </a:r>
          </a:p>
          <a:p>
            <a:r>
              <a:t>：harness 是模型外面的软件脚手架，就四样东西：</a:t>
            </a:r>
          </a:p>
          <a:p>
            <a:r>
              <a:t>循环、工具、上下文管理、护栏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他们还有一句话特别好懂：</a:t>
            </a:r>
          </a:p>
          <a:p>
            <a:r>
              <a:t>Claude Code 是 harness，Claude 是里面的模型</a:t>
            </a:r>
          </a:p>
          <a:p>
            <a:r>
              <a:t>。对照过来就是——</a:t>
            </a:r>
          </a:p>
          <a:p>
            <a:r>
              <a:t>Copilot Studio 是平台，GitHub Copilot harness 是 harness，GPT-5 是里面的模型</a:t>
            </a:r>
          </a:p>
          <a:p>
            <a:r>
              <a:t>。</a:t>
            </a:r>
          </a:p>
          <a:p>
            <a:r>
              <a:t>⏸ 停 3 秒</a:t>
            </a:r>
          </a:p>
          <a:p>
            <a:r>
              <a:t>照这四条挨个看。</a:t>
            </a:r>
          </a:p>
          <a:p>
            <a:r>
              <a:t>第一条循环、第三条上下文管理，四家做法几乎一样</a:t>
            </a:r>
          </a:p>
          <a:p>
            <a:r>
              <a:t>，没什么好比的。</a:t>
            </a:r>
          </a:p>
          <a:p>
            <a:r>
              <a:t>⏸ 停 2 秒</a:t>
            </a:r>
          </a:p>
          <a:p>
            <a:r>
              <a:t>分野全在</a:t>
            </a:r>
          </a:p>
          <a:p>
            <a:r>
              <a:t>第二条和第四条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第二条，工具是给谁准备的。</a:t>
            </a:r>
          </a:p>
          <a:p>
            <a:r>
              <a:t>他们的工具是</a:t>
            </a:r>
          </a:p>
          <a:p>
            <a:r>
              <a:t>一台开发机</a:t>
            </a:r>
          </a:p>
          <a:p>
            <a:r>
              <a:t>——读写文件、跑命令、搜代码。我们的工具是</a:t>
            </a:r>
          </a:p>
          <a:p>
            <a:r>
              <a:t>一套业务系统</a:t>
            </a:r>
          </a:p>
          <a:p>
            <a:r>
              <a:t>——建改 Word、Excel、发票 PDF，调业务系统，还能操作那些</a:t>
            </a:r>
          </a:p>
          <a:p>
            <a:r>
              <a:t>压根没有 API 的老界面</a:t>
            </a:r>
          </a:p>
          <a:p>
            <a:r>
              <a:t>。</a:t>
            </a:r>
          </a:p>
          <a:p>
            <a:r>
              <a:t>⏸ 停 3 秒</a:t>
            </a:r>
          </a:p>
          <a:p>
            <a:r>
              <a:t>第四条，护栏谁来扛。</a:t>
            </a:r>
          </a:p>
          <a:p>
            <a:r>
              <a:t>他们是开发者自己批、自己搭沙箱、自己运维；我们是</a:t>
            </a:r>
          </a:p>
          <a:p>
            <a:r>
              <a:t>微软托管的沙箱，走组织身份，统一管控</a:t>
            </a:r>
          </a:p>
          <a:p>
            <a:r>
              <a:t>。</a:t>
            </a:r>
          </a:p>
          <a:p>
            <a:r>
              <a:t>⏸ 停 3 秒</a:t>
            </a:r>
          </a:p>
          <a:p>
            <a:r>
              <a:t>所以</a:t>
            </a:r>
          </a:p>
          <a:p>
            <a:r>
              <a:t>不是谁功能多</a:t>
            </a:r>
          </a:p>
          <a:p>
            <a:r>
              <a:t>——四件套大家都齐。是</a:t>
            </a:r>
          </a:p>
          <a:p>
            <a:r>
              <a:t>为谁准备的</a:t>
            </a:r>
          </a:p>
          <a:p>
            <a:r>
              <a:t>：</a:t>
            </a:r>
          </a:p>
          <a:p>
            <a:r>
              <a:t>要动代码找他们，要动业务单据找我们。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08C · 55 秒 · 旧引擎 vs 新引擎</a:t>
            </a:r>
          </a:p>
          <a:p>
            <a:endParaRPr/>
          </a:p>
          <a:p>
            <a:r>
              <a:t>这里要先纠正一个常见误解：</a:t>
            </a:r>
          </a:p>
          <a:p>
            <a:r>
              <a:t>不是以前没有 harness、现在才有。</a:t>
            </a:r>
          </a:p>
          <a:p>
            <a:r>
              <a:t>⏸ 停 2 秒</a:t>
            </a:r>
          </a:p>
          <a:p>
            <a:r>
              <a:t>Copilot Studio 一直都有 harness</a:t>
            </a:r>
          </a:p>
          <a:p>
            <a:r>
              <a:t>，旧的那台叫</a:t>
            </a:r>
          </a:p>
          <a:p>
            <a:r>
              <a:t>Standard harness</a:t>
            </a:r>
          </a:p>
          <a:p>
            <a:r>
              <a:t>，而且</a:t>
            </a:r>
          </a:p>
          <a:p>
            <a:r>
              <a:t>现在也没下线</a:t>
            </a:r>
          </a:p>
          <a:p>
            <a:r>
              <a:t>——规则清楚、要求可预测的场景，照样用它，这不是淘汰关系。</a:t>
            </a:r>
          </a:p>
          <a:p>
            <a:r>
              <a:t>⏸ 停 3 秒</a:t>
            </a:r>
          </a:p>
          <a:p>
            <a:r>
              <a:t>所以这页把两台引擎</a:t>
            </a:r>
          </a:p>
          <a:p>
            <a:r>
              <a:t>逐项摆开</a:t>
            </a:r>
          </a:p>
          <a:p>
            <a:r>
              <a:t>。橙色标签是</a:t>
            </a:r>
          </a:p>
          <a:p>
            <a:r>
              <a:t>「替换」</a:t>
            </a:r>
          </a:p>
          <a:p>
            <a:r>
              <a:t>——同一件事换了做法；绿色标签是</a:t>
            </a:r>
          </a:p>
          <a:p>
            <a:r>
              <a:t>「新增」</a:t>
            </a:r>
          </a:p>
          <a:p>
            <a:r>
              <a:t>——旧引擎原本就没有。</a:t>
            </a:r>
          </a:p>
          <a:p>
            <a:r>
              <a:t>⏸ 停 2 秒</a:t>
            </a:r>
          </a:p>
          <a:p>
            <a:r>
              <a:t>先看</a:t>
            </a:r>
          </a:p>
          <a:p>
            <a:r>
              <a:t>替换的部分</a:t>
            </a:r>
          </a:p>
          <a:p>
            <a:r>
              <a:t>。旧引擎</a:t>
            </a:r>
          </a:p>
          <a:p>
            <a:r>
              <a:t>也会挑工具</a:t>
            </a:r>
          </a:p>
          <a:p>
            <a:r>
              <a:t>——它有 generative orchestration，能按描述选 topic 和工具，</a:t>
            </a:r>
          </a:p>
          <a:p>
            <a:r>
              <a:t>这点别说人家没有</a:t>
            </a:r>
          </a:p>
          <a:p>
            <a:r>
              <a:t>。真正的差别是：</a:t>
            </a:r>
          </a:p>
          <a:p>
            <a:r>
              <a:t>路得你先铺好</a:t>
            </a:r>
          </a:p>
          <a:p>
            <a:r>
              <a:t>，画 Topics 分支、配触发词；</a:t>
            </a:r>
          </a:p>
          <a:p>
            <a:r>
              <a:t>遇到没配过的情况，它就停在那儿</a:t>
            </a:r>
          </a:p>
          <a:p>
            <a:r>
              <a:t>。新引擎是你说目标，</a:t>
            </a:r>
          </a:p>
          <a:p>
            <a:r>
              <a:t>它自己拆步骤，错了自动换条路</a:t>
            </a:r>
          </a:p>
          <a:p>
            <a:r>
              <a:t>。</a:t>
            </a:r>
          </a:p>
          <a:p>
            <a:r>
              <a:t>⏸ 停 3 秒</a:t>
            </a:r>
          </a:p>
          <a:p>
            <a:r>
              <a:t>再看</a:t>
            </a:r>
          </a:p>
          <a:p>
            <a:r>
              <a:t>新增的四项</a:t>
            </a:r>
          </a:p>
          <a:p>
            <a:r>
              <a:t>，这些在官方对照表里旧引擎那一栏</a:t>
            </a:r>
          </a:p>
          <a:p>
            <a:r>
              <a:t>白纸黑字写着 Not a focus</a:t>
            </a:r>
          </a:p>
          <a:p>
            <a:r>
              <a:t>：</a:t>
            </a:r>
          </a:p>
          <a:p>
            <a:r>
              <a:t>⏸ 停 2 秒</a:t>
            </a:r>
          </a:p>
          <a:p>
            <a:r>
              <a:t>一，业务文件</a:t>
            </a:r>
          </a:p>
          <a:p>
            <a:r>
              <a:t>——Word、Excel、PPT、PDF 能直接建和改，以前只能当知识读一读。</a:t>
            </a:r>
          </a:p>
          <a:p>
            <a:r>
              <a:t>二，Memory</a:t>
            </a:r>
          </a:p>
          <a:p>
            <a:r>
              <a:t>——跨会话记得住。</a:t>
            </a:r>
          </a:p>
          <a:p>
            <a:r>
              <a:t>三，Skills</a:t>
            </a:r>
          </a:p>
          <a:p>
            <a:r>
              <a:t>——把老师傅的做法存下来复用。</a:t>
            </a:r>
          </a:p>
          <a:p>
            <a:r>
              <a:t>四，安全沙箱</a:t>
            </a:r>
          </a:p>
          <a:p>
            <a:r>
              <a:t>——每个任务隔离执行。</a:t>
            </a:r>
          </a:p>
          <a:p>
            <a:r>
              <a:t>⏸ 停 3 秒</a:t>
            </a:r>
          </a:p>
          <a:p>
            <a:r>
              <a:t>最后计费方式也换了：旧的按许可和消息，新的按 Copilot Credits 用量。</a:t>
            </a:r>
          </a:p>
          <a:p>
            <a:r>
              <a:t>⏸ 停 2 秒</a:t>
            </a:r>
          </a:p>
          <a:p>
            <a:r>
              <a:t>一句话收尾：</a:t>
            </a:r>
          </a:p>
          <a:p>
            <a:r>
              <a:t>旧引擎的本事是「你把路铺好，它稳稳地走」；新引擎是「你说目的地，它自己找路」。</a:t>
            </a:r>
          </a:p>
          <a:p>
            <a:r>
              <a:t>而</a:t>
            </a:r>
          </a:p>
          <a:p>
            <a:r>
              <a:t>平台那一层——连接器、知识、身份、治理——两条 harness 共用，完全没动。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 · 55 秒 · 关键分流</a:t>
            </a:r>
          </a:p>
          <a:p>
            <a:endParaRPr/>
          </a:p>
          <a:p>
            <a:r>
              <a:t>讲到这必须澄清一个最常见的误会：</a:t>
            </a:r>
          </a:p>
          <a:p>
            <a:r>
              <a:t>GitHub Copilot harness 没有取代 Standard harness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同一个 Studio 里，</a:t>
            </a:r>
          </a:p>
          <a:p>
            <a:r>
              <a:t>一个需求进来，分两条路走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左边这条，接</a:t>
            </a:r>
          </a:p>
          <a:p>
            <a:r>
              <a:t>规则清楚、路径固定</a:t>
            </a:r>
          </a:p>
          <a:p>
            <a:r>
              <a:t>的活。关键是</a:t>
            </a:r>
          </a:p>
          <a:p>
            <a:r>
              <a:t>它不跑推理，所以更快、结果可重复</a:t>
            </a:r>
          </a:p>
          <a:p>
            <a:r>
              <a:t>，特别适合合规场景。这里我特意加了一项：</a:t>
            </a:r>
          </a:p>
          <a:p>
            <a:r>
              <a:t>实时语音</a:t>
            </a:r>
          </a:p>
          <a:p>
            <a:r>
              <a:t>——低延迟的电话客服，恰恰不需要 AI 临场想。</a:t>
            </a:r>
          </a:p>
          <a:p>
            <a:r>
              <a:t>⏸ 停 2 秒</a:t>
            </a:r>
          </a:p>
          <a:p>
            <a:r>
              <a:t>右边这条，接</a:t>
            </a:r>
          </a:p>
          <a:p>
            <a:r>
              <a:t>复杂多变、要临场判断</a:t>
            </a:r>
          </a:p>
          <a:p>
            <a:r>
              <a:t>的活。而且注意，</a:t>
            </a:r>
          </a:p>
          <a:p>
            <a:r>
              <a:t>右边不是一个 Agent，是一个平台</a:t>
            </a:r>
          </a:p>
          <a:p>
            <a:r>
              <a:t>——Agent 管判断、Workflow 管执行、App 让人来批。</a:t>
            </a:r>
          </a:p>
          <a:p>
            <a:r>
              <a:t>⏸ 停 2 秒</a:t>
            </a:r>
          </a:p>
          <a:p>
            <a:r>
              <a:t>怎么选，一句话：</a:t>
            </a:r>
          </a:p>
          <a:p>
            <a:r>
              <a:t>流程固定要快要稳走左边；任务复杂要临场判断走右边</a:t>
            </a:r>
          </a:p>
          <a:p>
            <a:r>
              <a:t>。</a:t>
            </a:r>
          </a:p>
          <a:p>
            <a:r>
              <a:t>按任务挑，不是二选一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理清了 Studio 内部的分工，</a:t>
            </a:r>
          </a:p>
          <a:p>
            <a:r>
              <a:t>那它和你们已经在用的那些 Copilot 又是什么关系？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 · 60 秒 · 分清两个名字</a:t>
            </a:r>
          </a:p>
          <a:p>
            <a:endParaRPr/>
          </a:p>
          <a:p>
            <a:r>
              <a:t>这里要澄清另一个几乎每场都被问到的混淆：</a:t>
            </a:r>
          </a:p>
          <a:p>
            <a:r>
              <a:t>Microsoft Copilot 和 Copilot Studio 到底什么关系？</a:t>
            </a:r>
          </a:p>
          <a:p>
            <a:r>
              <a:t>⏸ 停 2 秒</a:t>
            </a:r>
          </a:p>
          <a:p>
            <a:r>
              <a:t>一句话区分：</a:t>
            </a:r>
          </a:p>
          <a:p>
            <a:r>
              <a:t>左边是买来就能用的成品，右边是你自己造 Copilot 的地方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左边</a:t>
            </a:r>
          </a:p>
          <a:p>
            <a:r>
              <a:t>Microsoft Copilot</a:t>
            </a:r>
          </a:p>
          <a:p>
            <a:r>
              <a:t>有两个形态。要结合几份材料快速拿结论，用</a:t>
            </a:r>
          </a:p>
          <a:p>
            <a:r>
              <a:t>chat</a:t>
            </a:r>
          </a:p>
          <a:p>
            <a:r>
              <a:t>；要把跨系统、多步骤的活整个托付出去，用</a:t>
            </a:r>
          </a:p>
          <a:p>
            <a:r>
              <a:t>Copilot Cowork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共同点是：</a:t>
            </a:r>
          </a:p>
          <a:p>
            <a:r>
              <a:t>功能微软定义好，按人头买，开箱即用，不需要建任何东西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</a:t>
            </a:r>
          </a:p>
          <a:p>
            <a:r>
              <a:t>成品总有边界</a:t>
            </a:r>
          </a:p>
          <a:p>
            <a:r>
              <a:t>。</a:t>
            </a:r>
          </a:p>
          <a:p>
            <a:r>
              <a:t>当这件事只有你们公司才这么做的时候，成品就覆盖不到了</a:t>
            </a:r>
          </a:p>
          <a:p>
            <a:r>
              <a:t>——你们的审批规则、客户分级、SAP 字段，微软不可能预置。</a:t>
            </a:r>
          </a:p>
          <a:p>
            <a:r>
              <a:t>⏸ 停 2 秒</a:t>
            </a:r>
          </a:p>
          <a:p>
            <a:r>
              <a:t>这时候才轮到右边的</a:t>
            </a:r>
          </a:p>
          <a:p>
            <a:r>
              <a:t>Copilot Studio</a:t>
            </a:r>
          </a:p>
          <a:p>
            <a:r>
              <a:t>：</a:t>
            </a:r>
          </a:p>
          <a:p>
            <a:r>
              <a:t>业务逻辑、连哪些数据、谁有什么权限，全部由你定义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所以别把它们当成三个等级比高低。</a:t>
            </a:r>
          </a:p>
          <a:p>
            <a:r>
              <a:t>它们回答的是两个不同的问题</a:t>
            </a:r>
          </a:p>
          <a:p>
            <a:r>
              <a:t>：一个是「我想更快」，一个是「我要把公司的流程造出来」。</a:t>
            </a:r>
          </a:p>
          <a:p>
            <a:r>
              <a:t>⏸ 停 1 秒</a:t>
            </a:r>
          </a:p>
          <a:p>
            <a:r>
              <a:t>实际上，</a:t>
            </a:r>
          </a:p>
          <a:p>
            <a:r>
              <a:t>绝大多数客户是两边同时都有的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P10 · Part 02 封面 · 10 秒</a:t>
            </a:r>
          </a:p>
          <a:p>
            <a:endParaRPr/>
          </a:p>
          <a:p>
            <a:r>
              <a:t>第一段我们讲清楚了 harness 怎么分。</a:t>
            </a:r>
          </a:p>
          <a:p>
            <a:r>
              <a:t>⏸ 停 1 秒</a:t>
            </a:r>
          </a:p>
          <a:p>
            <a:r>
              <a:t>第二段</a:t>
            </a:r>
          </a:p>
          <a:p>
            <a:r>
              <a:t>把镜头拉远</a:t>
            </a:r>
          </a:p>
          <a:p>
            <a:r>
              <a:t>，看整个平台的全景——</a:t>
            </a:r>
          </a:p>
          <a:p>
            <a:r>
              <a:t>它自带哪些企业能力，模型和 Agent 从哪来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 · 60 秒 · 四项自带能力</a:t>
            </a:r>
          </a:p>
          <a:p>
            <a:endParaRPr/>
          </a:p>
          <a:p>
            <a:r>
              <a:t>全景其实就两层。</a:t>
            </a:r>
          </a:p>
          <a:p>
            <a:r>
              <a:t>⏸ 停 1 秒</a:t>
            </a:r>
          </a:p>
          <a:p>
            <a:r>
              <a:t>上面是</a:t>
            </a:r>
          </a:p>
          <a:p>
            <a:r>
              <a:t>三件套</a:t>
            </a:r>
          </a:p>
          <a:p>
            <a:r>
              <a:t>，解决「建什么」。下面这四项，才是我今天想强调的——</a:t>
            </a:r>
          </a:p>
          <a:p>
            <a:r>
              <a:t>它们不是你要另外去拼的东西，是平台天生自带的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Microsoft IQ</a:t>
            </a:r>
          </a:p>
          <a:p>
            <a:r>
              <a:t>：把公司自己的邮件、会议、文件和组织关系喂给每个 Agent。意味着</a:t>
            </a:r>
          </a:p>
          <a:p>
            <a:r>
              <a:t>Agent 知道「这件事在你们公司是怎么干的」</a:t>
            </a:r>
          </a:p>
          <a:p>
            <a:r>
              <a:t>，而不只是一个通用模型。</a:t>
            </a:r>
          </a:p>
          <a:p>
            <a:r>
              <a:t>⏸ 停 2 秒</a:t>
            </a:r>
          </a:p>
          <a:p>
            <a:r>
              <a:t>模型与 harness</a:t>
            </a:r>
          </a:p>
          <a:p>
            <a:r>
              <a:t>：各家最新的 frontier 模型平台帮你接好了，</a:t>
            </a:r>
          </a:p>
          <a:p>
            <a:r>
              <a:t>你不用管部署、配额和版本升级</a:t>
            </a:r>
          </a:p>
          <a:p>
            <a:r>
              <a:t>——这部分运维成本是真金白银。</a:t>
            </a:r>
          </a:p>
          <a:p>
            <a:r>
              <a:t>⏸ 停 2 秒</a:t>
            </a:r>
          </a:p>
          <a:p>
            <a:r>
              <a:t>Agent 365</a:t>
            </a:r>
          </a:p>
          <a:p>
            <a:r>
              <a:t>：全公司建了多少个 Agent、分别连了什么数据，</a:t>
            </a:r>
          </a:p>
          <a:p>
            <a:r>
              <a:t>可以盘点和审计</a:t>
            </a:r>
          </a:p>
          <a:p>
            <a:r>
              <a:t>；它们有身份、有权限，</a:t>
            </a:r>
          </a:p>
          <a:p>
            <a:r>
              <a:t>出事能随时收回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成本可控</a:t>
            </a:r>
          </a:p>
          <a:p>
            <a:r>
              <a:t>：环境级加 Agent 级双层额度，</a:t>
            </a:r>
          </a:p>
          <a:p>
            <a:r>
              <a:t>超限自动告警或关停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我想强调的是：</a:t>
            </a:r>
          </a:p>
          <a:p>
            <a:r>
              <a:t>这四项不需要你另外采购、另外集成，也不会因为换了 harness 就再收你一遍钱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这才是它跟一个单纯 Agent 工具的真正区别。</a:t>
            </a:r>
          </a:p>
          <a:p>
            <a:r>
              <a:t>⏸ 停 2 秒</a:t>
            </a:r>
          </a:p>
          <a:p>
            <a:r>
              <a:t>说到模型——</a:t>
            </a:r>
          </a:p>
          <a:p>
            <a:r>
              <a:t>那模型到底从哪来？能不能用我们自己的？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12 · 55 秒 · 高频提问点</a:t>
            </a:r>
          </a:p>
          <a:p>
            <a:endParaRPr/>
          </a:p>
          <a:p>
            <a:r>
              <a:t>这一页专门回答那个问题，</a:t>
            </a:r>
          </a:p>
          <a:p>
            <a:r>
              <a:t>答案要分两层说，说错了会误导客户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左边，</a:t>
            </a:r>
          </a:p>
          <a:p>
            <a:r>
              <a:t>Agent 这一层用平台内置的 frontier 模型</a:t>
            </a:r>
          </a:p>
          <a:p>
            <a:r>
              <a:t>——GPT-5 系列、Claude、</a:t>
            </a:r>
          </a:p>
          <a:p>
            <a:r>
              <a:t>xAI 的 Grok</a:t>
            </a:r>
          </a:p>
          <a:p>
            <a:r>
              <a:t>、Mistral，</a:t>
            </a:r>
          </a:p>
          <a:p>
            <a:r>
              <a:t>下拉框直接选，换模型不用重建 Agent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而且不用自己调参，</a:t>
            </a:r>
          </a:p>
          <a:p>
            <a:r>
              <a:t>按任务性质挑就行</a:t>
            </a:r>
          </a:p>
          <a:p>
            <a:r>
              <a:t>：日常问答用 General，多步推理用 Deep，拿不准就 Auto。</a:t>
            </a:r>
          </a:p>
          <a:p>
            <a:r>
              <a:t>⏸ 停 2 秒</a:t>
            </a:r>
          </a:p>
          <a:p>
            <a:r>
              <a:t>右边，</a:t>
            </a:r>
          </a:p>
          <a:p>
            <a:r>
              <a:t>Workflow 这一层可以往外接</a:t>
            </a:r>
          </a:p>
          <a:p>
            <a:r>
              <a:t>。自己微调的模型、Foundry 目录里的 Llama 和 DeepSeek，或者已经建好的 1P、3P Agent 和 MCP 工具——</a:t>
            </a:r>
          </a:p>
          <a:p>
            <a:r>
              <a:t>在 Workflow 里当成一个节点调用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所以完整的回答是：</a:t>
            </a:r>
          </a:p>
          <a:p>
            <a:r>
              <a:t>能，但落在 Workflow 层</a:t>
            </a:r>
          </a:p>
          <a:p>
            <a:r>
              <a:t>。Agent 层保持内置，</a:t>
            </a:r>
          </a:p>
          <a:p>
            <a:r>
              <a:t>是为了帮你省掉模型运维的负担</a:t>
            </a:r>
          </a:p>
          <a:p>
            <a:r>
              <a:t>，两层配合起来</a:t>
            </a:r>
          </a:p>
          <a:p>
            <a:r>
              <a:t>并没有锁死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最后这一条我觉得最容易被低估：</a:t>
            </a:r>
          </a:p>
          <a:p>
            <a:r>
              <a:t>不管你选哪个模型，计费口径都是同一套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统一按 Copilot Credits 结算</a:t>
            </a:r>
          </a:p>
          <a:p>
            <a:r>
              <a:t>——不需要各家分别开账号、分别谈价、分别对账。</a:t>
            </a:r>
          </a:p>
          <a:p>
            <a:r>
              <a:t>换模型只影响单价，不改变你的采购和分账方式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P13 · Part 03 封面 · 10 秒</a:t>
            </a:r>
          </a:p>
          <a:p>
            <a:endParaRPr/>
          </a:p>
          <a:p>
            <a:r>
              <a:t>平台全景说完了。</a:t>
            </a:r>
          </a:p>
          <a:p>
            <a:r>
              <a:t>⏸ 停 1 秒</a:t>
            </a:r>
          </a:p>
          <a:p>
            <a:r>
              <a:t>第三段</a:t>
            </a:r>
          </a:p>
          <a:p>
            <a:r>
              <a:t>落到具体</a:t>
            </a:r>
          </a:p>
          <a:p>
            <a:r>
              <a:t>——三件套这次各自新增了什么本事。顺序是：</a:t>
            </a:r>
          </a:p>
          <a:p>
            <a:r>
              <a:t>先 Agent，再 App，最后 Workflow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14 · 60 秒 · 重点在下游</a:t>
            </a:r>
          </a:p>
          <a:p>
            <a:endParaRPr/>
          </a:p>
          <a:p>
            <a:r>
              <a:t>先说 Agent 的</a:t>
            </a:r>
          </a:p>
          <a:p>
            <a:r>
              <a:t>Files</a:t>
            </a:r>
          </a:p>
          <a:p>
            <a:r>
              <a:t>能力。左边四项，</a:t>
            </a:r>
          </a:p>
          <a:p>
            <a:r>
              <a:t>都已经 GA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原生生成 Word、Excel、PPT、PDF；大文件一次读完；多份放一起比对；解析结果直接传给下一个 Agent。</a:t>
            </a:r>
          </a:p>
          <a:p>
            <a:r>
              <a:t>⏸ 停 2 秒</a:t>
            </a:r>
          </a:p>
          <a:p>
            <a:r>
              <a:t>右边是真实界面：</a:t>
            </a:r>
          </a:p>
          <a:p>
            <a:r>
              <a:t>一份 140 页招标文件，被自动拆成 9 大模块、198 条发现</a:t>
            </a:r>
          </a:p>
          <a:p>
            <a:r>
              <a:t>，每条都挂着风险标签。</a:t>
            </a:r>
          </a:p>
          <a:p>
            <a:r>
              <a:t>⏸ 停 2 秒</a:t>
            </a:r>
          </a:p>
          <a:p>
            <a:r>
              <a:t>但我不希望这一页只被记成「它能读文件」——</a:t>
            </a:r>
          </a:p>
          <a:p>
            <a:r>
              <a:t>能读文件，市面上已经不稀奇了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真正的差别在下面这条链：</a:t>
            </a:r>
          </a:p>
          <a:p>
            <a:r>
              <a:t>文件进来、Agent 读并判断、Workflow 写进系统、App 让人拍板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你看第三步和第四步——</a:t>
            </a:r>
          </a:p>
          <a:p>
            <a:r>
              <a:t>回写 SAP 或 Dataverse、发起审批、让人只看异常项点确认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如果只做到「读懂」，产出还是一段</a:t>
            </a:r>
          </a:p>
          <a:p>
            <a:r>
              <a:t>要人复制粘贴到系统里的文字</a:t>
            </a:r>
          </a:p>
          <a:p>
            <a:r>
              <a:t>，省下来的只是阅读时间；</a:t>
            </a:r>
          </a:p>
          <a:p>
            <a:r>
              <a:t>接上 Workflow 和 App，它才真正接管了一整段流程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这也是我们把 Files 做成一等公民的原因——</a:t>
            </a:r>
          </a:p>
          <a:p>
            <a:r>
              <a:t>文件通常是业务流程的起点，起点接不住，后面整条链都串不起来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 · 35 秒 · 价值落点</a:t>
            </a:r>
          </a:p>
          <a:p>
            <a:endParaRPr/>
          </a:p>
          <a:p>
            <a:r>
              <a:t>再往前一步。刚才是一份，</a:t>
            </a:r>
          </a:p>
          <a:p>
            <a:r>
              <a:t>这张是多份标书一起比</a:t>
            </a:r>
          </a:p>
          <a:p>
            <a:r>
              <a:t>——</a:t>
            </a:r>
          </a:p>
          <a:p>
            <a:r>
              <a:t>高风险项和置信度一屏看全，直接排好优先级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价值在哪？</a:t>
            </a:r>
          </a:p>
          <a:p>
            <a:r>
              <a:t>过去这一步要法务或售前逐页人肉啃，一份标书两三天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现在 Agent 先把风险项挑出来排好序，</a:t>
            </a:r>
          </a:p>
          <a:p>
            <a:r>
              <a:t>人只需要在一份已经收敛的清单上做判断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它没有取代人做决定，它取代的是「翻到第几页」这件事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16 · 35 秒 · 底层机制</a:t>
            </a:r>
          </a:p>
          <a:p>
            <a:endParaRPr/>
          </a:p>
          <a:p>
            <a:r>
              <a:t>那 Agent 凭什么能这样一步步做下来？靠的是</a:t>
            </a:r>
          </a:p>
          <a:p>
            <a:r>
              <a:t>agentic loop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四个动作：</a:t>
            </a:r>
          </a:p>
          <a:p>
            <a:r>
              <a:t>自己规划步骤</a:t>
            </a:r>
          </a:p>
          <a:p>
            <a:r>
              <a:t>，拿到任务先想清楚要几步；</a:t>
            </a:r>
          </a:p>
          <a:p>
            <a:r>
              <a:t>工具挑得更准</a:t>
            </a:r>
          </a:p>
          <a:p>
            <a:r>
              <a:t>，选哪个、参数怎么填都比以前准；</a:t>
            </a:r>
          </a:p>
          <a:p>
            <a:r>
              <a:t>递归执行到完成</a:t>
            </a:r>
          </a:p>
          <a:p>
            <a:r>
              <a:t>，一轮不够就再来一轮，拿到中间结果继续推进。</a:t>
            </a:r>
          </a:p>
          <a:p>
            <a:r>
              <a:t>⏸ 停 2 秒</a:t>
            </a:r>
          </a:p>
          <a:p>
            <a:r>
              <a:t>第四个是 Preview 阶段的</a:t>
            </a:r>
          </a:p>
          <a:p>
            <a:r>
              <a:t>Hooks</a:t>
            </a:r>
          </a:p>
          <a:p>
            <a:r>
              <a:t>——</a:t>
            </a:r>
          </a:p>
          <a:p>
            <a:r>
              <a:t>你可以在关键节点插入自己的校验、日志或安全扫描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这一条对合规要求高的客户很重要，</a:t>
            </a:r>
          </a:p>
          <a:p>
            <a:r>
              <a:t>意味着这个 loop 不是黑盒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Agent 说完了，看 App。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17 · 40 秒 · 一句话生成</a:t>
            </a:r>
          </a:p>
          <a:p>
            <a:endParaRPr/>
          </a:p>
          <a:p>
            <a:r>
              <a:t>App 这次的变化很直接：</a:t>
            </a:r>
          </a:p>
          <a:p>
            <a:r>
              <a:t>说一句话，生成一个能用的应用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「帮我建一个入职引导 App」——</a:t>
            </a:r>
          </a:p>
          <a:p>
            <a:r>
              <a:t>屏幕、数据、逻辑一起生成，一分多钟出结果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但重点不是快，是</a:t>
            </a:r>
          </a:p>
          <a:p>
            <a:r>
              <a:t>它懂你的公司</a:t>
            </a:r>
          </a:p>
          <a:p>
            <a:r>
              <a:t>：通过 Work IQ 拿到组织的人、内容和流程上下文，</a:t>
            </a:r>
          </a:p>
          <a:p>
            <a:r>
              <a:t>不是一个空壳模板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而且它</a:t>
            </a:r>
          </a:p>
          <a:p>
            <a:r>
              <a:t>连得上业务系统</a:t>
            </a:r>
          </a:p>
          <a:p>
            <a:r>
              <a:t>——Agent、Workflow、1,500 多个连接器，都能直接接。</a:t>
            </a:r>
          </a:p>
          <a:p>
            <a:r>
              <a:t>⏸ 停 2 秒</a:t>
            </a:r>
          </a:p>
          <a:p>
            <a:r>
              <a:t>最后看右图左下角，</a:t>
            </a:r>
          </a:p>
          <a:p>
            <a:r>
              <a:t>那里写着「用了 200 credits」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建完就知道花了多少</a:t>
            </a:r>
          </a:p>
          <a:p>
            <a:r>
              <a:t>——这一点等会儿讲计费的时候会再提到。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18 · 45 秒 · 确定 + 判断混编</a:t>
            </a:r>
          </a:p>
          <a:p>
            <a:endParaRPr/>
          </a:p>
          <a:p>
            <a:r>
              <a:t>最后是 Workflow。这是一张</a:t>
            </a:r>
          </a:p>
          <a:p>
            <a:r>
              <a:t>真实的发票分类流程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跟着走一遍：发票邮件到达触发；</a:t>
            </a:r>
          </a:p>
          <a:p>
            <a:r>
              <a:t>Extract 从 PDF 里读金额、类别、日期</a:t>
            </a:r>
          </a:p>
          <a:p>
            <a:r>
              <a:t>；</a:t>
            </a:r>
          </a:p>
          <a:p>
            <a:r>
              <a:t>Classify 按金额与合规分三支</a:t>
            </a:r>
          </a:p>
          <a:p>
            <a:r>
              <a:t>。</a:t>
            </a:r>
          </a:p>
          <a:p>
            <a:r>
              <a:t>这两步每次都一模一样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然后是三个分支——合规的直接报、超标的转审批、缺票的发邮件请补。</a:t>
            </a:r>
          </a:p>
          <a:p>
            <a:r>
              <a:t>这三个判断，才交给 Agent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这就是那句话的含义：</a:t>
            </a:r>
          </a:p>
          <a:p>
            <a:r>
              <a:t>该固定的固定，该判断的才让 AI 判断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另外注意上面标的：</a:t>
            </a:r>
          </a:p>
          <a:p>
            <a:r>
              <a:t>节点可以单独测试，失败处可以 Resume</a:t>
            </a:r>
          </a:p>
          <a:p>
            <a:r>
              <a:t>——这两个能力，下一页展开讲。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19 · 70 秒 · 四种节点逐张登场</a:t>
            </a:r>
          </a:p>
          <a:p>
            <a:endParaRPr/>
          </a:p>
          <a:p>
            <a:r>
              <a:t>这次新增四种节点。</a:t>
            </a:r>
          </a:p>
          <a:p>
            <a:r>
              <a:t>我不一次全铺给你</a:t>
            </a:r>
          </a:p>
          <a:p>
            <a:r>
              <a:t>——四张截图挤在一页，每张都小到看不清，等于没讲。</a:t>
            </a:r>
          </a:p>
          <a:p>
            <a:r>
              <a:t>⏸ 停 1 秒</a:t>
            </a:r>
          </a:p>
          <a:p>
            <a:r>
              <a:t>所以这页</a:t>
            </a:r>
          </a:p>
          <a:p>
            <a:r>
              <a:t>一次只放大一张</a:t>
            </a:r>
          </a:p>
          <a:p>
            <a:r>
              <a:t>，我按 ↓ 让它们一张一张叠上来。</a:t>
            </a:r>
          </a:p>
          <a:p>
            <a:r>
              <a:t>⏸ 停 2 秒</a:t>
            </a:r>
          </a:p>
          <a:p>
            <a:r>
              <a:t>现在是第一种，</a:t>
            </a:r>
          </a:p>
          <a:p>
            <a:r>
              <a:t>Extract 提取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看这张界面：</a:t>
            </a:r>
          </a:p>
          <a:p>
            <a:r>
              <a:t>左边扔进一个 PDF 发票，右边自动认出了发票号、日期、总金额、行项目</a:t>
            </a:r>
          </a:p>
          <a:p>
            <a:r>
              <a:t>，每个字段还标好了类型。</a:t>
            </a:r>
          </a:p>
          <a:p>
            <a:r>
              <a:t>过去这一步要写解析代码，现在它是流程里的一个节点</a:t>
            </a:r>
          </a:p>
          <a:p>
            <a:r>
              <a:t>。</a:t>
            </a:r>
          </a:p>
          <a:p>
            <a:r>
              <a:t>⏸ 停 3 秒 · 按 ↓</a:t>
            </a:r>
          </a:p>
          <a:p>
            <a:r>
              <a:t>第二种，</a:t>
            </a:r>
          </a:p>
          <a:p>
            <a:r>
              <a:t>Code 跑 Python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它解决的是</a:t>
            </a:r>
          </a:p>
          <a:p>
            <a:r>
              <a:t>低代码平台算不了的账</a:t>
            </a:r>
          </a:p>
          <a:p>
            <a:r>
              <a:t>——复杂计算、格式转换、自定义规则，</a:t>
            </a:r>
          </a:p>
          <a:p>
            <a:r>
              <a:t>不用为了这一步把整条流程搬去写代码</a:t>
            </a:r>
          </a:p>
          <a:p>
            <a:r>
              <a:t>。</a:t>
            </a:r>
          </a:p>
          <a:p>
            <a:r>
              <a:t>⏸ 停 3 秒 · 按 ↓</a:t>
            </a:r>
          </a:p>
          <a:p>
            <a:r>
              <a:t>第三种，</a:t>
            </a:r>
          </a:p>
          <a:p>
            <a:r>
              <a:t>Copilot Cowork 叫外援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流程里直接调用 Copilot Cowork，</a:t>
            </a:r>
          </a:p>
          <a:p>
            <a:r>
              <a:t>把跨应用的那段活整个托付出去</a:t>
            </a:r>
          </a:p>
          <a:p>
            <a:r>
              <a:t>，你不用把每个应用的每一步都画出来。</a:t>
            </a:r>
          </a:p>
          <a:p>
            <a:r>
              <a:t>⏸ 停 3 秒 · 按 ↓</a:t>
            </a:r>
          </a:p>
          <a:p>
            <a:r>
              <a:t>第四种，也是我个人最看重的——</a:t>
            </a:r>
          </a:p>
          <a:p>
            <a:r>
              <a:t>Resume 从错处接着跑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流程跑到第八步挂了，</a:t>
            </a:r>
          </a:p>
          <a:p>
            <a:r>
              <a:t>修好之后从第八步继续，前面七步不用重来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为什么最重要？因为</a:t>
            </a:r>
          </a:p>
          <a:p>
            <a:r>
              <a:t>长流程一定会失败</a:t>
            </a:r>
          </a:p>
          <a:p>
            <a:r>
              <a:t>——网络抖一下、系统超时、数据格式变了。</a:t>
            </a:r>
          </a:p>
          <a:p>
            <a:r>
              <a:t>如果每次失败都要整条重跑，流程越长就越不可用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能从断点续跑，长流程才真正敢上生产。</a:t>
            </a:r>
          </a:p>
          <a:p>
            <a:r>
              <a:t>⏸ 停 2 秒</a:t>
            </a:r>
          </a:p>
          <a:p>
            <a:r>
              <a:t>四个合起来解决同一件事：</a:t>
            </a:r>
          </a:p>
          <a:p>
            <a:r>
              <a:t>让确定流程也能吃下非结构化输入、扛得住复杂计算、接得住意外失败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那它和 Power Automate 到底怎么选？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20 · 60 秒 · 最容易被问住</a:t>
            </a:r>
          </a:p>
          <a:p>
            <a:endParaRPr/>
          </a:p>
          <a:p>
            <a:r>
              <a:t>这是客户必问的一题，也是</a:t>
            </a:r>
          </a:p>
          <a:p>
            <a:r>
              <a:t>我们自己人最容易讲拧的一页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表格你们扫一眼就行，</a:t>
            </a:r>
          </a:p>
          <a:p>
            <a:r>
              <a:t>重点看「出错处理」这一行</a:t>
            </a:r>
          </a:p>
          <a:p>
            <a:r>
              <a:t>：</a:t>
            </a:r>
          </a:p>
          <a:p>
            <a:r>
              <a:t>Power Automate 整条重跑，Workflow 从失败那一步恢复</a:t>
            </a:r>
          </a:p>
          <a:p>
            <a:r>
              <a:t>。长流程里，这个差别非常要命。</a:t>
            </a:r>
          </a:p>
          <a:p>
            <a:r>
              <a:t>⏸ 停 2 秒</a:t>
            </a:r>
          </a:p>
          <a:p>
            <a:r>
              <a:t>下面三个顾虑，我们心里得有底。</a:t>
            </a:r>
          </a:p>
          <a:p>
            <a:r>
              <a:t>⏸ 停 1 秒</a:t>
            </a:r>
          </a:p>
          <a:p>
            <a:r>
              <a:t>顾虑一：这是不是要把客户的 Power Automate 投资否掉？</a:t>
            </a:r>
          </a:p>
          <a:p>
            <a:r>
              <a:t>不是，</a:t>
            </a:r>
          </a:p>
          <a:p>
            <a:r>
              <a:t>而且这句话必须主动说</a:t>
            </a:r>
          </a:p>
          <a:p>
            <a:r>
              <a:t>。客户过去建的流程</a:t>
            </a:r>
          </a:p>
          <a:p>
            <a:r>
              <a:t>一个都不用动</a:t>
            </a:r>
          </a:p>
          <a:p>
            <a:r>
              <a:t>；步骤固定、不需要 AI 判断的活，</a:t>
            </a:r>
          </a:p>
          <a:p>
            <a:r>
              <a:t>继续留给 Power Automate</a:t>
            </a:r>
          </a:p>
          <a:p>
            <a:r>
              <a:t>——它更成熟、连接器最多。</a:t>
            </a:r>
          </a:p>
          <a:p>
            <a:r>
              <a:t>⏸ 停 2 秒</a:t>
            </a:r>
          </a:p>
          <a:p>
            <a:r>
              <a:t>顾虑二：客户觉得又要多花一笔钱。</a:t>
            </a:r>
          </a:p>
          <a:p>
            <a:r>
              <a:t>关键在口径。</a:t>
            </a:r>
          </a:p>
          <a:p>
            <a:r>
              <a:t>不要说「换成 Workflow」，要说「在原来跑不通的那段上补一块」</a:t>
            </a:r>
          </a:p>
          <a:p>
            <a:r>
              <a:t>。客户真正付钱的，是那些</a:t>
            </a:r>
          </a:p>
          <a:p>
            <a:r>
              <a:t>以前根本自动化不了、只能人工干</a:t>
            </a:r>
          </a:p>
          <a:p>
            <a:r>
              <a:t>的环节。</a:t>
            </a:r>
          </a:p>
          <a:p>
            <a:r>
              <a:t>⏸ 停 2 秒</a:t>
            </a:r>
          </a:p>
          <a:p>
            <a:r>
              <a:t>顾虑三：那我以后到底用哪个？</a:t>
            </a:r>
          </a:p>
          <a:p>
            <a:r>
              <a:t>一句话：</a:t>
            </a:r>
          </a:p>
          <a:p>
            <a:r>
              <a:t>流程能画出来就用 Power Automate，画不出来才用 Workflow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最重要的一点：</a:t>
            </a:r>
          </a:p>
          <a:p>
            <a:r>
              <a:t>两者可以互相调用</a:t>
            </a:r>
          </a:p>
          <a:p>
            <a:r>
              <a:t>。</a:t>
            </a:r>
          </a:p>
          <a:p>
            <a:r>
              <a:t>不是二选一，是一条链上的两段分工。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P21 · Part 04 封面 · 15 秒</a:t>
            </a:r>
          </a:p>
          <a:p>
            <a:endParaRPr/>
          </a:p>
          <a:p>
            <a:r>
              <a:t>能力讲完了，最后一段谈</a:t>
            </a:r>
          </a:p>
          <a:p>
            <a:r>
              <a:t>成本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我不回避这一段。</a:t>
            </a:r>
          </a:p>
          <a:p>
            <a:r>
              <a:t>计费口径本身就是产品设计的一部分</a:t>
            </a:r>
          </a:p>
          <a:p>
            <a:r>
              <a:t>，讲清楚了，</a:t>
            </a:r>
          </a:p>
          <a:p>
            <a:r>
              <a:t>你们才能判断这件事值不值得做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顺序是四层：</a:t>
            </a:r>
          </a:p>
          <a:p>
            <a:r>
              <a:t>三条 harness 的差异 → 官方逐项明细 → 一次任务怎么算 → 怎么管住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先把结论放前面：</a:t>
            </a:r>
          </a:p>
          <a:p>
            <a:r>
              <a:t>你们现有的投资不受影响，新计费只针对新选择的能力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23 · 65 秒 · 官方明细</a:t>
            </a:r>
          </a:p>
          <a:p>
            <a:endParaRPr/>
          </a:p>
          <a:p>
            <a:r>
              <a:t>这是官方明细的中文版，</a:t>
            </a:r>
          </a:p>
          <a:p>
            <a:r>
              <a:t>我原样搬过来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但看表之前，先把最要紧的一句说在前面：</a:t>
            </a:r>
          </a:p>
          <a:p>
            <a:r>
              <a:t>你们手上的 Copilot Studio License，功能没变，计费也没变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对应到表上就是左边两列——</a:t>
            </a:r>
          </a:p>
          <a:p>
            <a:r>
              <a:t>Chat 和 Standard，商业模式完全维持原样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第一组，</a:t>
            </a:r>
          </a:p>
          <a:p>
            <a:r>
              <a:t>建 Agent</a:t>
            </a:r>
          </a:p>
          <a:p>
            <a:r>
              <a:t>。请注意这一行：</a:t>
            </a:r>
          </a:p>
          <a:p>
            <a:r>
              <a:t>手动搭建，三条 harness 全都不计费</a:t>
            </a:r>
          </a:p>
          <a:p>
            <a:r>
              <a:t>。变的是下面三项——</a:t>
            </a:r>
          </a:p>
          <a:p>
            <a:r>
              <a:t>自然语言搭建、评估、测试面板，只有 GHCP 这一列按用量算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为什么？</a:t>
            </a:r>
          </a:p>
          <a:p>
            <a:r>
              <a:t>因为这三件事本身就在真实调用模型和工具，它是有算力成本的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第二组，</a:t>
            </a:r>
          </a:p>
          <a:p>
            <a:r>
              <a:t>跑 Agent</a:t>
            </a:r>
          </a:p>
          <a:p>
            <a:r>
              <a:t>。左边两列规则照旧；最右边不区分身份，</a:t>
            </a:r>
          </a:p>
          <a:p>
            <a:r>
              <a:t>一律按用量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第三组是</a:t>
            </a:r>
          </a:p>
          <a:p>
            <a:r>
              <a:t>配套能力</a:t>
            </a:r>
          </a:p>
          <a:p>
            <a:r>
              <a:t>，这组最容易被忽略：连接器、本地网关、Dataverse、管理中心——</a:t>
            </a:r>
          </a:p>
          <a:p>
            <a:r>
              <a:t>三条 harness 基本都不额外收费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也就是说，</a:t>
            </a:r>
          </a:p>
          <a:p>
            <a:r>
              <a:t>你为治理和集成付出的基础设施，不会因为换了 harness 就再收一遍钱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所以这张表的结论只有一句：</a:t>
            </a:r>
          </a:p>
          <a:p>
            <a:r>
              <a:t>旧的一切照旧，只有主动选了 GHCP 去干更复杂的活，才引入按用量计费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25 · 60 秒 · 四因素与 ROI</a:t>
            </a:r>
          </a:p>
          <a:p>
            <a:endParaRPr/>
          </a:p>
          <a:p>
            <a:r>
              <a:t>四个因素展开讲。</a:t>
            </a:r>
          </a:p>
          <a:p>
            <a:r>
              <a:t>⏸ 停 1 秒</a:t>
            </a:r>
          </a:p>
          <a:p>
            <a:r>
              <a:t>Models</a:t>
            </a:r>
          </a:p>
          <a:p>
            <a:r>
              <a:t>，调了几次模型、用的哪个；</a:t>
            </a:r>
          </a:p>
          <a:p>
            <a:r>
              <a:t>Context</a:t>
            </a:r>
          </a:p>
          <a:p>
            <a:r>
              <a:t>，检索了多少组织数据；</a:t>
            </a:r>
          </a:p>
          <a:p>
            <a:r>
              <a:t>Tools</a:t>
            </a:r>
          </a:p>
          <a:p>
            <a:r>
              <a:t>，真正做了几次动作；</a:t>
            </a:r>
          </a:p>
          <a:p>
            <a:r>
              <a:t>Runtime</a:t>
            </a:r>
          </a:p>
          <a:p>
            <a:r>
              <a:t>，跑了多久、迭代了几轮。</a:t>
            </a:r>
          </a:p>
          <a:p>
            <a:r>
              <a:t>⏸ 停 2 秒</a:t>
            </a:r>
          </a:p>
          <a:p>
            <a:r>
              <a:t>拿下面这个例子感受一下——一次</a:t>
            </a:r>
          </a:p>
          <a:p>
            <a:r>
              <a:t>发票稽核</a:t>
            </a:r>
          </a:p>
          <a:p>
            <a:r>
              <a:t>：调模型 3 次、检索政策与历史、查采购单加写审批 2 次动作、拆 4 步迭代到完成。</a:t>
            </a:r>
          </a:p>
          <a:p>
            <a:r>
              <a:t>四项相加，就是这一单的 Credits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但我真正想说的不是算法，</a:t>
            </a:r>
          </a:p>
          <a:p>
            <a:r>
              <a:t>而是这种算法带来了什么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第一，</a:t>
            </a:r>
          </a:p>
          <a:p>
            <a:r>
              <a:t>成本和价值是对齐的</a:t>
            </a:r>
          </a:p>
          <a:p>
            <a:r>
              <a:t>。简单任务扣得少、复杂任务扣得多——</a:t>
            </a:r>
          </a:p>
          <a:p>
            <a:r>
              <a:t>按真实工作量收，你不会为不用的人付钱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第二，</a:t>
            </a:r>
          </a:p>
          <a:p>
            <a:r>
              <a:t>它让你能先小后大</a:t>
            </a:r>
          </a:p>
          <a:p>
            <a:r>
              <a:t>。不用一上来就为全公司买一大笔许可，</a:t>
            </a:r>
          </a:p>
          <a:p>
            <a:r>
              <a:t>先拿一个场景跑一个月</a:t>
            </a:r>
          </a:p>
          <a:p>
            <a:r>
              <a:t>，看清实际消耗，</a:t>
            </a:r>
          </a:p>
          <a:p>
            <a:r>
              <a:t>算出它到底省了多少人工</a:t>
            </a:r>
          </a:p>
          <a:p>
            <a:r>
              <a:t>，再决定推不推开。</a:t>
            </a:r>
          </a:p>
          <a:p>
            <a:r>
              <a:t>⏸ 停 1 秒</a:t>
            </a:r>
          </a:p>
          <a:p>
            <a:r>
              <a:t>这对采购是好事——</a:t>
            </a:r>
          </a:p>
          <a:p>
            <a:r>
              <a:t>ROI 是算得出来的，不是拍脑袋的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第三，</a:t>
            </a:r>
          </a:p>
          <a:p>
            <a:r>
              <a:t>它把优化的主动权交给了你</a:t>
            </a:r>
          </a:p>
          <a:p>
            <a:r>
              <a:t>。四个因素都看得见，所以你可以主动调：简单场景换便宜模型、能写死的步骤从 Agent 挪到 Workflow。</a:t>
            </a:r>
          </a:p>
          <a:p>
            <a:r>
              <a:t>这些优化直接变成钱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所以我的看法是：</a:t>
            </a:r>
          </a:p>
          <a:p>
            <a:r>
              <a:t>按用量计费不是一个要接受的代价，它本身就是一个控成本的工具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当然前提是</a:t>
            </a:r>
          </a:p>
          <a:p>
            <a:r>
              <a:t>得管得住</a:t>
            </a:r>
          </a:p>
          <a:p>
            <a:r>
              <a:t>——下一页就是管的办法。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26 · 60 秒 · 三层闸门</a:t>
            </a:r>
          </a:p>
          <a:p>
            <a:endParaRPr/>
          </a:p>
          <a:p>
            <a:r>
              <a:t>讲到这儿，一定有人心里在想：</a:t>
            </a:r>
          </a:p>
          <a:p>
            <a:r>
              <a:t>那会不会用着用着就失控了？</a:t>
            </a:r>
          </a:p>
          <a:p>
            <a:r>
              <a:t>⏸ 停 3 秒 · 让这个担心浮出来</a:t>
            </a:r>
          </a:p>
          <a:p>
            <a:r>
              <a:t>这页就是答案——</a:t>
            </a:r>
          </a:p>
          <a:p>
            <a:r>
              <a:t>三层闸门，从左到右一层层收口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第一层，租户级 Credit 池</a:t>
            </a:r>
          </a:p>
          <a:p>
            <a:r>
              <a:t>，全公司共用一个盘子。买法三种：预付买断、PAYG 按量、或者混合。这一层解决</a:t>
            </a:r>
          </a:p>
          <a:p>
            <a:r>
              <a:t>总量有多大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第二层，环境级预留</a:t>
            </a:r>
          </a:p>
          <a:p>
            <a:r>
              <a:t>。给部门或项目圈一块容量，</a:t>
            </a:r>
          </a:p>
          <a:p>
            <a:r>
              <a:t>圈完就隔离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中间这张是</a:t>
            </a:r>
          </a:p>
          <a:p>
            <a:r>
              <a:t>真实界面，可以点开放大</a:t>
            </a:r>
          </a:p>
          <a:p>
            <a:r>
              <a:t>：分配多少、耗尽后是继续抽还是转 PAYG、要不要告警——</a:t>
            </a:r>
          </a:p>
          <a:p>
            <a:r>
              <a:t>三个开关都在这一屏</a:t>
            </a:r>
          </a:p>
          <a:p>
            <a:r>
              <a:t>。这一层解决</a:t>
            </a:r>
          </a:p>
          <a:p>
            <a:r>
              <a:t>部门之间不互相吞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第三层，Agent 级上限</a:t>
            </a:r>
          </a:p>
          <a:p>
            <a:r>
              <a:t>。右边也是真实界面：</a:t>
            </a:r>
          </a:p>
          <a:p>
            <a:r>
              <a:t>月度上限、80% 先通知、到顶自动停用</a:t>
            </a:r>
          </a:p>
          <a:p>
            <a:r>
              <a:t>。这一层解决</a:t>
            </a:r>
          </a:p>
          <a:p>
            <a:r>
              <a:t>单个 Agent 不失控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一句话记住：</a:t>
            </a:r>
          </a:p>
          <a:p>
            <a:r>
              <a:t>租户层定总量、环境层定归属、Agent 层定单点上限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但这里有个坑必须提醒：</a:t>
            </a:r>
          </a:p>
          <a:p>
            <a:r>
              <a:t>Agent 限额只管单个 Agent，管不住环境总量</a:t>
            </a:r>
          </a:p>
          <a:p>
            <a:r>
              <a:t>。一个人建十个 Agent，每个都没超限，</a:t>
            </a:r>
          </a:p>
          <a:p>
            <a:r>
              <a:t>环境照样爆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而且还有一个更大的变化，很多人还没意识到——</a:t>
            </a:r>
          </a:p>
          <a:p>
            <a:r>
              <a:t>不用等上线，建的时候就已经在花钱了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27 · 70 秒 · 最容易被忽略的变化</a:t>
            </a:r>
          </a:p>
          <a:p>
            <a:endParaRPr/>
          </a:p>
          <a:p>
            <a:r>
              <a:t>这一页我认为是</a:t>
            </a:r>
          </a:p>
          <a:p>
            <a:r>
              <a:t>本次发布里最容易被忽略、但一定会让 IT 措手不及的一条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看左边：</a:t>
            </a:r>
          </a:p>
          <a:p>
            <a:r>
              <a:t>以前，Agent 要发布到生产才产生消耗</a:t>
            </a:r>
          </a:p>
          <a:p>
            <a:r>
              <a:t>——没上线就等于不花钱。</a:t>
            </a:r>
          </a:p>
          <a:p>
            <a:r>
              <a:t>⏸ 停 1 秒</a:t>
            </a:r>
          </a:p>
          <a:p>
            <a:r>
              <a:t>现在不一样了。</a:t>
            </a:r>
          </a:p>
          <a:p>
            <a:r>
              <a:t>在 GHCP harness 上，</a:t>
            </a:r>
          </a:p>
          <a:p>
            <a:r>
              <a:t>maker 搭建、预览、评估的时候就已经在消耗</a:t>
            </a:r>
          </a:p>
          <a:p>
            <a:r>
              <a:t>。也就是说——</a:t>
            </a:r>
          </a:p>
          <a:p>
            <a:r>
              <a:t>一个纯探索的环境，可能从来没发布过任何东西，账单已经在走了</a:t>
            </a:r>
          </a:p>
          <a:p>
            <a:r>
              <a:t>。</a:t>
            </a:r>
          </a:p>
          <a:p>
            <a:r>
              <a:t>⏸ 停 3 秒 · 让这句话落地</a:t>
            </a:r>
          </a:p>
          <a:p>
            <a:r>
              <a:t>但请注意口径，</a:t>
            </a:r>
          </a:p>
          <a:p>
            <a:r>
              <a:t>别把客户吓到</a:t>
            </a:r>
          </a:p>
          <a:p>
            <a:r>
              <a:t>：</a:t>
            </a:r>
          </a:p>
          <a:p>
            <a:r>
              <a:t>手动配置是不计费的</a:t>
            </a:r>
          </a:p>
          <a:p>
            <a:r>
              <a:t>；</a:t>
            </a:r>
          </a:p>
          <a:p>
            <a:r>
              <a:t>只有自然语言构建、评估、测试面板这三件事会消耗</a:t>
            </a:r>
          </a:p>
          <a:p>
            <a:r>
              <a:t>，因为它们真的在调模型。</a:t>
            </a:r>
          </a:p>
          <a:p>
            <a:r>
              <a:t>⏸ 停 2 秒</a:t>
            </a:r>
          </a:p>
          <a:p>
            <a:r>
              <a:t>那怎么管？官方给了五步。</a:t>
            </a:r>
          </a:p>
          <a:p>
            <a:r>
              <a:t>⏸ 停 1 秒</a:t>
            </a:r>
          </a:p>
          <a:p>
            <a:r>
              <a:t>第一步，先找出来</a:t>
            </a:r>
          </a:p>
          <a:p>
            <a:r>
              <a:t>——用 Inventory 查 GHCP 的 Agent，标识是</a:t>
            </a:r>
          </a:p>
          <a:p>
            <a:r>
              <a:t>isCLIAgent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第二步，分两类</a:t>
            </a:r>
          </a:p>
          <a:p>
            <a:r>
              <a:t>——「开发探索」和「有预算的生产」。这一步是关键：</a:t>
            </a:r>
          </a:p>
          <a:p>
            <a:r>
              <a:t>控件是同一套，但用法完全不同</a:t>
            </a:r>
          </a:p>
          <a:p>
            <a:r>
              <a:t>，开发要的是</a:t>
            </a:r>
          </a:p>
          <a:p>
            <a:r>
              <a:t>一条边界</a:t>
            </a:r>
          </a:p>
          <a:p>
            <a:r>
              <a:t>，生产要的是</a:t>
            </a:r>
          </a:p>
          <a:p>
            <a:r>
              <a:t>成本归属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第三步，给开发环境划边界</a:t>
            </a:r>
          </a:p>
          <a:p>
            <a:r>
              <a:t>——分配有限容量，</a:t>
            </a:r>
          </a:p>
          <a:p>
            <a:r>
              <a:t>并且一定要关掉「从租户池抽」</a:t>
            </a:r>
          </a:p>
          <a:p>
            <a:r>
              <a:t>。这条最容易漏，</a:t>
            </a:r>
          </a:p>
          <a:p>
            <a:r>
              <a:t>不关的话限额设了也没用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第四步，给每个 Agent 设默认限额，并主动通知所有者</a:t>
            </a:r>
          </a:p>
          <a:p>
            <a:r>
              <a:t>。为什么强调通知？因为</a:t>
            </a:r>
          </a:p>
          <a:p>
            <a:r>
              <a:t>内置告警只发给管理员，不一定发到建的人手上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第五步，定期巡检</a:t>
            </a:r>
          </a:p>
          <a:p>
            <a:r>
              <a:t>——</a:t>
            </a:r>
          </a:p>
          <a:p>
            <a:r>
              <a:t>新建环境可能默认就开着「从租户池抽」</a:t>
            </a:r>
          </a:p>
          <a:p>
            <a:r>
              <a:t>，老环境配置也会漂移。</a:t>
            </a:r>
          </a:p>
          <a:p>
            <a:r>
              <a:t>⏸ 停 2 秒</a:t>
            </a:r>
          </a:p>
          <a:p>
            <a:r>
              <a:t>最后，右下角这个链接是</a:t>
            </a:r>
          </a:p>
          <a:p>
            <a:r>
              <a:t>官方治理指南</a:t>
            </a:r>
          </a:p>
          <a:p>
            <a:r>
              <a:t>，里面有完整的 API 示例。</a:t>
            </a:r>
          </a:p>
          <a:p>
            <a:r>
              <a:t>建议把这一页留给客户的 IT 团队</a:t>
            </a:r>
          </a:p>
          <a:p>
            <a:r>
              <a:t>——他们会需要。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 · 55 秒 · 最实用的一页</a:t>
            </a:r>
          </a:p>
          <a:p>
            <a:endParaRPr/>
          </a:p>
          <a:p>
            <a:r>
              <a:t>钱的事讲完了。收尾之前，我留了</a:t>
            </a:r>
          </a:p>
          <a:p>
            <a:r>
              <a:t>今天最实用的一页</a:t>
            </a:r>
          </a:p>
          <a:p>
            <a:r>
              <a:t>——</a:t>
            </a:r>
          </a:p>
          <a:p>
            <a:r>
              <a:t>给你一把尺子</a:t>
            </a:r>
          </a:p>
          <a:p>
            <a:r>
              <a:t>，回去就能用。</a:t>
            </a:r>
          </a:p>
          <a:p>
            <a:r>
              <a:t>⏸ 停 1 秒</a:t>
            </a:r>
          </a:p>
          <a:p>
            <a:r>
              <a:t>左边四个是 Standard 的典型场景：IT 自助问答、官网客服分流、</a:t>
            </a:r>
          </a:p>
          <a:p>
            <a:r>
              <a:t>实时语音客服</a:t>
            </a:r>
          </a:p>
          <a:p>
            <a:r>
              <a:t>、报名预约收集。</a:t>
            </a:r>
          </a:p>
          <a:p>
            <a:r>
              <a:t>⏸ 停 1 秒</a:t>
            </a:r>
          </a:p>
          <a:p>
            <a:r>
              <a:t>特别提一下语音——</a:t>
            </a:r>
          </a:p>
          <a:p>
            <a:r>
              <a:t>电话接进来实时应答和转接，低延迟是硬指标</a:t>
            </a:r>
          </a:p>
          <a:p>
            <a:r>
              <a:t>，话术和路径事先配好，</a:t>
            </a:r>
          </a:p>
          <a:p>
            <a:r>
              <a:t>这类活恰恰不需要 AI 临场想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它们的共同点在最下面这句：</a:t>
            </a:r>
          </a:p>
          <a:p>
            <a:r>
              <a:t>能画成一张确定的流程图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右边三个不一样：法务的合同分诊、客服的工单分诊、售前的</a:t>
            </a:r>
          </a:p>
          <a:p>
            <a:r>
              <a:t>RFP 标书审阅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注意看每一条——</a:t>
            </a:r>
          </a:p>
          <a:p>
            <a:r>
              <a:t>你只给了目标，中间步骤是 AI 自己排的</a:t>
            </a:r>
          </a:p>
          <a:p>
            <a:r>
              <a:t>。比如 RFP，你说的只是「把上百页标书拆成一份风险清单」，</a:t>
            </a:r>
          </a:p>
          <a:p>
            <a:r>
              <a:t>通读、拆解、标风险、排优先级，这四步是它自己编排的</a:t>
            </a:r>
          </a:p>
          <a:p>
            <a:r>
              <a:t>。</a:t>
            </a:r>
          </a:p>
          <a:p>
            <a:r>
              <a:t>⏸ 停 3 秒</a:t>
            </a:r>
          </a:p>
          <a:p>
            <a:r>
              <a:t>所以判断标准非常简单，请记住这一句：</a:t>
            </a:r>
          </a:p>
          <a:p>
            <a:r>
              <a:t>场景能写成固定流程图，走 Standard；只能说清目标、说不清步骤，才需要 GitHub Copilot harness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P29 · FAQ · 60 秒 · 可跳可展开</a:t>
            </a:r>
          </a:p>
          <a:p>
            <a:endParaRPr/>
          </a:p>
          <a:p>
            <a:r>
              <a:t>这一页是我把每场都会被问到的八个问题</a:t>
            </a:r>
          </a:p>
          <a:p>
            <a:r>
              <a:t>提前答一遍</a:t>
            </a:r>
          </a:p>
          <a:p>
            <a:r>
              <a:t>。时间紧的话，</a:t>
            </a:r>
          </a:p>
          <a:p>
            <a:r>
              <a:t>前三个必须说，剩下的看现场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Q1，已买的 License 会不会变？</a:t>
            </a:r>
          </a:p>
          <a:p>
            <a:r>
              <a:t>不会。</a:t>
            </a:r>
          </a:p>
          <a:p>
            <a:r>
              <a:t>包括在 M365 Copilot 许可里的合理使用，也不变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Q2，它叫 GitHub Copilot，是不是要买 GitHub Copilot？</a:t>
            </a:r>
          </a:p>
          <a:p>
            <a:r>
              <a:t>不用。</a:t>
            </a:r>
          </a:p>
          <a:p>
            <a:r>
              <a:t>既不用买那个许可，也不用配 GitHub 环境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Q3，老 Agent 会不会坏？能一键迁过去吗？</a:t>
            </a:r>
          </a:p>
          <a:p>
            <a:r>
              <a:t>不会坏、不强制迁移。但这里</a:t>
            </a:r>
          </a:p>
          <a:p>
            <a:r>
              <a:t>要说实话</a:t>
            </a:r>
          </a:p>
          <a:p>
            <a:r>
              <a:t>：</a:t>
            </a:r>
          </a:p>
          <a:p>
            <a:r>
              <a:t>目前没有自动迁移，要换就得重建</a:t>
            </a:r>
          </a:p>
          <a:p>
            <a:r>
              <a:t>。好消息是重建通常很快，团队也在做自然语言辅助迁移。</a:t>
            </a:r>
          </a:p>
          <a:p>
            <a:r>
              <a:t>⏸ 停 3 秒</a:t>
            </a:r>
          </a:p>
          <a:p>
            <a:r>
              <a:t>后面几个看现场。</a:t>
            </a:r>
          </a:p>
          <a:p>
            <a:r>
              <a:t>Q6 是最容易漏、但客户一定追问的一条</a:t>
            </a:r>
          </a:p>
          <a:p>
            <a:r>
              <a:t>：</a:t>
            </a:r>
          </a:p>
          <a:p>
            <a:r>
              <a:t>8 月 3 日之前建的 GHCP Agent，沿用原模式到 9 月 1 日</a:t>
            </a:r>
          </a:p>
          <a:p>
            <a:r>
              <a:t>，之后才转按量；</a:t>
            </a:r>
          </a:p>
          <a:p>
            <a:r>
              <a:t>之后建的立即按量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最后两个是给 IT 和安全的定心丸：</a:t>
            </a:r>
          </a:p>
          <a:p>
            <a:r>
              <a:t>自带模型挂 Workflow 层，不锁死</a:t>
            </a:r>
          </a:p>
          <a:p>
            <a:r>
              <a:t>；</a:t>
            </a:r>
          </a:p>
          <a:p>
            <a:r>
              <a:t>治理、合规、安全架构全部沿用现有那一套，不需要重新审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5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4" Type="http://schemas.openxmlformats.org/officeDocument/2006/relationships/image" Target="../media/image5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5.png"/><Relationship Id="rId9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2.png"/><Relationship Id="rId3" Type="http://schemas.openxmlformats.org/officeDocument/2006/relationships/image" Target="../media/image1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5" Type="http://schemas.openxmlformats.org/officeDocument/2006/relationships/image" Target="../media/image54.png"/><Relationship Id="rId10" Type="http://schemas.openxmlformats.org/officeDocument/2006/relationships/image" Target="../media/image49.png"/><Relationship Id="rId4" Type="http://schemas.openxmlformats.org/officeDocument/2006/relationships/image" Target="../media/image5.png"/><Relationship Id="rId9" Type="http://schemas.openxmlformats.org/officeDocument/2006/relationships/image" Target="../media/image48.png"/><Relationship Id="rId14" Type="http://schemas.openxmlformats.org/officeDocument/2006/relationships/image" Target="../media/image5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1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5.png"/><Relationship Id="rId9" Type="http://schemas.openxmlformats.org/officeDocument/2006/relationships/image" Target="../media/image6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4.png"/><Relationship Id="rId3" Type="http://schemas.openxmlformats.org/officeDocument/2006/relationships/image" Target="../media/image1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5.png"/><Relationship Id="rId9" Type="http://schemas.openxmlformats.org/officeDocument/2006/relationships/image" Target="../media/image7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1.png"/><Relationship Id="rId7" Type="http://schemas.openxmlformats.org/officeDocument/2006/relationships/image" Target="../media/image7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10" Type="http://schemas.openxmlformats.org/officeDocument/2006/relationships/image" Target="../media/image80.png"/><Relationship Id="rId4" Type="http://schemas.openxmlformats.org/officeDocument/2006/relationships/image" Target="../media/image5.png"/><Relationship Id="rId9" Type="http://schemas.openxmlformats.org/officeDocument/2006/relationships/image" Target="../media/image7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1.png"/><Relationship Id="rId7" Type="http://schemas.openxmlformats.org/officeDocument/2006/relationships/image" Target="../media/image8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10" Type="http://schemas.openxmlformats.org/officeDocument/2006/relationships/image" Target="../media/image86.png"/><Relationship Id="rId4" Type="http://schemas.openxmlformats.org/officeDocument/2006/relationships/image" Target="../media/image5.png"/><Relationship Id="rId9" Type="http://schemas.openxmlformats.org/officeDocument/2006/relationships/image" Target="../media/image8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13" Type="http://schemas.openxmlformats.org/officeDocument/2006/relationships/image" Target="../media/image96.png"/><Relationship Id="rId3" Type="http://schemas.openxmlformats.org/officeDocument/2006/relationships/image" Target="../media/image1.png"/><Relationship Id="rId7" Type="http://schemas.openxmlformats.org/officeDocument/2006/relationships/image" Target="../media/image90.png"/><Relationship Id="rId12" Type="http://schemas.openxmlformats.org/officeDocument/2006/relationships/image" Target="../media/image9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5" Type="http://schemas.openxmlformats.org/officeDocument/2006/relationships/image" Target="../media/image98.png"/><Relationship Id="rId10" Type="http://schemas.openxmlformats.org/officeDocument/2006/relationships/image" Target="../media/image93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Relationship Id="rId14" Type="http://schemas.openxmlformats.org/officeDocument/2006/relationships/image" Target="../media/image9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8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1.pn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87.png"/><Relationship Id="rId9" Type="http://schemas.openxmlformats.org/officeDocument/2006/relationships/image" Target="../media/image10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1.pn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3.png"/><Relationship Id="rId5" Type="http://schemas.openxmlformats.org/officeDocument/2006/relationships/image" Target="../media/image101.png"/><Relationship Id="rId4" Type="http://schemas.openxmlformats.org/officeDocument/2006/relationships/image" Target="../media/image8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8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2.png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13" Type="http://schemas.openxmlformats.org/officeDocument/2006/relationships/image" Target="../media/image122.png"/><Relationship Id="rId18" Type="http://schemas.openxmlformats.org/officeDocument/2006/relationships/image" Target="../media/image127.png"/><Relationship Id="rId3" Type="http://schemas.openxmlformats.org/officeDocument/2006/relationships/image" Target="../media/image113.png"/><Relationship Id="rId7" Type="http://schemas.openxmlformats.org/officeDocument/2006/relationships/image" Target="../media/image116.png"/><Relationship Id="rId12" Type="http://schemas.openxmlformats.org/officeDocument/2006/relationships/image" Target="../media/image121.png"/><Relationship Id="rId17" Type="http://schemas.openxmlformats.org/officeDocument/2006/relationships/image" Target="../media/image126.png"/><Relationship Id="rId2" Type="http://schemas.openxmlformats.org/officeDocument/2006/relationships/notesSlide" Target="../notesSlides/notesSlide27.xml"/><Relationship Id="rId16" Type="http://schemas.openxmlformats.org/officeDocument/2006/relationships/image" Target="../media/image125.png"/><Relationship Id="rId20" Type="http://schemas.openxmlformats.org/officeDocument/2006/relationships/image" Target="../media/image1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11" Type="http://schemas.openxmlformats.org/officeDocument/2006/relationships/image" Target="../media/image120.png"/><Relationship Id="rId5" Type="http://schemas.openxmlformats.org/officeDocument/2006/relationships/image" Target="../media/image114.png"/><Relationship Id="rId15" Type="http://schemas.openxmlformats.org/officeDocument/2006/relationships/image" Target="../media/image124.png"/><Relationship Id="rId10" Type="http://schemas.openxmlformats.org/officeDocument/2006/relationships/image" Target="../media/image119.png"/><Relationship Id="rId19" Type="http://schemas.openxmlformats.org/officeDocument/2006/relationships/image" Target="../media/image128.png"/><Relationship Id="rId4" Type="http://schemas.openxmlformats.org/officeDocument/2006/relationships/image" Target="../media/image5.png"/><Relationship Id="rId9" Type="http://schemas.openxmlformats.org/officeDocument/2006/relationships/image" Target="../media/image118.png"/><Relationship Id="rId14" Type="http://schemas.openxmlformats.org/officeDocument/2006/relationships/image" Target="../media/image12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3" Type="http://schemas.openxmlformats.org/officeDocument/2006/relationships/image" Target="../media/image1.png"/><Relationship Id="rId7" Type="http://schemas.openxmlformats.org/officeDocument/2006/relationships/image" Target="../media/image1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5" Type="http://schemas.openxmlformats.org/officeDocument/2006/relationships/image" Target="../media/image130.png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3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13" Type="http://schemas.openxmlformats.org/officeDocument/2006/relationships/image" Target="../media/image145.png"/><Relationship Id="rId3" Type="http://schemas.openxmlformats.org/officeDocument/2006/relationships/image" Target="../media/image1.png"/><Relationship Id="rId7" Type="http://schemas.openxmlformats.org/officeDocument/2006/relationships/image" Target="../media/image139.png"/><Relationship Id="rId12" Type="http://schemas.openxmlformats.org/officeDocument/2006/relationships/image" Target="../media/image144.png"/><Relationship Id="rId17" Type="http://schemas.openxmlformats.org/officeDocument/2006/relationships/image" Target="../media/image149.png"/><Relationship Id="rId2" Type="http://schemas.openxmlformats.org/officeDocument/2006/relationships/notesSlide" Target="../notesSlides/notesSlide30.xml"/><Relationship Id="rId16" Type="http://schemas.openxmlformats.org/officeDocument/2006/relationships/image" Target="../media/image1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8.png"/><Relationship Id="rId11" Type="http://schemas.openxmlformats.org/officeDocument/2006/relationships/image" Target="../media/image143.png"/><Relationship Id="rId5" Type="http://schemas.openxmlformats.org/officeDocument/2006/relationships/image" Target="../media/image137.png"/><Relationship Id="rId15" Type="http://schemas.openxmlformats.org/officeDocument/2006/relationships/image" Target="../media/image147.png"/><Relationship Id="rId10" Type="http://schemas.openxmlformats.org/officeDocument/2006/relationships/image" Target="../media/image142.png"/><Relationship Id="rId4" Type="http://schemas.openxmlformats.org/officeDocument/2006/relationships/image" Target="../media/image5.png"/><Relationship Id="rId9" Type="http://schemas.openxmlformats.org/officeDocument/2006/relationships/image" Target="../media/image141.png"/><Relationship Id="rId14" Type="http://schemas.openxmlformats.org/officeDocument/2006/relationships/image" Target="../media/image1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156593"/>
            <a:ext cx="4038203" cy="165100"/>
          </a:xfrm>
          <a:prstGeom prst="rect">
            <a:avLst/>
          </a:prstGeom>
        </p:spPr>
      </p:pic>
      <p:pic>
        <p:nvPicPr>
          <p:cNvPr id="4" name="Picture 3" descr="slide1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565426"/>
            <a:ext cx="7721600" cy="727670"/>
          </a:xfrm>
          <a:prstGeom prst="rect">
            <a:avLst/>
          </a:prstGeom>
        </p:spPr>
      </p:pic>
      <p:pic>
        <p:nvPicPr>
          <p:cNvPr id="5" name="Picture 4" descr="slide1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140696"/>
            <a:ext cx="7721600" cy="727670"/>
          </a:xfrm>
          <a:prstGeom prst="rect">
            <a:avLst/>
          </a:prstGeom>
        </p:spPr>
      </p:pic>
      <p:pic>
        <p:nvPicPr>
          <p:cNvPr id="6" name="Picture 5" descr="slide1-deco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715966"/>
            <a:ext cx="7721600" cy="727670"/>
          </a:xfrm>
          <a:prstGeom prst="rect">
            <a:avLst/>
          </a:prstGeom>
        </p:spPr>
      </p:pic>
      <p:pic>
        <p:nvPicPr>
          <p:cNvPr id="7" name="Picture 6" descr="slide1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5291237"/>
            <a:ext cx="7721600" cy="7276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1156593"/>
            <a:ext cx="4038203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COPILOT STUDIO · PRODUCT UPDATE · AUGUST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48693"/>
            <a:ext cx="6997502" cy="108803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284"/>
              </a:lnSpc>
            </a:pPr>
            <a:r>
              <a:rPr lang="zh-CN" sz="4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Copilot Studio：</a:t>
            </a:r>
            <a:br>
              <a:rPr sz="4200"/>
            </a:br>
            <a:r>
              <a:rPr lang="zh-CN" sz="4200" b="1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三条 harness 并存，按需求挑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38326"/>
            <a:ext cx="1041400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800"/>
              </a:lnSpc>
            </a:pPr>
            <a:r>
              <a:rPr lang="zh-CN" sz="12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从"做一个会聊天的 Agent"，扩展成"用 App、Agent、Workflow 组装完整业务过程"的企业 Agentic 平台。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86026"/>
            <a:ext cx="7493000" cy="2311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40"/>
              </a:lnSpc>
            </a:pPr>
            <a:r>
              <a:rPr lang="zh-CN" sz="9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这一场只回答</a:t>
            </a:r>
            <a:r>
              <a:rPr lang="zh-CN" sz="950" b="1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 4 个核心问题</a:t>
            </a:r>
            <a:r>
              <a:rPr lang="zh-CN" sz="9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——把它们讲清楚，就够你判断该不该上、怎么用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900" y="3719711"/>
            <a:ext cx="279400" cy="2667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spc="22" dirty="0">
                <a:solidFill>
                  <a:srgbClr val="2B7FFF"/>
                </a:solidFill>
                <a:latin typeface="Segoe UI"/>
                <a:cs typeface="Segoe UI"/>
              </a:rPr>
              <a:t>Q1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7300" y="3660676"/>
            <a:ext cx="3011884" cy="3085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30"/>
              </a:lnSpc>
            </a:pPr>
            <a:r>
              <a:rPr lang="zh-CN" sz="11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Copilot Studio 做了哪些核心的改变？</a:t>
            </a:r>
            <a:br>
              <a:rPr sz="800"/>
            </a:b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Part 01 · Harness — 从会话工具到企业 Agentic 平台，三条 harness 怎么分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900" y="4294981"/>
            <a:ext cx="279400" cy="2667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spc="22" dirty="0">
                <a:solidFill>
                  <a:srgbClr val="2B7FFF"/>
                </a:solidFill>
                <a:latin typeface="Segoe UI"/>
                <a:cs typeface="Segoe UI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7300" y="4235946"/>
            <a:ext cx="3492500" cy="3085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30"/>
              </a:lnSpc>
            </a:pPr>
            <a:r>
              <a:rPr lang="zh-CN" sz="11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面对多任务、复杂任务，它有哪些提升？对应什么定位？</a:t>
            </a:r>
            <a:br>
              <a:rPr sz="800"/>
            </a:b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Part 02 · Platform — 全景、实证与模型 / Agent 生态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900" y="4870252"/>
            <a:ext cx="279400" cy="2667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spc="22" dirty="0">
                <a:solidFill>
                  <a:srgbClr val="2B7FFF"/>
                </a:solidFill>
                <a:latin typeface="Segoe UI"/>
                <a:cs typeface="Segoe UI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" y="4811216"/>
            <a:ext cx="2111970" cy="3085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30"/>
              </a:lnSpc>
            </a:pPr>
            <a:r>
              <a:rPr lang="zh-CN" sz="11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它的功能与路线图长什么样？</a:t>
            </a:r>
            <a:br>
              <a:rPr sz="800"/>
            </a:b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Part 03 · Capabilities — 三件套能力全景与 Roadmap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900" y="5445522"/>
            <a:ext cx="279400" cy="2667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spc="22" dirty="0">
                <a:solidFill>
                  <a:srgbClr val="2B7FFF"/>
                </a:solidFill>
                <a:latin typeface="Segoe UI"/>
                <a:cs typeface="Segoe UI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7300" y="5386487"/>
            <a:ext cx="1944787" cy="3085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30"/>
              </a:lnSpc>
            </a:pPr>
            <a:r>
              <a:rPr lang="zh-CN" sz="11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怎么收费？成本怎么管住？</a:t>
            </a:r>
            <a:br>
              <a:rPr sz="800"/>
            </a:b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Part 04 · Billing — Usage-based 计费与双层额度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2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899470"/>
            <a:ext cx="10820400" cy="2343150"/>
          </a:xfrm>
          <a:prstGeom prst="rect">
            <a:avLst/>
          </a:prstGeom>
        </p:spPr>
      </p:pic>
      <p:pic>
        <p:nvPicPr>
          <p:cNvPr id="5" name="Picture 4" descr="slide2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899470"/>
            <a:ext cx="11049000" cy="736600"/>
          </a:xfrm>
          <a:prstGeom prst="rect">
            <a:avLst/>
          </a:prstGeom>
        </p:spPr>
      </p:pic>
      <p:pic>
        <p:nvPicPr>
          <p:cNvPr id="6" name="Picture 5" descr="slide2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3483670"/>
            <a:ext cx="11049000" cy="819150"/>
          </a:xfrm>
          <a:prstGeom prst="rect">
            <a:avLst/>
          </a:prstGeom>
        </p:spPr>
      </p:pic>
      <p:pic>
        <p:nvPicPr>
          <p:cNvPr id="7" name="Picture 6" descr="slide2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67400" y="3601145"/>
            <a:ext cx="457200" cy="457200"/>
          </a:xfrm>
          <a:prstGeom prst="rect">
            <a:avLst/>
          </a:prstGeom>
        </p:spPr>
      </p:pic>
      <p:pic>
        <p:nvPicPr>
          <p:cNvPr id="8" name="Picture 7" descr="slide2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8100" y="3604320"/>
            <a:ext cx="4946650" cy="349250"/>
          </a:xfrm>
          <a:prstGeom prst="rect">
            <a:avLst/>
          </a:prstGeom>
        </p:spPr>
      </p:pic>
      <p:pic>
        <p:nvPicPr>
          <p:cNvPr id="9" name="Picture 8" descr="slide2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150420"/>
            <a:ext cx="11049000" cy="736600"/>
          </a:xfrm>
          <a:prstGeom prst="rect">
            <a:avLst/>
          </a:prstGeom>
        </p:spPr>
      </p:pic>
      <p:pic>
        <p:nvPicPr>
          <p:cNvPr id="10" name="Picture 9" descr="slide2-deco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4734620"/>
            <a:ext cx="11049000" cy="736600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01 · WHY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AI 正在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重塑工作的完成方式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5482" y="2543870"/>
            <a:ext cx="998637" cy="266700"/>
          </a:xfrm>
          <a:prstGeom prst="roundRect">
            <a:avLst>
              <a:gd name="adj" fmla="val 50000"/>
            </a:avLst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5482" y="2543870"/>
            <a:ext cx="998637" cy="373380"/>
          </a:xfrm>
          <a:prstGeom prst="rect">
            <a:avLst/>
          </a:prstGeom>
          <a:noFill/>
        </p:spPr>
        <p:txBody>
          <a:bodyPr wrap="none" lIns="190500" tIns="50800" rIns="190500" bIns="50800" anchor="t"/>
          <a:lstStyle/>
          <a:p>
            <a:pPr algn="l">
              <a:lnSpc>
                <a:spcPts val="1140"/>
              </a:lnSpc>
            </a:pPr>
            <a:r>
              <a:rPr lang="zh-CN" sz="950" b="1" spc="38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过去 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30530" y="2543870"/>
            <a:ext cx="833239" cy="266700"/>
          </a:xfrm>
          <a:prstGeom prst="roundRect">
            <a:avLst>
              <a:gd name="adj" fmla="val 50000"/>
            </a:avLst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30530" y="2543870"/>
            <a:ext cx="833239" cy="373380"/>
          </a:xfrm>
          <a:prstGeom prst="rect">
            <a:avLst/>
          </a:prstGeom>
          <a:noFill/>
        </p:spPr>
        <p:txBody>
          <a:bodyPr wrap="none" lIns="190500" tIns="50800" rIns="190500" bIns="50800" anchor="t"/>
          <a:lstStyle/>
          <a:p>
            <a:pPr algn="l">
              <a:lnSpc>
                <a:spcPts val="1140"/>
              </a:lnSpc>
            </a:pPr>
            <a:r>
              <a:rPr lang="zh-CN" sz="950" b="1" spc="38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现在 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900" y="3055045"/>
            <a:ext cx="495300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80"/>
              </a:lnSpc>
            </a:pPr>
            <a:r>
              <a:rPr lang="zh-CN" sz="11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数据各自孤立</a:t>
            </a:r>
          </a:p>
        </p:txBody>
      </p:sp>
      <p:sp>
        <p:nvSpPr>
          <p:cNvPr id="19" name="Oval 18"/>
          <p:cNvSpPr/>
          <p:nvPr/>
        </p:nvSpPr>
        <p:spPr>
          <a:xfrm>
            <a:off x="5956300" y="3013770"/>
            <a:ext cx="279400" cy="279400"/>
          </a:xfrm>
          <a:prstGeom prst="ellipse">
            <a:avLst/>
          </a:prstGeom>
          <a:solidFill>
            <a:srgbClr val="1B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56300" y="3013770"/>
            <a:ext cx="2794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320"/>
              </a:lnSpc>
            </a:pPr>
            <a:r>
              <a:rPr lang="en-US" sz="11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100" y="3045520"/>
            <a:ext cx="4953000" cy="3022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被打通的统一智能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250" y="3680520"/>
            <a:ext cx="494665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80"/>
              </a:lnSpc>
            </a:pPr>
            <a:r>
              <a:rPr lang="zh-CN" sz="11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AI 只是助手 · 回答问题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56300" y="3639245"/>
            <a:ext cx="2794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320"/>
              </a:lnSpc>
            </a:pPr>
            <a:r>
              <a:rPr lang="en-US" sz="11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8100" y="3604320"/>
            <a:ext cx="4946650" cy="3492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500"/>
              </a:lnSpc>
            </a:pPr>
            <a:r>
              <a:rPr lang="zh-CN" sz="1250" b="1" dirty="0">
                <a:solidFill>
                  <a:srgbClr val="000000">
                    <a:alpha val="0"/>
                  </a:srgbClr>
                </a:solidFill>
                <a:latin typeface="Segoe UI"/>
                <a:ea typeface="Noto Sans SC"/>
                <a:cs typeface="Segoe UI"/>
              </a:rPr>
              <a:t>AI 成为执行者 · 接手工作</a:t>
            </a:r>
            <a:br>
              <a:rPr sz="1250"/>
            </a:br>
            <a:r>
              <a:rPr lang="en-US" sz="700" b="1" dirty="0">
                <a:solidFill>
                  <a:srgbClr val="5B6577"/>
                </a:solidFill>
                <a:latin typeface="Segoe UI"/>
                <a:ea typeface="Segoe UI"/>
                <a:cs typeface="Segoe UI"/>
              </a:rPr>
              <a:t>AI assistant → AI doer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900" y="4305995"/>
            <a:ext cx="495300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80"/>
              </a:lnSpc>
            </a:pPr>
            <a:r>
              <a:rPr lang="zh-CN" sz="11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以单个应用为中心</a:t>
            </a:r>
          </a:p>
        </p:txBody>
      </p:sp>
      <p:sp>
        <p:nvSpPr>
          <p:cNvPr id="26" name="Oval 25"/>
          <p:cNvSpPr/>
          <p:nvPr/>
        </p:nvSpPr>
        <p:spPr>
          <a:xfrm>
            <a:off x="5956300" y="4264720"/>
            <a:ext cx="279400" cy="279400"/>
          </a:xfrm>
          <a:prstGeom prst="ellipse">
            <a:avLst/>
          </a:prstGeom>
          <a:solidFill>
            <a:srgbClr val="1B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56300" y="4264720"/>
            <a:ext cx="2794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320"/>
              </a:lnSpc>
            </a:pPr>
            <a:r>
              <a:rPr lang="en-US" sz="11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8100" y="4296470"/>
            <a:ext cx="4953000" cy="3022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互联的工作系统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900" y="4890195"/>
            <a:ext cx="495300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80"/>
              </a:lnSpc>
            </a:pPr>
            <a:r>
              <a:rPr lang="zh-CN" sz="11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人来协调每一步</a:t>
            </a:r>
          </a:p>
        </p:txBody>
      </p:sp>
      <p:sp>
        <p:nvSpPr>
          <p:cNvPr id="30" name="Oval 29"/>
          <p:cNvSpPr/>
          <p:nvPr/>
        </p:nvSpPr>
        <p:spPr>
          <a:xfrm>
            <a:off x="5956300" y="4848920"/>
            <a:ext cx="279400" cy="279400"/>
          </a:xfrm>
          <a:prstGeom prst="ellipse">
            <a:avLst/>
          </a:prstGeom>
          <a:solidFill>
            <a:srgbClr val="1B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56300" y="4848920"/>
            <a:ext cx="2794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320"/>
              </a:lnSpc>
            </a:pPr>
            <a:r>
              <a:rPr lang="en-US" sz="11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8100" y="4880670"/>
            <a:ext cx="4953000" cy="3022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人与 Agent 协同完成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M365 Copilot Product Pitch · 中文重制 · 2026-08</a:t>
            </a:r>
          </a:p>
        </p:txBody>
      </p:sp>
      <p:sp>
        <p:nvSpPr>
          <p:cNvPr id="34" name="Strict 02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3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432" y="2738296"/>
            <a:ext cx="2573137" cy="1766687"/>
          </a:xfrm>
          <a:prstGeom prst="rect">
            <a:avLst/>
          </a:prstGeom>
        </p:spPr>
      </p:pic>
      <p:pic>
        <p:nvPicPr>
          <p:cNvPr id="5" name="Picture 4" descr="slide3-svg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360388"/>
            <a:ext cx="10820400" cy="4497189"/>
          </a:xfrm>
          <a:prstGeom prst="rect">
            <a:avLst/>
          </a:prstGeom>
        </p:spPr>
      </p:pic>
      <p:pic>
        <p:nvPicPr>
          <p:cNvPr id="6" name="Picture 5" descr="slide3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6300" y="1360388"/>
            <a:ext cx="2819400" cy="1174750"/>
          </a:xfrm>
          <a:prstGeom prst="rect">
            <a:avLst/>
          </a:prstGeom>
        </p:spPr>
      </p:pic>
      <p:pic>
        <p:nvPicPr>
          <p:cNvPr id="7" name="Picture 6" descr="slide3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6600" y="3849588"/>
            <a:ext cx="2819400" cy="1174750"/>
          </a:xfrm>
          <a:prstGeom prst="rect">
            <a:avLst/>
          </a:prstGeom>
        </p:spPr>
      </p:pic>
      <p:pic>
        <p:nvPicPr>
          <p:cNvPr id="8" name="Picture 7" descr="slide3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6000" y="3849588"/>
            <a:ext cx="2819400" cy="1174750"/>
          </a:xfrm>
          <a:prstGeom prst="rect">
            <a:avLst/>
          </a:prstGeom>
        </p:spPr>
      </p:pic>
      <p:pic>
        <p:nvPicPr>
          <p:cNvPr id="9" name="Picture 8" descr="slide3-deco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946477"/>
            <a:ext cx="10820400" cy="416223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02 · ONE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一个 Studio，用一句话就能建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三件套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43500" y="2858988"/>
            <a:ext cx="1905000" cy="109855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43500" y="2858988"/>
            <a:ext cx="1905000" cy="142811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120"/>
              </a:lnSpc>
            </a:pPr>
            <a:r>
              <a:rPr lang="en-US" sz="100" dirty="0">
                <a:solidFill>
                  <a:srgbClr val="000000">
                    <a:alpha val="0"/>
                  </a:srgbClr>
                </a:solidFill>
                <a:latin typeface="Segoe UI"/>
                <a:ea typeface="Segoe UI"/>
                <a:cs typeface="Segoe UI"/>
              </a:rPr>
              <a:t>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19750" y="3665438"/>
            <a:ext cx="9525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960"/>
              </a:lnSpc>
            </a:pPr>
            <a:r>
              <a:rPr lang="zh-CN" sz="750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一次对话，三样一起建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18200" y="3024088"/>
            <a:ext cx="355600" cy="355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18200" y="3024088"/>
            <a:ext cx="355600" cy="462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95900" y="3455888"/>
            <a:ext cx="1600200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500"/>
              </a:lnSpc>
            </a:pPr>
            <a:r>
              <a:rPr lang="en-US" sz="1250" b="1" dirty="0">
                <a:solidFill>
                  <a:srgbClr val="FFFFFF"/>
                </a:solidFill>
                <a:latin typeface="Segoe UI"/>
                <a:cs typeface="Segoe UI"/>
              </a:rPr>
              <a:t>Copilot Studio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7450" y="1506438"/>
            <a:ext cx="228600" cy="2286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67450" y="1506438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20"/>
              </a:lnSpc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900" y="1519138"/>
            <a:ext cx="456505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440"/>
              </a:lnSpc>
            </a:pPr>
            <a:r>
              <a:rPr lang="en-US" sz="1200" b="1" dirty="0">
                <a:solidFill>
                  <a:srgbClr val="1B2030"/>
                </a:solidFill>
                <a:latin typeface="Segoe UI"/>
                <a:cs typeface="Segoe UI"/>
              </a:rPr>
              <a:t>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4634" y="1544538"/>
            <a:ext cx="759916" cy="152400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04634" y="1544538"/>
            <a:ext cx="759916" cy="213360"/>
          </a:xfrm>
          <a:prstGeom prst="rect">
            <a:avLst/>
          </a:prstGeom>
          <a:noFill/>
        </p:spPr>
        <p:txBody>
          <a:bodyPr wrap="none" lIns="76200" tIns="25400" rIns="76200" bIns="25400" anchor="t"/>
          <a:lstStyle/>
          <a:p>
            <a:pPr algn="l">
              <a:lnSpc>
                <a:spcPts val="750"/>
              </a:lnSpc>
            </a:pPr>
            <a:r>
              <a:rPr lang="en-US" sz="625" b="1" spc="12" dirty="0">
                <a:solidFill>
                  <a:srgbClr val="2B7FFF"/>
                </a:solidFill>
                <a:latin typeface="Segoe UI"/>
                <a:cs typeface="Segoe UI"/>
              </a:rPr>
              <a:t>GitHub Copilot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7450" y="1785838"/>
            <a:ext cx="2197100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会理解、会判断、会调工具——把需要动脑的那段接下来。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7750" y="3995638"/>
            <a:ext cx="228600" cy="228600"/>
          </a:xfrm>
          <a:prstGeom prst="rect">
            <a:avLst/>
          </a:prstGeom>
          <a:solidFill>
            <a:srgbClr val="159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47750" y="3995638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20"/>
              </a:lnSpc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6200" y="4008338"/>
            <a:ext cx="751979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440"/>
              </a:lnSpc>
            </a:pPr>
            <a:r>
              <a:rPr lang="en-US" sz="1200" b="1" dirty="0">
                <a:solidFill>
                  <a:srgbClr val="1B2030"/>
                </a:solidFill>
                <a:latin typeface="Segoe UI"/>
                <a:cs typeface="Segoe UI"/>
              </a:rPr>
              <a:t>Workflow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84934" y="4033738"/>
            <a:ext cx="759916" cy="152400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484934" y="4033738"/>
            <a:ext cx="759916" cy="213360"/>
          </a:xfrm>
          <a:prstGeom prst="rect">
            <a:avLst/>
          </a:prstGeom>
          <a:noFill/>
        </p:spPr>
        <p:txBody>
          <a:bodyPr wrap="none" lIns="76200" tIns="25400" rIns="76200" bIns="25400" anchor="t"/>
          <a:lstStyle/>
          <a:p>
            <a:pPr algn="l">
              <a:lnSpc>
                <a:spcPts val="750"/>
              </a:lnSpc>
            </a:pPr>
            <a:r>
              <a:rPr lang="en-US" sz="625" b="1" spc="12" dirty="0">
                <a:solidFill>
                  <a:srgbClr val="2B7FFF"/>
                </a:solidFill>
                <a:latin typeface="Segoe UI"/>
                <a:cs typeface="Segoe UI"/>
              </a:rPr>
              <a:t>GitHub Copilot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" y="4275038"/>
            <a:ext cx="2197100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触发器 + 动作 + AI 步骤，把必须照做的步骤稳定跑完。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47150" y="3995638"/>
            <a:ext cx="228600" cy="228600"/>
          </a:xfrm>
          <a:prstGeom prst="rect">
            <a:avLst/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47150" y="3995638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20"/>
              </a:lnSpc>
            </a:pPr>
            <a:r>
              <a:rPr lang="en-US" sz="8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00" y="4008338"/>
            <a:ext cx="310059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440"/>
              </a:lnSpc>
            </a:pPr>
            <a:r>
              <a:rPr lang="en-US" sz="1200" b="1" dirty="0">
                <a:solidFill>
                  <a:srgbClr val="1B2030"/>
                </a:solidFill>
                <a:latin typeface="Segoe UI"/>
                <a:cs typeface="Segoe UI"/>
              </a:rPr>
              <a:t>App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384334" y="4033738"/>
            <a:ext cx="759916" cy="152400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384334" y="4033738"/>
            <a:ext cx="759916" cy="213360"/>
          </a:xfrm>
          <a:prstGeom prst="rect">
            <a:avLst/>
          </a:prstGeom>
          <a:noFill/>
        </p:spPr>
        <p:txBody>
          <a:bodyPr wrap="none" lIns="76200" tIns="25400" rIns="76200" bIns="25400" anchor="t"/>
          <a:lstStyle/>
          <a:p>
            <a:pPr algn="l">
              <a:lnSpc>
                <a:spcPts val="750"/>
              </a:lnSpc>
            </a:pPr>
            <a:r>
              <a:rPr lang="en-US" sz="625" b="1" spc="12" dirty="0">
                <a:solidFill>
                  <a:srgbClr val="2B7FFF"/>
                </a:solidFill>
                <a:latin typeface="Segoe UI"/>
                <a:cs typeface="Segoe UI"/>
              </a:rPr>
              <a:t>GitHub Copilot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47150" y="4275038"/>
            <a:ext cx="2197100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屏幕、数据、逻辑一起生成，让人能查看、修改和批准。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946477"/>
            <a:ext cx="10820400" cy="416223"/>
          </a:xfrm>
          <a:prstGeom prst="rect">
            <a:avLst/>
          </a:prstGeom>
          <a:noFill/>
        </p:spPr>
        <p:txBody>
          <a:bodyPr wrap="square" lIns="165100" tIns="114300" rIns="165100" bIns="114300" anchor="ctr"/>
          <a:lstStyle/>
          <a:p>
            <a:pPr algn="l">
              <a:lnSpc>
                <a:spcPts val="1378"/>
              </a:lnSpc>
            </a:pPr>
            <a:r>
              <a:rPr lang="zh-CN" sz="9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关键 →</a:t>
            </a:r>
            <a:r>
              <a:rPr lang="zh-CN" sz="9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不用在三个设计器之间来回切——从业务意图出发，一个会话里把 App、Agent、Workflow 建出来，还能让它们互相调用。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One studio to redesign business processes</a:t>
            </a:r>
          </a:p>
        </p:txBody>
      </p:sp>
      <p:sp>
        <p:nvSpPr>
          <p:cNvPr id="39" name="Strict 03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4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525488"/>
            <a:ext cx="11049000" cy="3943350"/>
          </a:xfrm>
          <a:prstGeom prst="rect">
            <a:avLst/>
          </a:prstGeom>
        </p:spPr>
      </p:pic>
      <p:pic>
        <p:nvPicPr>
          <p:cNvPr id="5" name="Picture 4" descr="slide4-img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50" y="1531838"/>
            <a:ext cx="10807700" cy="3702050"/>
          </a:xfrm>
          <a:prstGeom prst="rect">
            <a:avLst/>
          </a:prstGeom>
        </p:spPr>
      </p:pic>
      <p:pic>
        <p:nvPicPr>
          <p:cNvPr id="6" name="Picture 5" descr="slide4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354538"/>
            <a:ext cx="10820400" cy="554236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zh-CN" sz="950" b="1" spc="152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02B · 横向对比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同样要建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 Agent＋Workflow＋App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，谁能一站式、不写代码覆盖三层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09588"/>
            <a:ext cx="108204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00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图例：</a:t>
            </a:r>
            <a:r>
              <a:rPr lang="zh-CN" sz="750" b="1" dirty="0">
                <a:solidFill>
                  <a:srgbClr val="12A150"/>
                </a:solidFill>
                <a:latin typeface="Segoe UI"/>
                <a:ea typeface="Noto Sans SC"/>
                <a:cs typeface="Segoe UI"/>
              </a:rPr>
              <a:t>✓ 原生</a:t>
            </a:r>
            <a:r>
              <a:rPr lang="en-US" sz="750" dirty="0">
                <a:solidFill>
                  <a:srgbClr val="5B6577"/>
                </a:solidFill>
                <a:latin typeface="Segoe UI"/>
                <a:ea typeface="Segoe UI"/>
                <a:cs typeface="Segoe UI"/>
              </a:rPr>
              <a:t> ·</a:t>
            </a:r>
            <a:r>
              <a:rPr lang="zh-CN" sz="750" b="1" dirty="0">
                <a:solidFill>
                  <a:srgbClr val="C07514"/>
                </a:solidFill>
                <a:latin typeface="Segoe UI"/>
                <a:ea typeface="Noto Sans SC"/>
                <a:cs typeface="Segoe UI"/>
              </a:rPr>
              <a:t> △ 有限/需写码/即将退场</a:t>
            </a:r>
            <a:r>
              <a:rPr lang="en-US" sz="750" dirty="0">
                <a:solidFill>
                  <a:srgbClr val="5B6577"/>
                </a:solidFill>
                <a:latin typeface="Segoe UI"/>
                <a:ea typeface="Segoe UI"/>
                <a:cs typeface="Segoe UI"/>
              </a:rPr>
              <a:t> ·</a:t>
            </a:r>
            <a:r>
              <a:rPr lang="zh-CN" sz="750" b="1" dirty="0">
                <a:solidFill>
                  <a:srgbClr val="9AA3B2"/>
                </a:solidFill>
                <a:latin typeface="Segoe UI"/>
                <a:ea typeface="Noto Sans SC"/>
                <a:cs typeface="Segoe UI"/>
              </a:rPr>
              <a:t> ✕ 需自己写代码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54538"/>
            <a:ext cx="10820400" cy="554236"/>
          </a:xfrm>
          <a:prstGeom prst="rect">
            <a:avLst/>
          </a:prstGeom>
          <a:noFill/>
        </p:spPr>
        <p:txBody>
          <a:bodyPr wrap="square" lIns="165100" tIns="114300" rIns="165100" bIns="114300" anchor="ctr"/>
          <a:lstStyle/>
          <a:p>
            <a:pPr algn="l">
              <a:lnSpc>
                <a:spcPts val="1232"/>
              </a:lnSpc>
            </a:pPr>
            <a:r>
              <a:rPr lang="zh-CN" sz="8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结论 →</a:t>
            </a:r>
            <a:r>
              <a:rPr lang="zh-CN" sz="8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层四家都能建，但</a:t>
            </a:r>
            <a:r>
              <a:rPr lang="zh-CN" sz="8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知识接入和构建方式</a:t>
            </a:r>
            <a:r>
              <a:rPr lang="zh-CN" sz="8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已见分野；再往下 Workflow / App 差距更大：其他三家把编排与应用交给</a:t>
            </a:r>
            <a:r>
              <a:rPr lang="zh-CN" sz="8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开发者写代码</a:t>
            </a:r>
            <a:r>
              <a:rPr lang="zh-CN" sz="8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，只有 Copilot Studio 把三层都做成</a:t>
            </a:r>
            <a:r>
              <a:rPr lang="zh-CN" sz="8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业务人员可用的低代码一站式</a:t>
            </a:r>
            <a:r>
              <a:rPr lang="zh-CN" sz="8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OpenAI Agents SDK / AgentKit（2026/6/3 更新）· Anthropic Claude Agent SDK · Google Gemini Enterprise Agent Platform / ADK · Microsoft Copilot Studio</a:t>
            </a:r>
          </a:p>
        </p:txBody>
      </p:sp>
      <p:sp>
        <p:nvSpPr>
          <p:cNvPr id="13" name="Strict 04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5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955304"/>
            <a:ext cx="1905000" cy="1117600"/>
          </a:xfrm>
          <a:prstGeom prst="rect">
            <a:avLst/>
          </a:prstGeom>
        </p:spPr>
      </p:pic>
      <p:pic>
        <p:nvPicPr>
          <p:cNvPr id="5" name="Picture 4" descr="slide5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276104"/>
            <a:ext cx="1905000" cy="619720"/>
          </a:xfrm>
          <a:prstGeom prst="rect">
            <a:avLst/>
          </a:prstGeom>
        </p:spPr>
      </p:pic>
      <p:pic>
        <p:nvPicPr>
          <p:cNvPr id="6" name="Picture 5" descr="slide5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300" y="3263404"/>
            <a:ext cx="355600" cy="355600"/>
          </a:xfrm>
          <a:prstGeom prst="rect">
            <a:avLst/>
          </a:prstGeom>
        </p:spPr>
      </p:pic>
      <p:pic>
        <p:nvPicPr>
          <p:cNvPr id="7" name="Picture 6" descr="slide5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895824"/>
            <a:ext cx="1905000" cy="619720"/>
          </a:xfrm>
          <a:prstGeom prst="rect">
            <a:avLst/>
          </a:prstGeom>
        </p:spPr>
      </p:pic>
      <p:pic>
        <p:nvPicPr>
          <p:cNvPr id="8" name="Picture 7" descr="slide5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300" y="3883124"/>
            <a:ext cx="355600" cy="355600"/>
          </a:xfrm>
          <a:prstGeom prst="rect">
            <a:avLst/>
          </a:prstGeom>
        </p:spPr>
      </p:pic>
      <p:pic>
        <p:nvPicPr>
          <p:cNvPr id="9" name="Picture 8" descr="slide5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515545"/>
            <a:ext cx="1905000" cy="619720"/>
          </a:xfrm>
          <a:prstGeom prst="rect">
            <a:avLst/>
          </a:prstGeom>
        </p:spPr>
      </p:pic>
      <p:pic>
        <p:nvPicPr>
          <p:cNvPr id="10" name="Picture 9" descr="slide5-deco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300" y="4502845"/>
            <a:ext cx="355600" cy="355600"/>
          </a:xfrm>
          <a:prstGeom prst="rect">
            <a:avLst/>
          </a:prstGeom>
        </p:spPr>
      </p:pic>
      <p:pic>
        <p:nvPicPr>
          <p:cNvPr id="11" name="Picture 10" descr="slide5-deco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2300" y="5122565"/>
            <a:ext cx="355600" cy="355600"/>
          </a:xfrm>
          <a:prstGeom prst="rect">
            <a:avLst/>
          </a:prstGeom>
        </p:spPr>
      </p:pic>
      <p:pic>
        <p:nvPicPr>
          <p:cNvPr id="12" name="Picture 11" descr="slide5-deco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0" y="2197795"/>
            <a:ext cx="9220200" cy="3695700"/>
          </a:xfrm>
          <a:prstGeom prst="rect">
            <a:avLst/>
          </a:prstGeom>
        </p:spPr>
      </p:pic>
      <p:pic>
        <p:nvPicPr>
          <p:cNvPr id="13" name="Picture 12" descr="slide5-canvas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00350" y="2267645"/>
            <a:ext cx="8699500" cy="3175000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▶ 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不用听我讲——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现场把它建一遍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850" y="2285504"/>
            <a:ext cx="1612900" cy="8667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312"/>
              </a:lnSpc>
            </a:pPr>
            <a:r>
              <a:rPr lang="zh-CN" sz="87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把一条真实的业务过程搬进 Copilot Studio：</a:t>
            </a:r>
            <a:r>
              <a:rPr lang="zh-CN" sz="87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从提出需求，到跑起来能用</a:t>
            </a:r>
            <a:r>
              <a:rPr lang="zh-CN" sz="87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，全程在同一个对话里完成。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276104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895824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515545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135265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◎</a:t>
            </a:r>
          </a:p>
        </p:txBody>
      </p:sp>
      <p:sp>
        <p:nvSpPr>
          <p:cNvPr id="35" name="Strict 05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05 / 30</a:t>
            </a:r>
          </a:p>
        </p:txBody>
      </p:sp>
      <p:sp>
        <p:nvSpPr>
          <p:cNvPr id="36" name="Business scenario pill"/>
          <p:cNvSpPr/>
          <p:nvPr/>
        </p:nvSpPr>
        <p:spPr>
          <a:xfrm>
            <a:off x="831850" y="2075942"/>
            <a:ext cx="635000" cy="177800"/>
          </a:xfrm>
          <a:prstGeom prst="roundRect">
            <a:avLst/>
          </a:prstGeom>
          <a:solidFill>
            <a:srgbClr val="425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Strict 业务场景"/>
          <p:cNvSpPr txBox="1"/>
          <p:nvPr/>
        </p:nvSpPr>
        <p:spPr>
          <a:xfrm>
            <a:off x="831850" y="2075942"/>
            <a:ext cx="635000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  <a:ea typeface="Microsoft YaHei"/>
              </a:rPr>
              <a:t>业务场景</a:t>
            </a:r>
          </a:p>
        </p:txBody>
      </p:sp>
      <p:sp>
        <p:nvSpPr>
          <p:cNvPr id="38" name="Strict 用日常语言提需求"/>
          <p:cNvSpPr txBox="1"/>
          <p:nvPr/>
        </p:nvSpPr>
        <p:spPr>
          <a:xfrm>
            <a:off x="996950" y="3276092"/>
            <a:ext cx="159385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030"/>
                </a:solidFill>
                <a:latin typeface="Segoe UI"/>
                <a:ea typeface="Microsoft YaHei"/>
              </a:rPr>
              <a:t>用日常语言提需求</a:t>
            </a:r>
          </a:p>
        </p:txBody>
      </p:sp>
      <p:sp>
        <p:nvSpPr>
          <p:cNvPr id="39" name="Strict 直接说想要什么，不写代码、不套模板"/>
          <p:cNvSpPr txBox="1"/>
          <p:nvPr/>
        </p:nvSpPr>
        <p:spPr>
          <a:xfrm>
            <a:off x="996950" y="3447542"/>
            <a:ext cx="159385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69"/>
              </a:lnSpc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334155"/>
                </a:solidFill>
                <a:latin typeface="Segoe UI"/>
                <a:ea typeface="Microsoft YaHei"/>
              </a:rPr>
              <a:t>直接说想要什么，不写代码、不套模板</a:t>
            </a:r>
          </a:p>
        </p:txBody>
      </p:sp>
      <p:sp>
        <p:nvSpPr>
          <p:cNvPr id="40" name="Step caption"/>
          <p:cNvSpPr/>
          <p:nvPr/>
        </p:nvSpPr>
        <p:spPr>
          <a:xfrm>
            <a:off x="996950" y="3707892"/>
            <a:ext cx="1517650" cy="146050"/>
          </a:xfrm>
          <a:prstGeom prst="roundRect">
            <a:avLst/>
          </a:prstGeom>
          <a:solidFill>
            <a:srgbClr val="E5E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Strict 自然语言构建"/>
          <p:cNvSpPr txBox="1"/>
          <p:nvPr/>
        </p:nvSpPr>
        <p:spPr>
          <a:xfrm>
            <a:off x="1047750" y="3707892"/>
            <a:ext cx="142240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625" b="0">
                <a:solidFill>
                  <a:srgbClr val="315FCC"/>
                </a:solidFill>
                <a:latin typeface="Segoe UI"/>
                <a:ea typeface="Microsoft YaHei"/>
              </a:rPr>
              <a:t>自然语言构建</a:t>
            </a:r>
          </a:p>
        </p:txBody>
      </p:sp>
      <p:sp>
        <p:nvSpPr>
          <p:cNvPr id="42" name="Strict 它拆解并生成"/>
          <p:cNvSpPr txBox="1"/>
          <p:nvPr/>
        </p:nvSpPr>
        <p:spPr>
          <a:xfrm>
            <a:off x="996950" y="3895852"/>
            <a:ext cx="159385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030"/>
                </a:solidFill>
                <a:latin typeface="Segoe UI"/>
                <a:ea typeface="Microsoft YaHei"/>
              </a:rPr>
              <a:t>它拆解并生成</a:t>
            </a:r>
          </a:p>
        </p:txBody>
      </p:sp>
      <p:sp>
        <p:nvSpPr>
          <p:cNvPr id="44" name="Step caption"/>
          <p:cNvSpPr/>
          <p:nvPr/>
        </p:nvSpPr>
        <p:spPr>
          <a:xfrm>
            <a:off x="996950" y="4327652"/>
            <a:ext cx="1517650" cy="146050"/>
          </a:xfrm>
          <a:prstGeom prst="roundRect">
            <a:avLst/>
          </a:prstGeom>
          <a:solidFill>
            <a:srgbClr val="E5E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trict GitHub Copilot harness"/>
          <p:cNvSpPr txBox="1"/>
          <p:nvPr/>
        </p:nvSpPr>
        <p:spPr>
          <a:xfrm>
            <a:off x="1047750" y="4327652"/>
            <a:ext cx="142240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625" b="0">
                <a:solidFill>
                  <a:srgbClr val="315FCC"/>
                </a:solidFill>
                <a:latin typeface="Segoe UI"/>
                <a:ea typeface="Microsoft YaHei"/>
              </a:rPr>
              <a:t>GitHub Copilot harness</a:t>
            </a:r>
          </a:p>
        </p:txBody>
      </p:sp>
      <p:sp>
        <p:nvSpPr>
          <p:cNvPr id="46" name="Strict 当场跑给你看"/>
          <p:cNvSpPr txBox="1"/>
          <p:nvPr/>
        </p:nvSpPr>
        <p:spPr>
          <a:xfrm>
            <a:off x="996950" y="4515548"/>
            <a:ext cx="159385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030"/>
                </a:solidFill>
                <a:latin typeface="Segoe UI"/>
                <a:ea typeface="Microsoft YaHei"/>
              </a:rPr>
              <a:t>当场跑给你看</a:t>
            </a:r>
          </a:p>
        </p:txBody>
      </p:sp>
      <p:sp>
        <p:nvSpPr>
          <p:cNvPr id="47" name="Strict 生成完立刻能试，不满意再说一句就改"/>
          <p:cNvSpPr txBox="1"/>
          <p:nvPr/>
        </p:nvSpPr>
        <p:spPr>
          <a:xfrm>
            <a:off x="996950" y="4686998"/>
            <a:ext cx="159385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69"/>
              </a:lnSpc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334155"/>
                </a:solidFill>
                <a:latin typeface="Segoe UI"/>
                <a:ea typeface="Microsoft YaHei"/>
              </a:rPr>
              <a:t>生成完立刻能试，不满意再说一句就改</a:t>
            </a:r>
          </a:p>
        </p:txBody>
      </p:sp>
      <p:sp>
        <p:nvSpPr>
          <p:cNvPr id="48" name="Step caption"/>
          <p:cNvSpPr/>
          <p:nvPr/>
        </p:nvSpPr>
        <p:spPr>
          <a:xfrm>
            <a:off x="996950" y="4947348"/>
            <a:ext cx="1517650" cy="146050"/>
          </a:xfrm>
          <a:prstGeom prst="roundRect">
            <a:avLst/>
          </a:prstGeom>
          <a:solidFill>
            <a:srgbClr val="E5E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Strict Test Pane 预览"/>
          <p:cNvSpPr txBox="1"/>
          <p:nvPr/>
        </p:nvSpPr>
        <p:spPr>
          <a:xfrm>
            <a:off x="1047750" y="4947348"/>
            <a:ext cx="142240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625" b="0">
                <a:solidFill>
                  <a:srgbClr val="315FCC"/>
                </a:solidFill>
                <a:latin typeface="Segoe UI"/>
                <a:ea typeface="Microsoft YaHei"/>
              </a:rPr>
              <a:t>Test Pane 预览</a:t>
            </a:r>
          </a:p>
        </p:txBody>
      </p:sp>
      <p:sp>
        <p:nvSpPr>
          <p:cNvPr id="50" name="Strict 三件套互相调用"/>
          <p:cNvSpPr txBox="1"/>
          <p:nvPr/>
        </p:nvSpPr>
        <p:spPr>
          <a:xfrm>
            <a:off x="996950" y="5135245"/>
            <a:ext cx="159385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030"/>
                </a:solidFill>
                <a:latin typeface="Segoe UI"/>
                <a:ea typeface="Microsoft YaHei"/>
              </a:rPr>
              <a:t>三件套互相调用</a:t>
            </a:r>
          </a:p>
        </p:txBody>
      </p:sp>
      <p:sp>
        <p:nvSpPr>
          <p:cNvPr id="51" name="Strict Agent 管判断、Workflow 管执行、A"/>
          <p:cNvSpPr txBox="1"/>
          <p:nvPr/>
        </p:nvSpPr>
        <p:spPr>
          <a:xfrm>
            <a:off x="996950" y="5306695"/>
            <a:ext cx="159385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69"/>
              </a:lnSpc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334155"/>
                </a:solidFill>
                <a:latin typeface="Segoe UI"/>
                <a:ea typeface="Microsoft YaHei"/>
              </a:rPr>
              <a:t>Agent 管判断、Workflow 管执行、App 给人操作</a:t>
            </a:r>
          </a:p>
        </p:txBody>
      </p:sp>
      <p:sp>
        <p:nvSpPr>
          <p:cNvPr id="52" name="Step caption"/>
          <p:cNvSpPr/>
          <p:nvPr/>
        </p:nvSpPr>
        <p:spPr>
          <a:xfrm>
            <a:off x="996950" y="5567045"/>
            <a:ext cx="1517650" cy="146050"/>
          </a:xfrm>
          <a:prstGeom prst="roundRect">
            <a:avLst/>
          </a:prstGeom>
          <a:solidFill>
            <a:srgbClr val="E5E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trict 一个 Studio 全建完"/>
          <p:cNvSpPr txBox="1"/>
          <p:nvPr/>
        </p:nvSpPr>
        <p:spPr>
          <a:xfrm>
            <a:off x="1047750" y="5567045"/>
            <a:ext cx="142240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625" b="0">
                <a:solidFill>
                  <a:srgbClr val="315FCC"/>
                </a:solidFill>
                <a:latin typeface="Segoe UI"/>
                <a:ea typeface="Microsoft YaHei"/>
              </a:rPr>
              <a:t>一个 Studio 全建完</a:t>
            </a:r>
          </a:p>
        </p:txBody>
      </p:sp>
      <p:sp>
        <p:nvSpPr>
          <p:cNvPr id="54" name="Strict 理解意图 → 生成结构&#10;接上数据和逻辑"/>
          <p:cNvSpPr txBox="1"/>
          <p:nvPr/>
        </p:nvSpPr>
        <p:spPr>
          <a:xfrm>
            <a:off x="996950" y="4067302"/>
            <a:ext cx="159385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理解意图 → 生成结构</a:t>
            </a:r>
          </a:p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接上数据和逻辑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85800" y="2070795"/>
            <a:ext cx="4548981" cy="601662"/>
          </a:xfrm>
          <a:prstGeom prst="rect">
            <a:avLst/>
          </a:prstGeom>
          <a:solidFill>
            <a:srgbClr val="F3F5F9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lide6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" y="2964557"/>
            <a:ext cx="4752181" cy="974725"/>
          </a:xfrm>
          <a:prstGeom prst="rect">
            <a:avLst/>
          </a:prstGeom>
        </p:spPr>
      </p:pic>
      <p:pic>
        <p:nvPicPr>
          <p:cNvPr id="6" name="Picture 5" descr="slide6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200" y="3805932"/>
            <a:ext cx="4752181" cy="817562"/>
          </a:xfrm>
          <a:prstGeom prst="rect">
            <a:avLst/>
          </a:prstGeom>
        </p:spPr>
      </p:pic>
      <p:pic>
        <p:nvPicPr>
          <p:cNvPr id="7" name="Picture 6" descr="slide6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515545"/>
            <a:ext cx="4548981" cy="495300"/>
          </a:xfrm>
          <a:prstGeom prst="rect">
            <a:avLst/>
          </a:prstGeom>
        </p:spPr>
      </p:pic>
      <p:pic>
        <p:nvPicPr>
          <p:cNvPr id="8" name="Picture 7" descr="slide6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156895"/>
            <a:ext cx="4548981" cy="508000"/>
          </a:xfrm>
          <a:prstGeom prst="rect">
            <a:avLst/>
          </a:prstGeom>
        </p:spPr>
      </p:pic>
      <p:pic>
        <p:nvPicPr>
          <p:cNvPr id="9" name="Picture 8" descr="slide6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61781" y="2045395"/>
            <a:ext cx="6258719" cy="3873500"/>
          </a:xfrm>
          <a:prstGeom prst="rect">
            <a:avLst/>
          </a:prstGeom>
        </p:spPr>
      </p:pic>
      <p:pic>
        <p:nvPicPr>
          <p:cNvPr id="12" name="Picture 11" descr="slide6-deco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84031" y="2166045"/>
            <a:ext cx="2881709" cy="469900"/>
          </a:xfrm>
          <a:prstGeom prst="rect">
            <a:avLst/>
          </a:prstGeom>
        </p:spPr>
      </p:pic>
      <p:pic>
        <p:nvPicPr>
          <p:cNvPr id="13" name="Picture 12" descr="slide6-deco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16541" y="2166045"/>
            <a:ext cx="2881709" cy="469900"/>
          </a:xfrm>
          <a:prstGeom prst="rect">
            <a:avLst/>
          </a:prstGeom>
        </p:spPr>
      </p:pic>
      <p:pic>
        <p:nvPicPr>
          <p:cNvPr id="14" name="Picture 13" descr="slide6-deco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09431" y="2851845"/>
            <a:ext cx="5763419" cy="1384300"/>
          </a:xfrm>
          <a:prstGeom prst="rect">
            <a:avLst/>
          </a:prstGeom>
        </p:spPr>
      </p:pic>
      <p:pic>
        <p:nvPicPr>
          <p:cNvPr id="15" name="Picture 14" descr="slide6-deco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17381" y="3258245"/>
            <a:ext cx="5547519" cy="260350"/>
          </a:xfrm>
          <a:prstGeom prst="rect">
            <a:avLst/>
          </a:prstGeom>
        </p:spPr>
      </p:pic>
      <p:pic>
        <p:nvPicPr>
          <p:cNvPr id="16" name="Picture 15" descr="slide6-deco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09431" y="4521895"/>
            <a:ext cx="5763419" cy="104775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717381" y="4928295"/>
            <a:ext cx="2865834" cy="4064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12631" y="5010845"/>
            <a:ext cx="241300" cy="2413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slide6-img1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38031" y="5036245"/>
            <a:ext cx="190500" cy="190500"/>
          </a:xfrm>
          <a:prstGeom prst="rect">
            <a:avLst/>
          </a:prstGeom>
        </p:spPr>
      </p:pic>
      <p:cxnSp>
        <p:nvCxnSpPr>
          <p:cNvPr id="20" name="Connector 19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04 · WHAT 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换上 GitHub Copilot harness：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只换了执行引擎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，上面两层没动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5500" y="2204145"/>
            <a:ext cx="493514" cy="139700"/>
          </a:xfrm>
          <a:prstGeom prst="roundRect">
            <a:avLst>
              <a:gd name="adj" fmla="val 50000"/>
            </a:avLst>
          </a:prstGeom>
          <a:solidFill>
            <a:srgbClr val="E2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500" y="2204145"/>
            <a:ext cx="493514" cy="195580"/>
          </a:xfrm>
          <a:prstGeom prst="rect">
            <a:avLst/>
          </a:prstGeom>
          <a:noFill/>
        </p:spPr>
        <p:txBody>
          <a:bodyPr wrap="none" lIns="69850" tIns="19050" rIns="69850" bIns="19050" anchor="t"/>
          <a:lstStyle/>
          <a:p>
            <a:pPr algn="l">
              <a:lnSpc>
                <a:spcPts val="750"/>
              </a:lnSpc>
            </a:pPr>
            <a:r>
              <a:rPr lang="en-US" sz="625" b="1" dirty="0">
                <a:solidFill>
                  <a:srgbClr val="6B7688"/>
                </a:solidFill>
                <a:latin typeface="Segoe UI"/>
                <a:cs typeface="Segoe UI"/>
              </a:rPr>
              <a:t>Standard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2514" y="2185095"/>
            <a:ext cx="5334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规则编排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500" y="2400995"/>
            <a:ext cx="4269581" cy="220028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38"/>
              </a:lnSpc>
            </a:pPr>
            <a:r>
              <a:rPr lang="zh-CN" sz="825" dirty="0">
                <a:solidFill>
                  <a:srgbClr val="7B8698"/>
                </a:solidFill>
                <a:latin typeface="Segoe UI"/>
                <a:ea typeface="Noto Sans SC"/>
                <a:cs typeface="Segoe UI"/>
              </a:rPr>
              <a:t>Topics 主题 + Agent Flow，</a:t>
            </a: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按你配好的路径走</a:t>
            </a:r>
            <a:r>
              <a:rPr lang="zh-CN" sz="825" dirty="0">
                <a:solidFill>
                  <a:srgbClr val="7B8698"/>
                </a:solidFill>
                <a:latin typeface="Segoe UI"/>
                <a:ea typeface="Noto Sans SC"/>
                <a:cs typeface="Segoe UI"/>
              </a:rPr>
              <a:t>；遇到没配过的情况就停在那儿。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755007"/>
            <a:ext cx="4548981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870"/>
              </a:lnSpc>
            </a:pPr>
            <a:r>
              <a:rPr lang="zh-CN" sz="725" b="1" spc="72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↓ 换成 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5500" y="3097907"/>
            <a:ext cx="363141" cy="139700"/>
          </a:xfrm>
          <a:prstGeom prst="roundRect">
            <a:avLst>
              <a:gd name="adj" fmla="val 50000"/>
            </a:avLst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5500" y="3097907"/>
            <a:ext cx="363141" cy="195580"/>
          </a:xfrm>
          <a:prstGeom prst="rect">
            <a:avLst/>
          </a:prstGeom>
          <a:noFill/>
        </p:spPr>
        <p:txBody>
          <a:bodyPr wrap="none" lIns="69850" tIns="19050" rIns="69850" bIns="19050" anchor="t"/>
          <a:lstStyle/>
          <a:p>
            <a:pPr algn="l">
              <a:lnSpc>
                <a:spcPts val="750"/>
              </a:lnSpc>
            </a:pPr>
            <a:r>
              <a:rPr lang="en-US" sz="625" b="1" dirty="0">
                <a:solidFill>
                  <a:srgbClr val="FFFFFF"/>
                </a:solidFill>
                <a:latin typeface="Segoe UI"/>
                <a:cs typeface="Segoe UI"/>
              </a:rPr>
              <a:t>GHCP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2141" y="3078857"/>
            <a:ext cx="1360488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260"/>
              </a:lnSpc>
            </a:pPr>
            <a:r>
              <a:rPr lang="en-US" sz="1050" b="1" dirty="0">
                <a:solidFill>
                  <a:srgbClr val="1B2030"/>
                </a:solidFill>
                <a:latin typeface="Segoe UI"/>
                <a:cs typeface="Segoe UI"/>
              </a:rPr>
              <a:t>Agentic orchestrator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" y="3294757"/>
            <a:ext cx="4269581" cy="314325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38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自己规划、自己迭代、跑错自己恢复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；调 Microsoft IQ、Tools、Knowledge、Connected</a:t>
            </a:r>
            <a:br>
              <a:rPr sz="825"/>
            </a:b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agents 都由它统一编排。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500" y="3939282"/>
            <a:ext cx="363141" cy="139700"/>
          </a:xfrm>
          <a:prstGeom prst="roundRect">
            <a:avLst>
              <a:gd name="adj" fmla="val 50000"/>
            </a:avLst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5500" y="3939282"/>
            <a:ext cx="363141" cy="195580"/>
          </a:xfrm>
          <a:prstGeom prst="rect">
            <a:avLst/>
          </a:prstGeom>
          <a:noFill/>
        </p:spPr>
        <p:txBody>
          <a:bodyPr wrap="none" lIns="69850" tIns="19050" rIns="69850" bIns="19050" anchor="t"/>
          <a:lstStyle/>
          <a:p>
            <a:pPr algn="l">
              <a:lnSpc>
                <a:spcPts val="750"/>
              </a:lnSpc>
            </a:pPr>
            <a:r>
              <a:rPr lang="en-US" sz="625" b="1" dirty="0">
                <a:solidFill>
                  <a:srgbClr val="FFFFFF"/>
                </a:solidFill>
                <a:latin typeface="Segoe UI"/>
                <a:cs typeface="Segoe UI"/>
              </a:rPr>
              <a:t>GHCP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52141" y="3920232"/>
            <a:ext cx="235962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安全沙箱里跑 GitHub Copilot harness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500" y="4136132"/>
            <a:ext cx="4269581" cy="220028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38"/>
              </a:lnSpc>
            </a:pP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agentic loop 在</a:t>
            </a: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隔离环境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里执行，自带文件工具（建/改/分析）和 Memory · Skills · Files。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515545"/>
            <a:ext cx="4548981" cy="495300"/>
          </a:xfrm>
          <a:prstGeom prst="rect">
            <a:avLst/>
          </a:prstGeom>
          <a:noFill/>
        </p:spPr>
        <p:txBody>
          <a:bodyPr wrap="square" lIns="127000" tIns="88900" rIns="127000" bIns="88900" anchor="t"/>
          <a:lstStyle/>
          <a:p>
            <a:pPr algn="l">
              <a:lnSpc>
                <a:spcPts val="1200"/>
              </a:lnSpc>
            </a:pPr>
            <a:r>
              <a:rPr lang="zh-CN" sz="800" b="1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没变的部分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：上面的渠道接入（Teams / M365 Copilot / Web）和受治理的模型调用，各条</a:t>
            </a:r>
            <a:br>
              <a:rPr sz="800"/>
            </a:b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harness 完全一样。</a:t>
            </a:r>
          </a:p>
        </p:txBody>
      </p:sp>
      <p:sp>
        <p:nvSpPr>
          <p:cNvPr id="37" name="Oval 36"/>
          <p:cNvSpPr/>
          <p:nvPr/>
        </p:nvSpPr>
        <p:spPr>
          <a:xfrm>
            <a:off x="819150" y="5264845"/>
            <a:ext cx="165100" cy="165100"/>
          </a:xfrm>
          <a:prstGeom prst="ellipse">
            <a:avLst/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19150" y="5264845"/>
            <a:ext cx="1651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50"/>
              </a:lnSpc>
            </a:pPr>
            <a:r>
              <a:rPr lang="en-US" sz="7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450" y="5258495"/>
            <a:ext cx="4040981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00"/>
              </a:lnSpc>
            </a:pPr>
            <a:r>
              <a:rPr lang="zh-CN" sz="800" b="1" dirty="0">
                <a:solidFill>
                  <a:srgbClr val="0F8F48"/>
                </a:solidFill>
                <a:latin typeface="Segoe UI"/>
                <a:ea typeface="Noto Sans SC"/>
                <a:cs typeface="Segoe UI"/>
              </a:rPr>
              <a:t>不用另外买 GitHub Copilot License。</a:t>
            </a: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它是 Copilot Studio 内置的执行引擎，不是要单独采购的产品——在 Studio 里直接选用，</a:t>
            </a:r>
            <a:r>
              <a:rPr lang="zh-CN" sz="800" b="1" dirty="0">
                <a:solidFill>
                  <a:srgbClr val="0F8F48"/>
                </a:solidFill>
                <a:latin typeface="Segoe UI"/>
                <a:ea typeface="Noto Sans SC"/>
                <a:cs typeface="Segoe UI"/>
              </a:rPr>
              <a:t>只消耗 Copilot Credits</a:t>
            </a: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即可。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09431" y="2166045"/>
            <a:ext cx="2830909" cy="393700"/>
          </a:xfrm>
          <a:prstGeom prst="rect">
            <a:avLst/>
          </a:prstGeom>
          <a:noFill/>
        </p:spPr>
        <p:txBody>
          <a:bodyPr wrap="square" lIns="95250" tIns="69850" rIns="95250" bIns="69850" anchor="t"/>
          <a:lstStyle/>
          <a:p>
            <a:pPr algn="ctr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Channels 渠道</a:t>
            </a:r>
            <a:br>
              <a:rPr sz="800"/>
            </a:br>
            <a:r>
              <a:rPr lang="en-US" sz="600" dirty="0">
                <a:solidFill>
                  <a:srgbClr val="5B6577"/>
                </a:solidFill>
                <a:latin typeface="Segoe UI"/>
                <a:ea typeface="Segoe UI"/>
                <a:cs typeface="Segoe UI"/>
              </a:rPr>
              <a:t>Teams · Microsoft 365 Copilot · web &amp; apps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1941" y="2166045"/>
            <a:ext cx="2830909" cy="393700"/>
          </a:xfrm>
          <a:prstGeom prst="rect">
            <a:avLst/>
          </a:prstGeom>
          <a:noFill/>
        </p:spPr>
        <p:txBody>
          <a:bodyPr wrap="square" lIns="95250" tIns="69850" rIns="95250" bIns="69850" anchor="t"/>
          <a:lstStyle/>
          <a:p>
            <a:pPr algn="ctr">
              <a:lnSpc>
                <a:spcPts val="1020"/>
              </a:lnSpc>
            </a:pPr>
            <a:r>
              <a:rPr lang="en-US" sz="850" b="1" dirty="0">
                <a:solidFill>
                  <a:srgbClr val="1B2030"/>
                </a:solidFill>
                <a:latin typeface="Segoe UI"/>
                <a:cs typeface="Segoe UI"/>
              </a:rPr>
              <a:t>M365 LLM Service</a:t>
            </a:r>
            <a:br>
              <a:rPr sz="800"/>
            </a:br>
            <a:r>
              <a:rPr lang="zh-CN" sz="6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M365 大模型服务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7381" y="3258245"/>
            <a:ext cx="5547519" cy="260350"/>
          </a:xfrm>
          <a:prstGeom prst="rect">
            <a:avLst/>
          </a:prstGeom>
          <a:noFill/>
        </p:spPr>
        <p:txBody>
          <a:bodyPr wrap="square" lIns="88900" tIns="63500" rIns="88900" bIns="63500" anchor="t"/>
          <a:lstStyle/>
          <a:p>
            <a:pPr algn="ctr">
              <a:lnSpc>
                <a:spcPts val="960"/>
              </a:lnSpc>
            </a:pPr>
            <a:r>
              <a:rPr lang="en-US" sz="800" b="1" dirty="0">
                <a:solidFill>
                  <a:srgbClr val="FFFFFF"/>
                </a:solidFill>
                <a:latin typeface="Segoe UI"/>
                <a:cs typeface="Segoe UI"/>
              </a:rPr>
              <a:t>Agentic orchestrator</a:t>
            </a:r>
            <a:r>
              <a:rPr lang="zh-CN" sz="625" b="1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· 规划、迭代、自恢复（plans · iterates · recovers）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7381" y="3582095"/>
            <a:ext cx="2745184" cy="2540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717381" y="3582095"/>
            <a:ext cx="2745184" cy="355600"/>
          </a:xfrm>
          <a:prstGeom prst="rect">
            <a:avLst/>
          </a:prstGeom>
          <a:noFill/>
        </p:spPr>
        <p:txBody>
          <a:bodyPr wrap="none" lIns="76200" tIns="57150" rIns="76200" bIns="57150" anchor="t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1B2030"/>
                </a:solidFill>
                <a:latin typeface="Segoe UI"/>
                <a:cs typeface="Segoe UI"/>
              </a:rPr>
              <a:t>Microsoft IQ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19716" y="3582095"/>
            <a:ext cx="2745184" cy="2540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717381" y="3893245"/>
            <a:ext cx="2745184" cy="2540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519716" y="3893245"/>
            <a:ext cx="2745184" cy="2540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123781" y="5017195"/>
            <a:ext cx="1449090" cy="2286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775" b="1" dirty="0">
                <a:solidFill>
                  <a:srgbClr val="1B2030"/>
                </a:solidFill>
                <a:latin typeface="Segoe UI"/>
                <a:cs typeface="Segoe UI"/>
              </a:rPr>
              <a:t>GitHub Copilot harness</a:t>
            </a:r>
            <a:br>
              <a:rPr sz="800"/>
            </a:br>
            <a:r>
              <a:rPr lang="zh-CN" sz="5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executes the agentic loop · 执行 agentic loop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59416" y="4775895"/>
            <a:ext cx="2605484" cy="3302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659416" y="4775895"/>
            <a:ext cx="2605484" cy="330200"/>
          </a:xfrm>
          <a:prstGeom prst="rect">
            <a:avLst/>
          </a:prstGeom>
          <a:noFill/>
        </p:spPr>
        <p:txBody>
          <a:bodyPr wrap="square" lIns="82550" tIns="50800" rIns="82550" bIns="50800" anchor="t"/>
          <a:lstStyle/>
          <a:p>
            <a:pPr algn="l">
              <a:lnSpc>
                <a:spcPts val="960"/>
              </a:lnSpc>
            </a:pPr>
            <a:r>
              <a:rPr lang="en-US" sz="700" b="1" dirty="0">
                <a:solidFill>
                  <a:srgbClr val="1B2030"/>
                </a:solidFill>
                <a:latin typeface="Segoe UI"/>
                <a:cs typeface="Segoe UI"/>
              </a:rPr>
              <a:t>Built-in tool execution</a:t>
            </a:r>
            <a:br>
              <a:rPr sz="800"/>
            </a:br>
            <a:r>
              <a:rPr lang="zh-CN" sz="5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内置工具执行 · 建 / 改 / 分析文件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59416" y="5156895"/>
            <a:ext cx="2605484" cy="330200"/>
          </a:xfrm>
          <a:prstGeom prst="rect">
            <a:avLst/>
          </a:prstGeom>
          <a:solidFill>
            <a:srgbClr val="FDEEF5"/>
          </a:solidFill>
          <a:ln w="6350">
            <a:solidFill>
              <a:srgbClr val="D6357E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659416" y="5156895"/>
            <a:ext cx="2605484" cy="330200"/>
          </a:xfrm>
          <a:prstGeom prst="rect">
            <a:avLst/>
          </a:prstGeom>
          <a:noFill/>
        </p:spPr>
        <p:txBody>
          <a:bodyPr wrap="square" lIns="82550" tIns="50800" rIns="82550" bIns="50800" anchor="t"/>
          <a:lstStyle/>
          <a:p>
            <a:pPr algn="l">
              <a:lnSpc>
                <a:spcPts val="960"/>
              </a:lnSpc>
            </a:pPr>
            <a:r>
              <a:rPr lang="en-US" sz="700" b="1" dirty="0">
                <a:solidFill>
                  <a:srgbClr val="1B2030"/>
                </a:solidFill>
                <a:latin typeface="Segoe UI"/>
                <a:ea typeface="Segoe UI"/>
                <a:cs typeface="Segoe UI"/>
              </a:rPr>
              <a:t>Memory · Skills · Files</a:t>
            </a:r>
            <a:br>
              <a:rPr sz="800"/>
            </a:br>
            <a:r>
              <a:rPr lang="zh-CN" sz="5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记忆 · 技能 · 文件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Frontier Agentic Orchestration</a:t>
            </a:r>
          </a:p>
        </p:txBody>
      </p:sp>
      <p:sp>
        <p:nvSpPr>
          <p:cNvPr id="66" name="Native architecture highlight 1"/>
          <p:cNvSpPr/>
          <p:nvPr/>
        </p:nvSpPr>
        <p:spPr>
          <a:xfrm>
            <a:off x="5783262" y="3195828"/>
            <a:ext cx="5415788" cy="363156"/>
          </a:xfrm>
          <a:prstGeom prst="roundRect">
            <a:avLst>
              <a:gd name="adj" fmla="val 16000"/>
            </a:avLst>
          </a:prstGeom>
          <a:noFill/>
          <a:ln w="19050">
            <a:solidFill>
              <a:srgbClr val="E045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Native architecture highlight 2"/>
          <p:cNvSpPr/>
          <p:nvPr/>
        </p:nvSpPr>
        <p:spPr>
          <a:xfrm>
            <a:off x="5602668" y="4703382"/>
            <a:ext cx="5776912" cy="871665"/>
          </a:xfrm>
          <a:prstGeom prst="roundRect">
            <a:avLst>
              <a:gd name="adj" fmla="val 16000"/>
            </a:avLst>
          </a:prstGeom>
          <a:noFill/>
          <a:ln w="19050">
            <a:solidFill>
              <a:srgbClr val="E045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Strict 06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06 / 30</a:t>
            </a:r>
          </a:p>
        </p:txBody>
      </p:sp>
      <p:sp>
        <p:nvSpPr>
          <p:cNvPr id="69" name="Strict messages &amp; responses&#10;消息与"/>
          <p:cNvSpPr txBox="1"/>
          <p:nvPr/>
        </p:nvSpPr>
        <p:spPr>
          <a:xfrm>
            <a:off x="5863431" y="2597845"/>
            <a:ext cx="2576909" cy="241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messages &amp; responses</a:t>
            </a:r>
          </a:p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消息与响应</a:t>
            </a:r>
          </a:p>
        </p:txBody>
      </p:sp>
      <p:sp>
        <p:nvSpPr>
          <p:cNvPr id="70" name="Strict governed model calls&#10;受治理"/>
          <p:cNvSpPr txBox="1"/>
          <p:nvPr/>
        </p:nvSpPr>
        <p:spPr>
          <a:xfrm>
            <a:off x="8541941" y="2597845"/>
            <a:ext cx="2576909" cy="241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governed model calls</a:t>
            </a:r>
          </a:p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受治理的模型调用</a:t>
            </a:r>
          </a:p>
        </p:txBody>
      </p:sp>
      <p:sp>
        <p:nvSpPr>
          <p:cNvPr id="71" name="Strict user &amp; workflow messages"/>
          <p:cNvSpPr txBox="1"/>
          <p:nvPr/>
        </p:nvSpPr>
        <p:spPr>
          <a:xfrm>
            <a:off x="5863431" y="4274245"/>
            <a:ext cx="2576909" cy="241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user &amp; workflow messages</a:t>
            </a:r>
          </a:p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用户与工作流消息</a:t>
            </a:r>
          </a:p>
        </p:txBody>
      </p:sp>
      <p:sp>
        <p:nvSpPr>
          <p:cNvPr id="72" name="Strict model &amp; tool requests&#10;模型"/>
          <p:cNvSpPr txBox="1"/>
          <p:nvPr/>
        </p:nvSpPr>
        <p:spPr>
          <a:xfrm>
            <a:off x="8541941" y="4274245"/>
            <a:ext cx="2576909" cy="241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model &amp; tool requests</a:t>
            </a:r>
          </a:p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模型与工具请求</a:t>
            </a:r>
          </a:p>
        </p:txBody>
      </p:sp>
      <p:sp>
        <p:nvSpPr>
          <p:cNvPr id="73" name="Strict Tools · 工具"/>
          <p:cNvSpPr txBox="1"/>
          <p:nvPr/>
        </p:nvSpPr>
        <p:spPr>
          <a:xfrm>
            <a:off x="8519716" y="3582095"/>
            <a:ext cx="2745184" cy="355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334155"/>
                </a:solidFill>
                <a:latin typeface="Segoe UI"/>
                <a:ea typeface="Microsoft YaHei"/>
              </a:rPr>
              <a:t>Tools · 工具</a:t>
            </a:r>
          </a:p>
        </p:txBody>
      </p:sp>
      <p:sp>
        <p:nvSpPr>
          <p:cNvPr id="74" name="Strict Knowledge · 知识"/>
          <p:cNvSpPr txBox="1"/>
          <p:nvPr/>
        </p:nvSpPr>
        <p:spPr>
          <a:xfrm>
            <a:off x="8519716" y="3893245"/>
            <a:ext cx="2745184" cy="355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334155"/>
                </a:solidFill>
                <a:latin typeface="Segoe UI"/>
                <a:ea typeface="Microsoft YaHei"/>
              </a:rPr>
              <a:t>Knowledge · 知识</a:t>
            </a:r>
          </a:p>
        </p:txBody>
      </p:sp>
      <p:sp>
        <p:nvSpPr>
          <p:cNvPr id="75" name="Strict Connected agents · 连接的 A"/>
          <p:cNvSpPr txBox="1"/>
          <p:nvPr/>
        </p:nvSpPr>
        <p:spPr>
          <a:xfrm>
            <a:off x="5717381" y="3893245"/>
            <a:ext cx="2745184" cy="355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334155"/>
                </a:solidFill>
                <a:latin typeface="Segoe UI"/>
                <a:ea typeface="Microsoft YaHei"/>
              </a:rPr>
              <a:t>Connected agents · 连接的 Agent</a:t>
            </a:r>
          </a:p>
        </p:txBody>
      </p:sp>
      <p:sp>
        <p:nvSpPr>
          <p:cNvPr id="76" name="Strict Secure sandbox container"/>
          <p:cNvSpPr txBox="1"/>
          <p:nvPr/>
        </p:nvSpPr>
        <p:spPr>
          <a:xfrm>
            <a:off x="5717381" y="4533900"/>
            <a:ext cx="5547519" cy="146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334155"/>
                </a:solidFill>
                <a:latin typeface="Segoe UI"/>
                <a:ea typeface="Microsoft YaHei"/>
              </a:rPr>
              <a:t>Secure sandbox container · 安全沙箱容器</a:t>
            </a:r>
          </a:p>
        </p:txBody>
      </p:sp>
      <p:sp>
        <p:nvSpPr>
          <p:cNvPr id="77" name="Strict ⇅"/>
          <p:cNvSpPr txBox="1"/>
          <p:nvPr/>
        </p:nvSpPr>
        <p:spPr>
          <a:xfrm>
            <a:off x="5873750" y="2597150"/>
            <a:ext cx="190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B6FD8"/>
                </a:solidFill>
                <a:latin typeface="Segoe UI"/>
                <a:ea typeface="Microsoft YaHei"/>
              </a:rPr>
              <a:t>⇅</a:t>
            </a:r>
          </a:p>
        </p:txBody>
      </p:sp>
      <p:sp>
        <p:nvSpPr>
          <p:cNvPr id="78" name="Strict ⇅"/>
          <p:cNvSpPr txBox="1"/>
          <p:nvPr/>
        </p:nvSpPr>
        <p:spPr>
          <a:xfrm>
            <a:off x="8553450" y="2597150"/>
            <a:ext cx="190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B6FD8"/>
                </a:solidFill>
                <a:latin typeface="Segoe UI"/>
                <a:ea typeface="Microsoft YaHei"/>
              </a:rPr>
              <a:t>⇅</a:t>
            </a:r>
          </a:p>
        </p:txBody>
      </p:sp>
      <p:sp>
        <p:nvSpPr>
          <p:cNvPr id="79" name="Strict ↓"/>
          <p:cNvSpPr txBox="1"/>
          <p:nvPr/>
        </p:nvSpPr>
        <p:spPr>
          <a:xfrm>
            <a:off x="5873750" y="4273550"/>
            <a:ext cx="190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B6FD8"/>
                </a:solidFill>
                <a:latin typeface="Segoe UI"/>
                <a:ea typeface="Microsoft YaHei"/>
              </a:rPr>
              <a:t>↓</a:t>
            </a:r>
          </a:p>
        </p:txBody>
      </p:sp>
      <p:sp>
        <p:nvSpPr>
          <p:cNvPr id="80" name="Strict ↑"/>
          <p:cNvSpPr txBox="1"/>
          <p:nvPr/>
        </p:nvSpPr>
        <p:spPr>
          <a:xfrm>
            <a:off x="8553450" y="4273550"/>
            <a:ext cx="190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B6FD8"/>
                </a:solidFill>
                <a:latin typeface="Segoe UI"/>
                <a:ea typeface="Microsoft YaHei"/>
              </a:rPr>
              <a:t>↑</a:t>
            </a:r>
          </a:p>
        </p:txBody>
      </p:sp>
      <p:sp>
        <p:nvSpPr>
          <p:cNvPr id="81" name="Strict Copilot Studio runtime"/>
          <p:cNvSpPr txBox="1"/>
          <p:nvPr/>
        </p:nvSpPr>
        <p:spPr>
          <a:xfrm>
            <a:off x="5717350" y="2879725"/>
            <a:ext cx="5547550" cy="146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4155"/>
                </a:solidFill>
                <a:latin typeface="Segoe UI"/>
                <a:ea typeface="Microsoft YaHei"/>
              </a:rPr>
              <a:t>Copilot Studio runtime</a:t>
            </a:r>
          </a:p>
        </p:txBody>
      </p:sp>
      <p:sp>
        <p:nvSpPr>
          <p:cNvPr id="82" name="Strict 运行时 · 编排 agentic loop 与每"/>
          <p:cNvSpPr txBox="1"/>
          <p:nvPr/>
        </p:nvSpPr>
        <p:spPr>
          <a:xfrm>
            <a:off x="5717350" y="3048000"/>
            <a:ext cx="5547550" cy="120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运行时 · 编排 agentic loop 与每一次工具调用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7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385788"/>
            <a:ext cx="2847975" cy="4417516"/>
          </a:xfrm>
          <a:prstGeom prst="rect">
            <a:avLst/>
          </a:prstGeom>
        </p:spPr>
      </p:pic>
      <p:pic>
        <p:nvPicPr>
          <p:cNvPr id="5" name="Picture 4" descr="slide7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" y="1544538"/>
            <a:ext cx="2327275" cy="485180"/>
          </a:xfrm>
          <a:prstGeom prst="rect">
            <a:avLst/>
          </a:prstGeom>
        </p:spPr>
      </p:pic>
      <p:pic>
        <p:nvPicPr>
          <p:cNvPr id="6" name="Picture 5" descr="slide7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05175" y="1385788"/>
            <a:ext cx="2847975" cy="4417516"/>
          </a:xfrm>
          <a:prstGeom prst="rect">
            <a:avLst/>
          </a:prstGeom>
        </p:spPr>
      </p:pic>
      <p:pic>
        <p:nvPicPr>
          <p:cNvPr id="7" name="Picture 6" descr="slide7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5525" y="1544538"/>
            <a:ext cx="2327275" cy="485180"/>
          </a:xfrm>
          <a:prstGeom prst="rect">
            <a:avLst/>
          </a:prstGeom>
        </p:spPr>
      </p:pic>
      <p:pic>
        <p:nvPicPr>
          <p:cNvPr id="8" name="Picture 7" descr="slide7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8850" y="1385788"/>
            <a:ext cx="2847975" cy="4417516"/>
          </a:xfrm>
          <a:prstGeom prst="rect">
            <a:avLst/>
          </a:prstGeom>
        </p:spPr>
      </p:pic>
      <p:pic>
        <p:nvPicPr>
          <p:cNvPr id="9" name="Picture 8" descr="slide7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200" y="1544538"/>
            <a:ext cx="2327275" cy="485180"/>
          </a:xfrm>
          <a:prstGeom prst="rect">
            <a:avLst/>
          </a:prstGeom>
        </p:spPr>
      </p:pic>
      <p:pic>
        <p:nvPicPr>
          <p:cNvPr id="10" name="Picture 9" descr="slide7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2525" y="1385788"/>
            <a:ext cx="2847975" cy="4417516"/>
          </a:xfrm>
          <a:prstGeom prst="rect">
            <a:avLst/>
          </a:prstGeom>
        </p:spPr>
      </p:pic>
      <p:pic>
        <p:nvPicPr>
          <p:cNvPr id="11" name="Picture 10" descr="slide7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32875" y="1544538"/>
            <a:ext cx="2327275" cy="485180"/>
          </a:xfrm>
          <a:prstGeom prst="rect">
            <a:avLst/>
          </a:prstGeom>
        </p:spPr>
      </p:pic>
      <p:pic>
        <p:nvPicPr>
          <p:cNvPr id="12" name="Picture 11" descr="slide7-deco1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5650905"/>
            <a:ext cx="10820400" cy="711795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9531350" y="5720755"/>
            <a:ext cx="0" cy="572095"/>
          </a:xfrm>
          <a:prstGeom prst="line">
            <a:avLst/>
          </a:prstGeom>
          <a:ln w="6350">
            <a:solidFill>
              <a:srgbClr val="2B7FFF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05B · WHAT IT UNLOCKS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换上它之后：Agent 能接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以前接不了的复杂活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——每一条都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有数字撑着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850" y="1544538"/>
            <a:ext cx="2327275" cy="485180"/>
          </a:xfrm>
          <a:prstGeom prst="rect">
            <a:avLst/>
          </a:prstGeom>
          <a:noFill/>
        </p:spPr>
        <p:txBody>
          <a:bodyPr wrap="none" lIns="88900" tIns="76200" rIns="88900" bIns="76200" anchor="t"/>
          <a:lstStyle/>
          <a:p>
            <a:pPr algn="l">
              <a:lnSpc>
                <a:spcPts val="1600"/>
              </a:lnSpc>
            </a:pPr>
            <a:r>
              <a:rPr lang="en-US" sz="1600" b="1" dirty="0">
                <a:solidFill>
                  <a:srgbClr val="12A150"/>
                </a:solidFill>
                <a:latin typeface="Segoe UI"/>
                <a:cs typeface="Segoe UI"/>
              </a:rPr>
              <a:t>94%</a:t>
            </a: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评估通过率</a:t>
            </a:r>
            <a:br>
              <a:rPr sz="800"/>
            </a:br>
            <a:r>
              <a:rPr lang="zh-CN" sz="60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领先竞品 +29 pts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1850" y="2175768"/>
            <a:ext cx="269280" cy="127000"/>
          </a:xfrm>
          <a:prstGeom prst="roundRect">
            <a:avLst>
              <a:gd name="adj" fmla="val 50000"/>
            </a:avLst>
          </a:prstGeom>
          <a:solidFill>
            <a:srgbClr val="8B5CF6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850" y="2175768"/>
            <a:ext cx="269280" cy="17780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720"/>
              </a:lnSpc>
            </a:pPr>
            <a:r>
              <a:rPr lang="zh-CN" sz="600" b="1" spc="60" dirty="0">
                <a:solidFill>
                  <a:srgbClr val="8B5CF6"/>
                </a:solidFill>
                <a:latin typeface="Segoe UI"/>
                <a:ea typeface="Noto Sans SC"/>
                <a:cs typeface="Segoe UI"/>
              </a:rPr>
              <a:t>所以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8280" y="2118618"/>
            <a:ext cx="1066800" cy="25600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啃得动复杂流程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50" y="2302768"/>
            <a:ext cx="2327275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把一件大事自己拆成若干步，一步步做到完成，中间还会把进展告诉你。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1850" y="2715518"/>
            <a:ext cx="2327275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31850" y="2715518"/>
            <a:ext cx="2327275" cy="313789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以前：一次问答就结束，做不了长流程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5525" y="1544538"/>
            <a:ext cx="2327275" cy="485180"/>
          </a:xfrm>
          <a:prstGeom prst="rect">
            <a:avLst/>
          </a:prstGeom>
          <a:noFill/>
        </p:spPr>
        <p:txBody>
          <a:bodyPr wrap="none" lIns="88900" tIns="76200" rIns="88900" bIns="76200" anchor="t"/>
          <a:lstStyle/>
          <a:p>
            <a:pPr algn="l">
              <a:lnSpc>
                <a:spcPts val="1600"/>
              </a:lnSpc>
            </a:pPr>
            <a:r>
              <a:rPr lang="en-US" sz="1600" b="1" dirty="0">
                <a:solidFill>
                  <a:srgbClr val="12A150"/>
                </a:solidFill>
                <a:latin typeface="Segoe UI"/>
                <a:cs typeface="Segoe UI"/>
              </a:rPr>
              <a:t>+58</a:t>
            </a:r>
            <a:r>
              <a:rPr lang="en-US" sz="750" b="1" dirty="0">
                <a:solidFill>
                  <a:srgbClr val="12A150"/>
                </a:solidFill>
                <a:latin typeface="Segoe UI"/>
                <a:cs typeface="Segoe UI"/>
              </a:rPr>
              <a:t>pts</a:t>
            </a: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相比 3 月的自己</a:t>
            </a:r>
            <a:br>
              <a:rPr sz="800"/>
            </a:br>
            <a:r>
              <a:rPr lang="zh-CN" sz="60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同一套最难评估集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65525" y="2175768"/>
            <a:ext cx="269280" cy="127000"/>
          </a:xfrm>
          <a:prstGeom prst="roundRect">
            <a:avLst>
              <a:gd name="adj" fmla="val 50000"/>
            </a:avLst>
          </a:prstGeom>
          <a:solidFill>
            <a:srgbClr val="8B5CF6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65525" y="2175768"/>
            <a:ext cx="269280" cy="17780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720"/>
              </a:lnSpc>
            </a:pPr>
            <a:r>
              <a:rPr lang="zh-CN" sz="600" b="1" spc="60" dirty="0">
                <a:solidFill>
                  <a:srgbClr val="8B5CF6"/>
                </a:solidFill>
                <a:latin typeface="Segoe UI"/>
                <a:ea typeface="Noto Sans SC"/>
                <a:cs typeface="Segoe UI"/>
              </a:rPr>
              <a:t>所以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1955" y="2118618"/>
            <a:ext cx="1066800" cy="25600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跑错了自己恢复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5525" y="2302768"/>
            <a:ext cx="2327275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需求变了、某一步失败了，它会自动重试或换一条路走，而不是直接停摆。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65525" y="2715518"/>
            <a:ext cx="2327275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565525" y="2715518"/>
            <a:ext cx="2327275" cy="313789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以前：没配到的分支就走不下去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9200" y="1544538"/>
            <a:ext cx="2327275" cy="485180"/>
          </a:xfrm>
          <a:prstGeom prst="rect">
            <a:avLst/>
          </a:prstGeom>
          <a:noFill/>
        </p:spPr>
        <p:txBody>
          <a:bodyPr wrap="none" lIns="88900" tIns="76200" rIns="88900" bIns="76200" anchor="t"/>
          <a:lstStyle/>
          <a:p>
            <a:pPr algn="l">
              <a:lnSpc>
                <a:spcPts val="1600"/>
              </a:lnSpc>
            </a:pPr>
            <a:r>
              <a:rPr lang="en-US" sz="1600" b="1" dirty="0">
                <a:solidFill>
                  <a:srgbClr val="12A150"/>
                </a:solidFill>
                <a:latin typeface="Segoe UI"/>
                <a:cs typeface="Segoe UI"/>
              </a:rPr>
              <a:t>+11.9</a:t>
            </a:r>
            <a:r>
              <a:rPr lang="en-US" sz="750" b="1" dirty="0">
                <a:solidFill>
                  <a:srgbClr val="12A150"/>
                </a:solidFill>
                <a:latin typeface="Segoe UI"/>
                <a:cs typeface="Segoe UI"/>
              </a:rPr>
              <a:t>pts</a:t>
            </a: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Multi-tool 质量</a:t>
            </a:r>
            <a:br>
              <a:rPr sz="800"/>
            </a:br>
            <a:r>
              <a:rPr lang="zh-CN" sz="60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File 任务 +28.2 pts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99200" y="2175768"/>
            <a:ext cx="269280" cy="127000"/>
          </a:xfrm>
          <a:prstGeom prst="roundRect">
            <a:avLst>
              <a:gd name="adj" fmla="val 50000"/>
            </a:avLst>
          </a:prstGeom>
          <a:solidFill>
            <a:srgbClr val="8B5CF6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99200" y="2175768"/>
            <a:ext cx="269280" cy="17780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720"/>
              </a:lnSpc>
            </a:pPr>
            <a:r>
              <a:rPr lang="zh-CN" sz="600" b="1" spc="60" dirty="0">
                <a:solidFill>
                  <a:srgbClr val="8B5CF6"/>
                </a:solidFill>
                <a:latin typeface="Segoe UI"/>
                <a:ea typeface="Noto Sans SC"/>
                <a:cs typeface="Segoe UI"/>
              </a:rPr>
              <a:t>所以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5630" y="2118618"/>
            <a:ext cx="762000" cy="25600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工具挑得准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9200" y="2302768"/>
            <a:ext cx="2327275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第一次就选对工具、填对参数，长对话里也能一直守住你给的指令。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299200" y="2715518"/>
            <a:ext cx="2327275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299200" y="2715518"/>
            <a:ext cx="2327275" cy="313789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以前：工具调用容易挑错、参数填错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2875" y="1544538"/>
            <a:ext cx="2327275" cy="485180"/>
          </a:xfrm>
          <a:prstGeom prst="rect">
            <a:avLst/>
          </a:prstGeom>
          <a:noFill/>
        </p:spPr>
        <p:txBody>
          <a:bodyPr wrap="none" lIns="88900" tIns="76200" rIns="88900" bIns="76200" anchor="t"/>
          <a:lstStyle/>
          <a:p>
            <a:pPr algn="l">
              <a:lnSpc>
                <a:spcPts val="1600"/>
              </a:lnSpc>
            </a:pPr>
            <a:r>
              <a:rPr lang="en-US" sz="1600" b="1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−45</a:t>
            </a:r>
            <a:r>
              <a:rPr lang="en-US" sz="750" b="1" dirty="0">
                <a:solidFill>
                  <a:srgbClr val="2B7FFF"/>
                </a:solidFill>
                <a:latin typeface="Segoe UI"/>
                <a:cs typeface="Segoe UI"/>
              </a:rPr>
              <a:t>%</a:t>
            </a: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输入 token 消耗</a:t>
            </a:r>
            <a:br>
              <a:rPr sz="800"/>
            </a:br>
            <a:r>
              <a:rPr lang="zh-CN" sz="60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质量升、成本同时降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32875" y="2175768"/>
            <a:ext cx="269280" cy="127000"/>
          </a:xfrm>
          <a:prstGeom prst="roundRect">
            <a:avLst>
              <a:gd name="adj" fmla="val 50000"/>
            </a:avLst>
          </a:prstGeom>
          <a:solidFill>
            <a:srgbClr val="8B5CF6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032875" y="2175768"/>
            <a:ext cx="269280" cy="17780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720"/>
              </a:lnSpc>
            </a:pPr>
            <a:r>
              <a:rPr lang="zh-CN" sz="600" b="1" spc="60" dirty="0">
                <a:solidFill>
                  <a:srgbClr val="8B5CF6"/>
                </a:solidFill>
                <a:latin typeface="Segoe UI"/>
                <a:ea typeface="Noto Sans SC"/>
                <a:cs typeface="Segoe UI"/>
              </a:rPr>
              <a:t>所以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59305" y="2118618"/>
            <a:ext cx="609600" cy="25600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又稳又省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32875" y="2302768"/>
            <a:ext cx="2327275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更听指令 + 更高缓存命中，输出更可靠的同时，净 token 消耗反而更低。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032875" y="2715518"/>
            <a:ext cx="2327275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032875" y="2715518"/>
            <a:ext cx="2327275" cy="313789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以前：质量和成本很难同时兼顾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9150" y="5886152"/>
            <a:ext cx="650677" cy="3860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900"/>
              </a:lnSpc>
            </a:pPr>
            <a:r>
              <a:rPr lang="en-US" sz="1900" b="1" dirty="0">
                <a:solidFill>
                  <a:srgbClr val="12A150"/>
                </a:solidFill>
                <a:latin typeface="Segoe UI"/>
                <a:cs typeface="Segoe UI"/>
              </a:rPr>
              <a:t>+29</a:t>
            </a:r>
            <a:r>
              <a:rPr lang="en-US" sz="900" b="1" dirty="0">
                <a:solidFill>
                  <a:srgbClr val="12A150"/>
                </a:solidFill>
                <a:latin typeface="Segoe UI"/>
                <a:cs typeface="Segoe UI"/>
              </a:rPr>
              <a:t>pts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46027" y="5832177"/>
            <a:ext cx="860623" cy="4540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7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正面赢过领先竞品</a:t>
            </a:r>
            <a:r>
              <a:rPr lang="zh-CN" sz="6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业务流程自动化 · 评估通过率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33650" y="5727402"/>
            <a:ext cx="6870700" cy="1422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720"/>
              </a:lnSpc>
            </a:pPr>
            <a:r>
              <a:rPr lang="zh-CN" sz="60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同一套最难评估集 · 零售数据集 · 同一模型基线 Sonnet 4.6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79850" y="6079827"/>
            <a:ext cx="3590925" cy="120650"/>
          </a:xfrm>
          <a:prstGeom prst="roundRect">
            <a:avLst>
              <a:gd name="adj" fmla="val 50000"/>
            </a:avLst>
          </a:prstGeom>
          <a:solidFill>
            <a:srgbClr val="C3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879850" y="6079827"/>
            <a:ext cx="3590925" cy="168910"/>
          </a:xfrm>
          <a:prstGeom prst="rect">
            <a:avLst/>
          </a:prstGeom>
          <a:noFill/>
        </p:spPr>
        <p:txBody>
          <a:bodyPr wrap="none" lIns="0" tIns="0" rIns="63500" bIns="0" anchor="t"/>
          <a:lstStyle/>
          <a:p>
            <a:pPr algn="r">
              <a:lnSpc>
                <a:spcPts val="950"/>
              </a:lnSpc>
            </a:pPr>
            <a:r>
              <a:rPr lang="en-US" sz="625" b="1" i="1" dirty="0">
                <a:solidFill>
                  <a:srgbClr val="FFFFFF"/>
                </a:solidFill>
                <a:latin typeface="Segoe UI"/>
                <a:cs typeface="Segoe UI"/>
              </a:rPr>
              <a:t>65%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64700" y="5720755"/>
            <a:ext cx="1708150" cy="26382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dirty="0">
                <a:solidFill>
                  <a:srgbClr val="12A150"/>
                </a:solidFill>
                <a:latin typeface="Segoe UI"/>
                <a:cs typeface="Segoe UI"/>
              </a:rPr>
              <a:t>+58</a:t>
            </a:r>
            <a:r>
              <a:rPr lang="en-US" sz="600" b="1" dirty="0">
                <a:solidFill>
                  <a:srgbClr val="12A150"/>
                </a:solidFill>
                <a:latin typeface="Segoe UI"/>
                <a:cs typeface="Segoe UI"/>
              </a:rPr>
              <a:t>pts</a:t>
            </a:r>
            <a:r>
              <a:rPr lang="zh-CN" sz="6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相比今年 3 月的自己</a:t>
            </a:r>
            <a:br>
              <a:rPr sz="800"/>
            </a:br>
            <a:r>
              <a:rPr lang="zh-CN" sz="55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半年跨了一大步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4700" y="6029027"/>
            <a:ext cx="1708150" cy="26382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−45</a:t>
            </a:r>
            <a:r>
              <a:rPr lang="en-US" sz="600" b="1" dirty="0">
                <a:solidFill>
                  <a:srgbClr val="2B7FFF"/>
                </a:solidFill>
                <a:latin typeface="Segoe UI"/>
                <a:cs typeface="Segoe UI"/>
              </a:rPr>
              <a:t>%</a:t>
            </a:r>
            <a:r>
              <a:rPr lang="zh-CN" sz="6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输入 token 消耗</a:t>
            </a:r>
            <a:br>
              <a:rPr sz="800"/>
            </a:br>
            <a:r>
              <a:rPr lang="zh-CN" sz="55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质量升、成本反而降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GitHub Copilot harness · Copilot Studio</a:t>
            </a:r>
          </a:p>
        </p:txBody>
      </p:sp>
      <p:sp>
        <p:nvSpPr>
          <p:cNvPr id="56" name="Native harness label"/>
          <p:cNvSpPr txBox="1"/>
          <p:nvPr/>
        </p:nvSpPr>
        <p:spPr>
          <a:xfrm>
            <a:off x="2533650" y="5873432"/>
            <a:ext cx="1270000" cy="139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B2030"/>
                </a:solidFill>
                <a:latin typeface="Segoe UI"/>
                <a:ea typeface="Microsoft YaHei"/>
              </a:rPr>
              <a:t>GitHub Copilot harness</a:t>
            </a:r>
          </a:p>
        </p:txBody>
      </p:sp>
      <p:sp>
        <p:nvSpPr>
          <p:cNvPr id="57" name="Native 94 percent"/>
          <p:cNvSpPr txBox="1"/>
          <p:nvPr/>
        </p:nvSpPr>
        <p:spPr>
          <a:xfrm>
            <a:off x="8810625" y="5866130"/>
            <a:ext cx="2159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12"/>
              </a:lnSpc>
              <a:spcBef>
                <a:spcPts val="0"/>
              </a:spcBef>
              <a:spcAft>
                <a:spcPts val="0"/>
              </a:spcAft>
            </a:pPr>
            <a:r>
              <a:rPr sz="625" b="1">
                <a:solidFill>
                  <a:srgbClr val="FFFFFF"/>
                </a:solidFill>
                <a:latin typeface="Segoe UI"/>
                <a:ea typeface="Microsoft YaHei"/>
              </a:rPr>
              <a:t>94%</a:t>
            </a:r>
          </a:p>
        </p:txBody>
      </p:sp>
      <p:sp>
        <p:nvSpPr>
          <p:cNvPr id="58" name="Strict 07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07 / 30</a:t>
            </a:r>
          </a:p>
        </p:txBody>
      </p:sp>
      <p:sp>
        <p:nvSpPr>
          <p:cNvPr id="59" name="Strict 领先竞品&#10;ChatGPT Workspace A"/>
          <p:cNvSpPr txBox="1"/>
          <p:nvPr/>
        </p:nvSpPr>
        <p:spPr>
          <a:xfrm>
            <a:off x="2533650" y="6032202"/>
            <a:ext cx="1270000" cy="280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334155"/>
                </a:solidFill>
                <a:latin typeface="Segoe UI"/>
                <a:ea typeface="Microsoft YaHei"/>
              </a:rPr>
              <a:t>领先竞品</a:t>
            </a:r>
          </a:p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334155"/>
                </a:solidFill>
                <a:latin typeface="Segoe UI"/>
                <a:ea typeface="Microsoft YaHei"/>
              </a:rPr>
              <a:t>ChatGPT Workspace Agents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8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2525216"/>
            <a:ext cx="8470900" cy="3015555"/>
          </a:xfrm>
          <a:prstGeom prst="rect">
            <a:avLst/>
          </a:prstGeom>
        </p:spPr>
      </p:pic>
      <p:pic>
        <p:nvPicPr>
          <p:cNvPr id="5" name="Picture 4" descr="slide8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2442666"/>
            <a:ext cx="2043609" cy="374650"/>
          </a:xfrm>
          <a:prstGeom prst="rect">
            <a:avLst/>
          </a:prstGeom>
        </p:spPr>
      </p:pic>
      <p:pic>
        <p:nvPicPr>
          <p:cNvPr id="6" name="Picture 5" descr="slide8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3150493"/>
            <a:ext cx="1892300" cy="1752203"/>
          </a:xfrm>
          <a:prstGeom prst="rect">
            <a:avLst/>
          </a:prstGeom>
        </p:spPr>
      </p:pic>
      <p:pic>
        <p:nvPicPr>
          <p:cNvPr id="7" name="Picture 6" descr="slide8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98600" y="3296543"/>
            <a:ext cx="342900" cy="342900"/>
          </a:xfrm>
          <a:prstGeom prst="rect">
            <a:avLst/>
          </a:prstGeom>
        </p:spPr>
      </p:pic>
      <p:pic>
        <p:nvPicPr>
          <p:cNvPr id="8" name="Picture 7" descr="slide8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09900" y="2753816"/>
            <a:ext cx="5803900" cy="2621855"/>
          </a:xfrm>
          <a:prstGeom prst="rect">
            <a:avLst/>
          </a:prstGeom>
        </p:spPr>
      </p:pic>
      <p:pic>
        <p:nvPicPr>
          <p:cNvPr id="9" name="Picture 8" descr="slide8-deco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27400" y="3147516"/>
            <a:ext cx="5168900" cy="127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460750" y="3357066"/>
            <a:ext cx="4902200" cy="927100"/>
          </a:xfrm>
          <a:prstGeom prst="rect">
            <a:avLst/>
          </a:prstGeom>
          <a:solidFill>
            <a:srgbClr val="12A150">
              <a:alpha val="4300"/>
            </a:srgbClr>
          </a:solidFill>
          <a:ln w="12700">
            <a:solidFill>
              <a:srgbClr val="12A150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slide8-deco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86150" y="3712666"/>
            <a:ext cx="4851400" cy="292100"/>
          </a:xfrm>
          <a:prstGeom prst="rect">
            <a:avLst/>
          </a:prstGeom>
        </p:spPr>
      </p:pic>
      <p:pic>
        <p:nvPicPr>
          <p:cNvPr id="12" name="Picture 11" descr="slide8-deco1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62674" y="3528516"/>
            <a:ext cx="685800" cy="3302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99224" y="3776166"/>
            <a:ext cx="12700" cy="139700"/>
          </a:xfrm>
          <a:prstGeom prst="rect">
            <a:avLst/>
          </a:prstGeom>
          <a:solidFill>
            <a:srgbClr val="2B7F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slide8-deco1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35502" y="3528516"/>
            <a:ext cx="1027609" cy="3302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7142907" y="3776166"/>
            <a:ext cx="12700" cy="139700"/>
          </a:xfrm>
          <a:prstGeom prst="rect">
            <a:avLst/>
          </a:prstGeom>
          <a:solidFill>
            <a:srgbClr val="8B5CF6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slide8-deco1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27400" y="4500066"/>
            <a:ext cx="1676400" cy="418405"/>
          </a:xfrm>
          <a:prstGeom prst="rect">
            <a:avLst/>
          </a:prstGeom>
        </p:spPr>
      </p:pic>
      <p:pic>
        <p:nvPicPr>
          <p:cNvPr id="17" name="Picture 16" descr="slide8-deco1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73650" y="4500066"/>
            <a:ext cx="1676400" cy="418405"/>
          </a:xfrm>
          <a:prstGeom prst="rect">
            <a:avLst/>
          </a:prstGeom>
        </p:spPr>
      </p:pic>
      <p:pic>
        <p:nvPicPr>
          <p:cNvPr id="18" name="Picture 17" descr="slide8-deco1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19900" y="4500066"/>
            <a:ext cx="1676400" cy="418405"/>
          </a:xfrm>
          <a:prstGeom prst="rect">
            <a:avLst/>
          </a:prstGeom>
        </p:spPr>
      </p:pic>
      <p:pic>
        <p:nvPicPr>
          <p:cNvPr id="19" name="Picture 18" descr="slide8-deco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96400" y="2896394"/>
            <a:ext cx="2324100" cy="2171502"/>
          </a:xfrm>
          <a:prstGeom prst="rect">
            <a:avLst/>
          </a:prstGeom>
        </p:spPr>
      </p:pic>
      <p:cxnSp>
        <p:nvCxnSpPr>
          <p:cNvPr id="20" name="Connector 19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06 · WHAT IS A HARNESS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harness 是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给 AI 铺的铁轨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——Copilot Studio 装上它，才跑得动复杂业务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4750" y="2493466"/>
            <a:ext cx="1503859" cy="2311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40"/>
              </a:lnSpc>
            </a:pPr>
            <a:r>
              <a:rPr lang="en-US" sz="950" b="1" dirty="0">
                <a:solidFill>
                  <a:srgbClr val="1B2030"/>
                </a:solidFill>
                <a:latin typeface="Segoe UI"/>
                <a:cs typeface="Segoe UI"/>
              </a:rPr>
              <a:t>Copilot Studio</a:t>
            </a:r>
            <a:r>
              <a:rPr lang="zh-CN" sz="6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企业 Agentic 平台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71550" y="4147443"/>
            <a:ext cx="1397000" cy="0"/>
          </a:xfrm>
          <a:prstGeom prst="line">
            <a:avLst/>
          </a:prstGeom>
          <a:ln w="6350">
            <a:solidFill>
              <a:srgbClr val="2B7FFF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71550" y="4147443"/>
            <a:ext cx="1397000" cy="494784"/>
          </a:xfrm>
          <a:prstGeom prst="rect">
            <a:avLst/>
          </a:prstGeom>
          <a:noFill/>
        </p:spPr>
        <p:txBody>
          <a:bodyPr wrap="square" lIns="0" tIns="88900" rIns="0" bIns="0" anchor="t"/>
          <a:lstStyle/>
          <a:p>
            <a:pPr algn="ctr">
              <a:lnSpc>
                <a:spcPts val="1124"/>
              </a:lnSpc>
            </a:pP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它需要一套</a:t>
            </a:r>
            <a:r>
              <a:rPr lang="zh-CN" sz="775" b="1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可靠的执行引擎</a:t>
            </a: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，才能把业务真正跑完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01900" y="3626545"/>
            <a:ext cx="673100" cy="571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2160"/>
              </a:lnSpc>
            </a:pPr>
            <a:r>
              <a:rPr lang="zh-CN" sz="1300" b="1" spc="208" dirty="0">
                <a:solidFill>
                  <a:srgbClr val="7C5CF6"/>
                </a:solidFill>
                <a:latin typeface="Segoe UI"/>
                <a:ea typeface="Noto Sans SC"/>
                <a:cs typeface="Segoe UI"/>
              </a:rPr>
              <a:t>装入</a:t>
            </a:r>
            <a:br>
              <a:rPr sz="800"/>
            </a:br>
            <a:r>
              <a:rPr lang="en-US" sz="180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27400" y="2893516"/>
            <a:ext cx="1156593" cy="177800"/>
          </a:xfrm>
          <a:prstGeom prst="roundRect">
            <a:avLst>
              <a:gd name="adj" fmla="val 50000"/>
            </a:avLst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327400" y="2893516"/>
            <a:ext cx="1156593" cy="248920"/>
          </a:xfrm>
          <a:prstGeom prst="rect">
            <a:avLst/>
          </a:prstGeom>
          <a:noFill/>
        </p:spPr>
        <p:txBody>
          <a:bodyPr wrap="none" lIns="88900" tIns="31750" rIns="88900" bIns="31750" anchor="t"/>
          <a:lstStyle/>
          <a:p>
            <a:pPr algn="l">
              <a:lnSpc>
                <a:spcPts val="810"/>
              </a:lnSpc>
            </a:pPr>
            <a:r>
              <a:rPr lang="en-US" sz="675" b="1" dirty="0">
                <a:solidFill>
                  <a:srgbClr val="FFFFFF"/>
                </a:solidFill>
                <a:latin typeface="Segoe UI"/>
                <a:cs typeface="Segoe UI"/>
              </a:rPr>
              <a:t>GitHub Copilot harness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7493" y="2912566"/>
            <a:ext cx="1680468" cy="1333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930"/>
              </a:lnSpc>
            </a:pP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把裸模型变成可靠 agent 的软件脚手架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38550" y="3280866"/>
            <a:ext cx="977702" cy="158750"/>
          </a:xfrm>
          <a:prstGeom prst="roundRect">
            <a:avLst>
              <a:gd name="adj" fmla="val 50000"/>
            </a:avLst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38550" y="3280866"/>
            <a:ext cx="977702" cy="222250"/>
          </a:xfrm>
          <a:prstGeom prst="rect">
            <a:avLst/>
          </a:prstGeom>
          <a:noFill/>
        </p:spPr>
        <p:txBody>
          <a:bodyPr wrap="none" lIns="95250" tIns="25400" rIns="95250" bIns="25400" anchor="t"/>
          <a:lstStyle/>
          <a:p>
            <a:pPr algn="l">
              <a:lnSpc>
                <a:spcPts val="780"/>
              </a:lnSpc>
            </a:pPr>
            <a:r>
              <a:rPr lang="zh-CN" sz="650" b="1" spc="39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安全沙盒 · 隔离执行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87750" y="3649166"/>
            <a:ext cx="838200" cy="4191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587750" y="3649166"/>
            <a:ext cx="838200" cy="419100"/>
          </a:xfrm>
          <a:prstGeom prst="rect">
            <a:avLst/>
          </a:prstGeom>
          <a:noFill/>
        </p:spPr>
        <p:txBody>
          <a:bodyPr wrap="square" lIns="114300" tIns="76200" rIns="114300" bIns="76200" anchor="t"/>
          <a:lstStyle/>
          <a:p>
            <a:pPr algn="ctr">
              <a:lnSpc>
                <a:spcPts val="1140"/>
              </a:lnSpc>
            </a:pPr>
            <a:r>
              <a:rPr lang="zh-CN" sz="950" b="1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AI 模型</a:t>
            </a:r>
            <a:br>
              <a:rPr sz="800"/>
            </a:br>
            <a:r>
              <a:rPr lang="zh-CN" sz="600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有动力，但会跑偏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13474" y="3528516"/>
            <a:ext cx="584200" cy="320040"/>
          </a:xfrm>
          <a:prstGeom prst="rect">
            <a:avLst/>
          </a:prstGeom>
          <a:noFill/>
        </p:spPr>
        <p:txBody>
          <a:bodyPr wrap="none" lIns="95250" tIns="44450" rIns="95250" bIns="44450" anchor="t"/>
          <a:lstStyle/>
          <a:p>
            <a:pPr algn="ctr">
              <a:lnSpc>
                <a:spcPts val="900"/>
              </a:lnSpc>
            </a:pPr>
            <a:r>
              <a:rPr lang="zh-CN" sz="750" b="1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内置工具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86302" y="3528516"/>
            <a:ext cx="926009" cy="320040"/>
          </a:xfrm>
          <a:prstGeom prst="rect">
            <a:avLst/>
          </a:prstGeom>
          <a:noFill/>
        </p:spPr>
        <p:txBody>
          <a:bodyPr wrap="none" lIns="95250" tIns="44450" rIns="95250" bIns="44450" anchor="t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7C3FE0"/>
                </a:solidFill>
                <a:latin typeface="Segoe UI"/>
                <a:ea typeface="Segoe UI"/>
                <a:cs typeface="Segoe UI"/>
              </a:rPr>
              <a:t>Memory · Skills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55878" y="4087316"/>
            <a:ext cx="1111945" cy="158750"/>
          </a:xfrm>
          <a:prstGeom prst="roundRect">
            <a:avLst>
              <a:gd name="adj" fmla="val 50000"/>
            </a:avLst>
          </a:prstGeom>
          <a:solidFill>
            <a:srgbClr val="2B7FFF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55878" y="4087316"/>
            <a:ext cx="1111945" cy="22225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780"/>
              </a:lnSpc>
            </a:pPr>
            <a:r>
              <a:rPr lang="zh-CN" sz="650" b="1" spc="78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铁轨 · 软件写出的约束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27400" y="4500066"/>
            <a:ext cx="1676400" cy="418405"/>
          </a:xfrm>
          <a:prstGeom prst="rect">
            <a:avLst/>
          </a:prstGeom>
          <a:noFill/>
        </p:spPr>
        <p:txBody>
          <a:bodyPr wrap="square" lIns="88900" tIns="69850" rIns="88900" bIns="6985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① 铁轨</a:t>
            </a:r>
            <a:br>
              <a:rPr sz="800"/>
            </a:b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划定 agentic loop 边界，不让它跑偏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3650" y="4500066"/>
            <a:ext cx="1676400" cy="418405"/>
          </a:xfrm>
          <a:prstGeom prst="rect">
            <a:avLst/>
          </a:prstGeom>
          <a:noFill/>
        </p:spPr>
        <p:txBody>
          <a:bodyPr wrap="square" lIns="88900" tIns="69850" rIns="88900" bIns="6985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② 沙盒</a:t>
            </a:r>
            <a:br>
              <a:rPr sz="800"/>
            </a:b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隔离环境里执行，不误伤真实系统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9900" y="4500066"/>
            <a:ext cx="1676400" cy="418405"/>
          </a:xfrm>
          <a:prstGeom prst="rect">
            <a:avLst/>
          </a:prstGeom>
          <a:noFill/>
        </p:spPr>
        <p:txBody>
          <a:bodyPr wrap="square" lIns="88900" tIns="69850" rIns="88900" bIns="6985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③ 工具</a:t>
            </a:r>
            <a:br>
              <a:rPr sz="800"/>
            </a:b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文件工具 + Memory / Skills 随取随用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01100" y="3677345"/>
            <a:ext cx="609600" cy="381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620"/>
              </a:lnSpc>
            </a:pPr>
            <a:r>
              <a:rPr lang="zh-CN" sz="650" b="1" spc="6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于是</a:t>
            </a:r>
            <a:br>
              <a:rPr sz="800"/>
            </a:br>
            <a:r>
              <a:rPr lang="en-US" sz="135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69450" y="3055144"/>
            <a:ext cx="17780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00"/>
              </a:lnSpc>
            </a:pPr>
            <a:r>
              <a:rPr lang="zh-CN" sz="1000" b="1" dirty="0">
                <a:solidFill>
                  <a:srgbClr val="0F8F48"/>
                </a:solidFill>
                <a:latin typeface="Segoe UI"/>
                <a:ea typeface="Noto Sans SC"/>
                <a:cs typeface="Segoe UI"/>
              </a:rPr>
              <a:t>Copilot Studio 变聪明了</a:t>
            </a:r>
          </a:p>
        </p:txBody>
      </p:sp>
      <p:sp>
        <p:nvSpPr>
          <p:cNvPr id="44" name="Oval 43"/>
          <p:cNvSpPr/>
          <p:nvPr/>
        </p:nvSpPr>
        <p:spPr>
          <a:xfrm>
            <a:off x="9569450" y="3328194"/>
            <a:ext cx="127000" cy="127000"/>
          </a:xfrm>
          <a:prstGeom prst="ellipse">
            <a:avLst/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69450" y="3328194"/>
            <a:ext cx="127000" cy="127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798"/>
              </a:lnSpc>
            </a:pPr>
            <a:r>
              <a:rPr lang="en-US" sz="5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53600" y="3315494"/>
            <a:ext cx="1536700" cy="20613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60"/>
              </a:lnSpc>
            </a:pP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能接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长流程</a:t>
            </a: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，自己拆步骤做到完</a:t>
            </a:r>
          </a:p>
        </p:txBody>
      </p:sp>
      <p:sp>
        <p:nvSpPr>
          <p:cNvPr id="47" name="Oval 46"/>
          <p:cNvSpPr/>
          <p:nvPr/>
        </p:nvSpPr>
        <p:spPr>
          <a:xfrm>
            <a:off x="9569450" y="3538934"/>
            <a:ext cx="127000" cy="127000"/>
          </a:xfrm>
          <a:prstGeom prst="ellipse">
            <a:avLst/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569450" y="3538934"/>
            <a:ext cx="127000" cy="127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798"/>
              </a:lnSpc>
            </a:pPr>
            <a:r>
              <a:rPr lang="en-US" sz="5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53600" y="3526234"/>
            <a:ext cx="1435100" cy="20613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60"/>
              </a:lnSpc>
            </a:pP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跑错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自己恢复</a:t>
            </a: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，不用整条重来</a:t>
            </a:r>
          </a:p>
        </p:txBody>
      </p:sp>
      <p:sp>
        <p:nvSpPr>
          <p:cNvPr id="50" name="Oval 49"/>
          <p:cNvSpPr/>
          <p:nvPr/>
        </p:nvSpPr>
        <p:spPr>
          <a:xfrm>
            <a:off x="9569450" y="3749675"/>
            <a:ext cx="127000" cy="127000"/>
          </a:xfrm>
          <a:prstGeom prst="ellipse">
            <a:avLst/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569450" y="3749675"/>
            <a:ext cx="127000" cy="127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798"/>
              </a:lnSpc>
            </a:pPr>
            <a:r>
              <a:rPr lang="en-US" sz="5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53600" y="3736975"/>
            <a:ext cx="1333500" cy="20613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60"/>
              </a:lnSpc>
            </a:pP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工具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一次挑对</a:t>
            </a: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，结果可复现</a:t>
            </a:r>
          </a:p>
        </p:txBody>
      </p:sp>
      <p:sp>
        <p:nvSpPr>
          <p:cNvPr id="53" name="Oval 52"/>
          <p:cNvSpPr/>
          <p:nvPr/>
        </p:nvSpPr>
        <p:spPr>
          <a:xfrm>
            <a:off x="9569450" y="3960416"/>
            <a:ext cx="127000" cy="127000"/>
          </a:xfrm>
          <a:prstGeom prst="ellipse">
            <a:avLst/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569450" y="3960416"/>
            <a:ext cx="127000" cy="127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798"/>
              </a:lnSpc>
            </a:pPr>
            <a:r>
              <a:rPr lang="en-US" sz="5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53600" y="3947716"/>
            <a:ext cx="1593850" cy="3828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60"/>
              </a:lnSpc>
            </a:pP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建 App / Agent / Workflow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都用这套引擎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569450" y="4331097"/>
            <a:ext cx="1778000" cy="0"/>
          </a:xfrm>
          <a:prstGeom prst="line">
            <a:avLst/>
          </a:prstGeom>
          <a:ln w="6350">
            <a:solidFill>
              <a:srgbClr val="12A150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569450" y="4331097"/>
            <a:ext cx="1778000" cy="454283"/>
          </a:xfrm>
          <a:prstGeom prst="rect">
            <a:avLst/>
          </a:prstGeom>
          <a:noFill/>
        </p:spPr>
        <p:txBody>
          <a:bodyPr wrap="square" lIns="0" tIns="76200" rIns="0" bIns="0" anchor="t"/>
          <a:lstStyle/>
          <a:p>
            <a:pPr algn="l">
              <a:lnSpc>
                <a:spcPts val="1051"/>
              </a:lnSpc>
            </a:pPr>
            <a:r>
              <a:rPr lang="zh-CN" sz="725" dirty="0">
                <a:solidFill>
                  <a:srgbClr val="4A7A5F"/>
                </a:solidFill>
                <a:latin typeface="Segoe UI"/>
                <a:ea typeface="Noto Sans SC"/>
                <a:cs typeface="Segoe UI"/>
              </a:rPr>
              <a:t>harness 不是另一个产品——它是 Studio 内部换上的引擎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GitHub Copilot harness · Microsoft Copilot Studio · 2026-08</a:t>
            </a:r>
          </a:p>
        </p:txBody>
      </p:sp>
      <p:sp>
        <p:nvSpPr>
          <p:cNvPr id="59" name="Strict 08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08 / 30</a:t>
            </a:r>
          </a:p>
        </p:txBody>
      </p:sp>
      <p:sp>
        <p:nvSpPr>
          <p:cNvPr id="60" name="Strict 平台本体"/>
          <p:cNvSpPr txBox="1"/>
          <p:nvPr/>
        </p:nvSpPr>
        <p:spPr>
          <a:xfrm>
            <a:off x="971550" y="3715643"/>
            <a:ext cx="1397000" cy="20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2030"/>
                </a:solidFill>
                <a:latin typeface="Segoe UI"/>
                <a:ea typeface="Microsoft YaHei"/>
              </a:rPr>
              <a:t>平台本体</a:t>
            </a:r>
          </a:p>
        </p:txBody>
      </p:sp>
      <p:sp>
        <p:nvSpPr>
          <p:cNvPr id="61" name="Strict Agent · Workflow · App"/>
          <p:cNvSpPr txBox="1"/>
          <p:nvPr/>
        </p:nvSpPr>
        <p:spPr>
          <a:xfrm>
            <a:off x="971550" y="3937893"/>
            <a:ext cx="1397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4155"/>
                </a:solidFill>
                <a:latin typeface="Segoe UI"/>
                <a:ea typeface="Microsoft YaHei"/>
              </a:rPr>
              <a:t>Agent · Workflow · 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9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554063"/>
            <a:ext cx="11049000" cy="2413000"/>
          </a:xfrm>
          <a:prstGeom prst="rect">
            <a:avLst/>
          </a:prstGeom>
        </p:spPr>
      </p:pic>
      <p:pic>
        <p:nvPicPr>
          <p:cNvPr id="5" name="Picture 4" descr="slide9-img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50" y="1560413"/>
            <a:ext cx="10807700" cy="2171700"/>
          </a:xfrm>
          <a:prstGeom prst="rect">
            <a:avLst/>
          </a:prstGeom>
        </p:spPr>
      </p:pic>
      <p:pic>
        <p:nvPicPr>
          <p:cNvPr id="6" name="Picture 5" descr="slide9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40063"/>
            <a:ext cx="10820400" cy="697012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685800" y="622935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zh-CN" sz="950" b="1" spc="152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08B · 按公认定义逐项比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harness 就四件套 —— 差别不在有没有，在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为谁准备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22288"/>
            <a:ext cx="10820400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25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Anthropic 官方定义：harness 是模型外面的软件脚手架，包含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循环、工具、上下文管理、护栏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——「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Claude Code 是 harness，Claude 是里面的模型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」。</a:t>
            </a:r>
            <a:r>
              <a:rPr lang="zh-CN" sz="750" dirty="0">
                <a:solidFill>
                  <a:srgbClr val="9AA3B2"/>
                </a:solidFill>
                <a:latin typeface="Segoe UI"/>
                <a:ea typeface="Noto Sans SC"/>
                <a:cs typeface="Segoe UI"/>
              </a:rPr>
              <a:t>（连接器数量、低代码、DLP 属于 Copilot Studio 平台，不在本页）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40063"/>
            <a:ext cx="10820400" cy="697012"/>
          </a:xfrm>
          <a:prstGeom prst="rect">
            <a:avLst/>
          </a:prstGeom>
          <a:noFill/>
        </p:spPr>
        <p:txBody>
          <a:bodyPr wrap="square" lIns="165100" tIns="114300" rIns="165100" bIns="114300" anchor="ctr"/>
          <a:lstStyle/>
          <a:p>
            <a:pPr algn="l">
              <a:lnSpc>
                <a:spcPts val="1196"/>
              </a:lnSpc>
            </a:pPr>
            <a:r>
              <a:rPr lang="zh-CN" sz="82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结论 →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四个必备件</a:t>
            </a:r>
            <a:r>
              <a:rPr lang="zh-CN" sz="82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四家都齐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，第 1、3 项做法几乎一样。真正分野在第 2 和第 4：</a:t>
            </a:r>
            <a:r>
              <a:rPr lang="zh-CN" sz="82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他们的工具是给「一台开发机」准备的，护栏是开发者自己扛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；</a:t>
            </a:r>
            <a:r>
              <a:rPr lang="zh-CN" sz="825" b="1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我们的工具是给「一套业务系统」准备的，护栏是微软托管、组织统一管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。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要动代码找他们，要动业务单据找我们。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37300"/>
            <a:ext cx="10532765" cy="2667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定义来源 · Anthropic《Harnessing Claude’s intelligence》2026-04-02 + Claude Code Glossary「Agentic harness」· 各家能力来源 · Microsoft Learn《Harnesses in Copilot Studio》2026-08-28 · Anthropic Agent SDK ·</a:t>
            </a:r>
            <a:br>
              <a:rPr sz="800"/>
            </a:b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DeepSeek Harness 架构文档 · OpenAI Agents SDK</a:t>
            </a:r>
          </a:p>
        </p:txBody>
      </p:sp>
      <p:sp>
        <p:nvSpPr>
          <p:cNvPr id="13" name="Strict 09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10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531838"/>
            <a:ext cx="11049000" cy="3371850"/>
          </a:xfrm>
          <a:prstGeom prst="rect">
            <a:avLst/>
          </a:prstGeom>
        </p:spPr>
      </p:pic>
      <p:pic>
        <p:nvPicPr>
          <p:cNvPr id="5" name="Picture 4" descr="slide10-img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50" y="1538188"/>
            <a:ext cx="10807700" cy="3130550"/>
          </a:xfrm>
          <a:prstGeom prst="rect">
            <a:avLst/>
          </a:prstGeom>
        </p:spPr>
      </p:pic>
      <p:pic>
        <p:nvPicPr>
          <p:cNvPr id="6" name="Picture 5" descr="slide10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763988"/>
            <a:ext cx="10820400" cy="393204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zh-CN" sz="950" b="1" spc="152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08C · 旧引擎 VS 新引擎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以前那台引擎有什么，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新引擎替换了什么、多给了什么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22288"/>
            <a:ext cx="10820400" cy="1333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900"/>
              </a:lnSpc>
            </a:pP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Copilot Studio 一直就有 harness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——旧的叫 Standard harness，现在也没下线，规则清楚的场景照样用它。下面逐项看：</a:t>
            </a:r>
            <a:r>
              <a:rPr lang="zh-CN" sz="750" b="1" dirty="0">
                <a:solidFill>
                  <a:srgbClr val="C07514"/>
                </a:solidFill>
                <a:latin typeface="Segoe UI"/>
                <a:ea typeface="Noto Sans SC"/>
                <a:cs typeface="Segoe UI"/>
              </a:rPr>
              <a:t>↻ 替换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＝同一件事换了做法，</a:t>
            </a:r>
            <a:r>
              <a:rPr lang="zh-CN" sz="750" b="1" dirty="0">
                <a:solidFill>
                  <a:srgbClr val="12A150"/>
                </a:solidFill>
                <a:latin typeface="Segoe UI"/>
                <a:ea typeface="Noto Sans SC"/>
                <a:cs typeface="Segoe UI"/>
              </a:rPr>
              <a:t>+ 新增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＝旧引擎原本没有。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63988"/>
            <a:ext cx="10820400" cy="393204"/>
          </a:xfrm>
          <a:prstGeom prst="rect">
            <a:avLst/>
          </a:prstGeom>
          <a:noFill/>
        </p:spPr>
        <p:txBody>
          <a:bodyPr wrap="square" lIns="165100" tIns="114300" rIns="165100" bIns="114300" anchor="ctr"/>
          <a:lstStyle/>
          <a:p>
            <a:pPr algn="l">
              <a:lnSpc>
                <a:spcPts val="1196"/>
              </a:lnSpc>
            </a:pPr>
            <a:r>
              <a:rPr lang="zh-CN" sz="82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一句话 →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旧引擎的本事是</a:t>
            </a:r>
            <a:r>
              <a:rPr lang="zh-CN" sz="82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「你把路铺好，它稳稳地走」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；新引擎是</a:t>
            </a:r>
            <a:r>
              <a:rPr lang="zh-CN" sz="825" b="1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「你说目的地，它自己找路，还会带文件、记事情、跌倒能爬起来」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。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平台那一层（连接器、知识、身份、治理）两条 harness 共用，完全没动。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Learn《Harnesses in Copilot Studio》2026-08-28（Not a focus 为官方对照表原词）·《Orchestrate agent behavior with generative AI》2026-08-27 ·《Agents powered by the GitHub Copilot Harness》</a:t>
            </a:r>
          </a:p>
        </p:txBody>
      </p:sp>
      <p:sp>
        <p:nvSpPr>
          <p:cNvPr id="13" name="Strict 10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10 / 30</a:t>
            </a:r>
          </a:p>
        </p:txBody>
      </p:sp>
      <p:sp>
        <p:nvSpPr>
          <p:cNvPr id="14" name="Table value contrast"/>
          <p:cNvSpPr/>
          <p:nvPr/>
        </p:nvSpPr>
        <p:spPr>
          <a:xfrm>
            <a:off x="3470176" y="3224312"/>
            <a:ext cx="464443" cy="13335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trict Not a focus"/>
          <p:cNvSpPr txBox="1"/>
          <p:nvPr/>
        </p:nvSpPr>
        <p:spPr>
          <a:xfrm>
            <a:off x="3476526" y="3230662"/>
            <a:ext cx="464443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26071"/>
                </a:solidFill>
                <a:latin typeface="Segoe UI"/>
                <a:ea typeface="Microsoft YaHei"/>
              </a:rPr>
              <a:t>Not a focus</a:t>
            </a:r>
          </a:p>
        </p:txBody>
      </p:sp>
      <p:sp>
        <p:nvSpPr>
          <p:cNvPr id="16" name="Table value contrast"/>
          <p:cNvSpPr/>
          <p:nvPr/>
        </p:nvSpPr>
        <p:spPr>
          <a:xfrm>
            <a:off x="3470176" y="3527822"/>
            <a:ext cx="464443" cy="13335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trict Not a focus"/>
          <p:cNvSpPr txBox="1"/>
          <p:nvPr/>
        </p:nvSpPr>
        <p:spPr>
          <a:xfrm>
            <a:off x="3476526" y="3534172"/>
            <a:ext cx="464443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26071"/>
                </a:solidFill>
                <a:latin typeface="Segoe UI"/>
                <a:ea typeface="Microsoft YaHei"/>
              </a:rPr>
              <a:t>Not a focus</a:t>
            </a:r>
          </a:p>
        </p:txBody>
      </p:sp>
      <p:sp>
        <p:nvSpPr>
          <p:cNvPr id="18" name="Table value contrast"/>
          <p:cNvSpPr/>
          <p:nvPr/>
        </p:nvSpPr>
        <p:spPr>
          <a:xfrm>
            <a:off x="3470176" y="3831332"/>
            <a:ext cx="464443" cy="13335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rict Not a focus"/>
          <p:cNvSpPr txBox="1"/>
          <p:nvPr/>
        </p:nvSpPr>
        <p:spPr>
          <a:xfrm>
            <a:off x="3476526" y="3837682"/>
            <a:ext cx="464443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26071"/>
                </a:solidFill>
                <a:latin typeface="Segoe UI"/>
                <a:ea typeface="Microsoft YaHei"/>
              </a:rPr>
              <a:t>Not a focus</a:t>
            </a:r>
          </a:p>
        </p:txBody>
      </p:sp>
      <p:sp>
        <p:nvSpPr>
          <p:cNvPr id="20" name="Table value contrast"/>
          <p:cNvSpPr/>
          <p:nvPr/>
        </p:nvSpPr>
        <p:spPr>
          <a:xfrm>
            <a:off x="3470176" y="4134842"/>
            <a:ext cx="279400" cy="13335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trict 未提供"/>
          <p:cNvSpPr txBox="1"/>
          <p:nvPr/>
        </p:nvSpPr>
        <p:spPr>
          <a:xfrm>
            <a:off x="3476526" y="4141192"/>
            <a:ext cx="279400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26071"/>
                </a:solidFill>
                <a:latin typeface="Segoe UI"/>
                <a:ea typeface="Microsoft YaHei"/>
              </a:rPr>
              <a:t>未提供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11-svg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627088"/>
            <a:ext cx="10820400" cy="1079500"/>
          </a:xfrm>
          <a:prstGeom prst="rect">
            <a:avLst/>
          </a:prstGeom>
        </p:spPr>
      </p:pic>
      <p:pic>
        <p:nvPicPr>
          <p:cNvPr id="5" name="Picture 4" descr="slide11-deco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681188"/>
            <a:ext cx="5162550" cy="2717800"/>
          </a:xfrm>
          <a:prstGeom prst="rect">
            <a:avLst/>
          </a:prstGeom>
        </p:spPr>
      </p:pic>
      <p:pic>
        <p:nvPicPr>
          <p:cNvPr id="6" name="Picture 5" descr="slide11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7950" y="2681188"/>
            <a:ext cx="5162550" cy="2451100"/>
          </a:xfrm>
          <a:prstGeom prst="rect">
            <a:avLst/>
          </a:prstGeom>
        </p:spPr>
      </p:pic>
      <p:pic>
        <p:nvPicPr>
          <p:cNvPr id="7" name="Picture 6" descr="slide11-deco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9100" y="2846288"/>
            <a:ext cx="1194296" cy="165100"/>
          </a:xfrm>
          <a:prstGeom prst="rect">
            <a:avLst/>
          </a:prstGeom>
        </p:spPr>
      </p:pic>
      <p:pic>
        <p:nvPicPr>
          <p:cNvPr id="8" name="Picture 7" descr="slide11-deco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5310088"/>
            <a:ext cx="10820400" cy="57785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02 · COEXIST, NOT REPLACE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同一个 Studio，一个需求进来，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分两条路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各就各位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0078" y="1373088"/>
            <a:ext cx="2051745" cy="355600"/>
          </a:xfrm>
          <a:prstGeom prst="roundRect">
            <a:avLst>
              <a:gd name="adj" fmla="val 50000"/>
            </a:avLst>
          </a:prstGeom>
          <a:solidFill>
            <a:srgbClr val="635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0078" y="1373088"/>
            <a:ext cx="2051745" cy="497840"/>
          </a:xfrm>
          <a:prstGeom prst="rect">
            <a:avLst/>
          </a:prstGeom>
          <a:noFill/>
        </p:spPr>
        <p:txBody>
          <a:bodyPr wrap="none" lIns="215900" tIns="82550" rIns="215900" bIns="82550" anchor="t"/>
          <a:lstStyle/>
          <a:p>
            <a:pPr algn="l">
              <a:lnSpc>
                <a:spcPts val="1320"/>
              </a:lnSpc>
            </a:pPr>
            <a:r>
              <a:rPr lang="zh-CN" sz="1100" b="1" spc="22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一个需求 / 一段业务 进来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650" y="2846288"/>
            <a:ext cx="1225748" cy="165100"/>
          </a:xfrm>
          <a:prstGeom prst="roundRect">
            <a:avLst>
              <a:gd name="adj" fmla="val 50000"/>
            </a:avLst>
          </a:prstGeom>
          <a:solidFill>
            <a:srgbClr val="6F8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2650" y="2846288"/>
            <a:ext cx="1225748" cy="23114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10"/>
              </a:lnSpc>
            </a:pPr>
            <a:r>
              <a:rPr lang="en-US" sz="675" b="1" spc="14" dirty="0">
                <a:solidFill>
                  <a:srgbClr val="FFFFFF"/>
                </a:solidFill>
                <a:latin typeface="Segoe UI"/>
                <a:cs typeface="Segoe UI"/>
              </a:rPr>
              <a:t>Chat / Standard harness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650" y="3087588"/>
            <a:ext cx="793750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规则清楚、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76400" y="3316188"/>
            <a:ext cx="635000" cy="0"/>
          </a:xfrm>
          <a:prstGeom prst="line">
            <a:avLst/>
          </a:prstGeom>
          <a:ln w="19050">
            <a:solidFill>
              <a:srgbClr val="2B7FFF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676400" y="3087588"/>
            <a:ext cx="635000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2B6FD8"/>
                </a:solidFill>
                <a:latin typeface="Segoe UI"/>
                <a:ea typeface="Noto Sans SC"/>
                <a:cs typeface="Segoe UI"/>
              </a:rPr>
              <a:t>路径固定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11400" y="3087588"/>
            <a:ext cx="317500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的活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650" y="3379688"/>
            <a:ext cx="45402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00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关键词：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配置化对话 · 快而稳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2650" y="3576538"/>
            <a:ext cx="4540250" cy="228600"/>
          </a:xfrm>
          <a:prstGeom prst="rect">
            <a:avLst/>
          </a:prstGeom>
          <a:solidFill>
            <a:srgbClr val="2B7FFF">
              <a:alpha val="7000"/>
            </a:srgbClr>
          </a:solidFill>
          <a:ln w="6350">
            <a:solidFill>
              <a:srgbClr val="2B7FFF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82650" y="3843238"/>
            <a:ext cx="4540250" cy="228600"/>
          </a:xfrm>
          <a:prstGeom prst="rect">
            <a:avLst/>
          </a:prstGeom>
          <a:solidFill>
            <a:srgbClr val="2B7FFF">
              <a:alpha val="7000"/>
            </a:srgbClr>
          </a:solidFill>
          <a:ln w="6350">
            <a:solidFill>
              <a:srgbClr val="2B7FFF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82650" y="4109938"/>
            <a:ext cx="4540250" cy="228600"/>
          </a:xfrm>
          <a:prstGeom prst="rect">
            <a:avLst/>
          </a:prstGeom>
          <a:solidFill>
            <a:srgbClr val="2B7FFF">
              <a:alpha val="7000"/>
            </a:srgbClr>
          </a:solidFill>
          <a:ln w="6350">
            <a:solidFill>
              <a:srgbClr val="2B7FFF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82650" y="4376638"/>
            <a:ext cx="4540250" cy="228600"/>
          </a:xfrm>
          <a:prstGeom prst="rect">
            <a:avLst/>
          </a:prstGeom>
          <a:solidFill>
            <a:srgbClr val="2B7FFF">
              <a:alpha val="7000"/>
            </a:srgbClr>
          </a:solidFill>
          <a:ln w="6350">
            <a:solidFill>
              <a:srgbClr val="2B7FFF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882650" y="4681438"/>
            <a:ext cx="454025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82650" y="4681438"/>
            <a:ext cx="4540250" cy="342900"/>
          </a:xfrm>
          <a:prstGeom prst="rect">
            <a:avLst/>
          </a:prstGeom>
          <a:noFill/>
        </p:spPr>
        <p:txBody>
          <a:bodyPr wrap="none" lIns="0" tIns="69850" rIns="0" bIns="0" anchor="t"/>
          <a:lstStyle/>
          <a:p>
            <a:pPr algn="l">
              <a:lnSpc>
                <a:spcPts val="1050"/>
              </a:lnSpc>
            </a:pPr>
            <a:r>
              <a:rPr lang="zh-CN" sz="7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产品定位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：现在就能用、商业模式不变的「确定活」通道。</a:t>
            </a:r>
            <a:br>
              <a:rPr sz="700"/>
            </a:b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例：SharePoint 问答 · 审批路由 · FAQ 客服 · 语音客服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9100" y="2846288"/>
            <a:ext cx="1194296" cy="23114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10"/>
              </a:lnSpc>
            </a:pPr>
            <a:r>
              <a:rPr lang="en-US" sz="675" b="1" spc="14" dirty="0">
                <a:solidFill>
                  <a:srgbClr val="FFFFFF"/>
                </a:solidFill>
                <a:latin typeface="Segoe UI"/>
                <a:cs typeface="Segoe UI"/>
              </a:rPr>
              <a:t>GitHub Copilot harness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9100" y="3087588"/>
            <a:ext cx="99665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复杂多变、要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765752" y="3316188"/>
            <a:ext cx="853579" cy="0"/>
          </a:xfrm>
          <a:prstGeom prst="line">
            <a:avLst/>
          </a:prstGeom>
          <a:ln w="19050">
            <a:solidFill>
              <a:srgbClr val="D6357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765752" y="3087588"/>
            <a:ext cx="853579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AI 临场判断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9100" y="3379688"/>
            <a:ext cx="45402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00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关键词：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Agentic 三件套平台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69100" y="3576538"/>
            <a:ext cx="4540250" cy="228600"/>
          </a:xfrm>
          <a:prstGeom prst="rect">
            <a:avLst/>
          </a:prstGeom>
          <a:solidFill>
            <a:srgbClr val="8B5CF6">
              <a:alpha val="7000"/>
            </a:srgbClr>
          </a:solidFill>
          <a:ln w="6350">
            <a:solidFill>
              <a:srgbClr val="8B5CF6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769100" y="3843238"/>
            <a:ext cx="4540250" cy="228600"/>
          </a:xfrm>
          <a:prstGeom prst="rect">
            <a:avLst/>
          </a:prstGeom>
          <a:solidFill>
            <a:srgbClr val="8B5CF6">
              <a:alpha val="7000"/>
            </a:srgbClr>
          </a:solidFill>
          <a:ln w="6350">
            <a:solidFill>
              <a:srgbClr val="8B5CF6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769100" y="4109938"/>
            <a:ext cx="4540250" cy="228600"/>
          </a:xfrm>
          <a:prstGeom prst="rect">
            <a:avLst/>
          </a:prstGeom>
          <a:solidFill>
            <a:srgbClr val="8B5CF6">
              <a:alpha val="7000"/>
            </a:srgbClr>
          </a:solidFill>
          <a:ln w="6350">
            <a:solidFill>
              <a:srgbClr val="8B5CF6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6769100" y="4414738"/>
            <a:ext cx="454025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769100" y="4414738"/>
            <a:ext cx="4540250" cy="342900"/>
          </a:xfrm>
          <a:prstGeom prst="rect">
            <a:avLst/>
          </a:prstGeom>
          <a:noFill/>
        </p:spPr>
        <p:txBody>
          <a:bodyPr wrap="none" lIns="0" tIns="69850" rIns="0" bIns="0" anchor="t"/>
          <a:lstStyle/>
          <a:p>
            <a:pPr algn="l">
              <a:lnSpc>
                <a:spcPts val="1050"/>
              </a:lnSpc>
            </a:pPr>
            <a:r>
              <a:rPr lang="zh-CN" sz="7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产品定位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：Agent + Workflow + App 组成的企业 Agentic 平台，接「要临场判断」的复杂业务。</a:t>
            </a:r>
            <a:br>
              <a:rPr sz="700"/>
            </a:b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例：读发票 → 判断异常 → 转审批 → 一键批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7250" y="5418038"/>
            <a:ext cx="10477500" cy="171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怎么选</a:t>
            </a:r>
            <a:r>
              <a:rPr lang="zh-CN" sz="9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流程固定、要快要稳 →</a:t>
            </a:r>
            <a:r>
              <a:rPr lang="en-US" sz="900" b="1" dirty="0">
                <a:solidFill>
                  <a:srgbClr val="7C3FE0"/>
                </a:solidFill>
                <a:latin typeface="Segoe UI"/>
                <a:cs typeface="Segoe UI"/>
              </a:rPr>
              <a:t> Standard harness</a:t>
            </a:r>
            <a:r>
              <a:rPr lang="zh-CN" sz="9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（响应你全配好，不用等它想）；任务复杂、要临场判断 →</a:t>
            </a:r>
            <a:r>
              <a:rPr lang="en-US" sz="900" b="1" dirty="0">
                <a:solidFill>
                  <a:srgbClr val="7C3FE0"/>
                </a:solidFill>
                <a:latin typeface="Segoe UI"/>
                <a:cs typeface="Segoe UI"/>
              </a:rPr>
              <a:t> GitHub Copilot harness</a:t>
            </a:r>
            <a:r>
              <a:rPr lang="zh-CN" sz="9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250" y="5627588"/>
            <a:ext cx="10477500" cy="152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00"/>
              </a:lnSpc>
            </a:pP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同一个 Copilot Studio 里两条路并存，按任务挑，不是二选一——而右边这条，是</a:t>
            </a:r>
            <a:r>
              <a:rPr lang="zh-CN" sz="800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 Agent + Workflow + App 三件套组成的一个平台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Studio · 2026-08</a:t>
            </a:r>
          </a:p>
        </p:txBody>
      </p:sp>
      <p:sp>
        <p:nvSpPr>
          <p:cNvPr id="47" name="Strict 11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11 / 30</a:t>
            </a:r>
          </a:p>
        </p:txBody>
      </p:sp>
      <p:sp>
        <p:nvSpPr>
          <p:cNvPr id="48" name="Strict 配置化"/>
          <p:cNvSpPr txBox="1"/>
          <p:nvPr/>
        </p:nvSpPr>
        <p:spPr>
          <a:xfrm>
            <a:off x="958850" y="36146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配置化</a:t>
            </a:r>
          </a:p>
        </p:txBody>
      </p:sp>
      <p:sp>
        <p:nvSpPr>
          <p:cNvPr id="49" name="Strict 响应你全配好、你说了算；不跑推理，响应更快"/>
          <p:cNvSpPr txBox="1"/>
          <p:nvPr/>
        </p:nvSpPr>
        <p:spPr>
          <a:xfrm>
            <a:off x="1955800" y="36146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响应你全配好、你说了算；不跑推理，响应更快</a:t>
            </a:r>
          </a:p>
        </p:txBody>
      </p:sp>
      <p:sp>
        <p:nvSpPr>
          <p:cNvPr id="50" name="Strict 对话编排"/>
          <p:cNvSpPr txBox="1"/>
          <p:nvPr/>
        </p:nvSpPr>
        <p:spPr>
          <a:xfrm>
            <a:off x="958850" y="38813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对话编排</a:t>
            </a:r>
          </a:p>
        </p:txBody>
      </p:sp>
      <p:sp>
        <p:nvSpPr>
          <p:cNvPr id="51" name="Strict Topics 规则应答，擅长多轮对话"/>
          <p:cNvSpPr txBox="1"/>
          <p:nvPr/>
        </p:nvSpPr>
        <p:spPr>
          <a:xfrm>
            <a:off x="1955800" y="38813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Topics 规则应答，擅长多轮对话</a:t>
            </a:r>
          </a:p>
        </p:txBody>
      </p:sp>
      <p:sp>
        <p:nvSpPr>
          <p:cNvPr id="52" name="Strict 实时 · 语音"/>
          <p:cNvSpPr txBox="1"/>
          <p:nvPr/>
        </p:nvSpPr>
        <p:spPr>
          <a:xfrm>
            <a:off x="958850" y="41480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实时 · 语音</a:t>
            </a:r>
          </a:p>
        </p:txBody>
      </p:sp>
      <p:sp>
        <p:nvSpPr>
          <p:cNvPr id="53" name="Strict 低延迟实时对话与语音 Agent，可接电话/呼叫"/>
          <p:cNvSpPr txBox="1"/>
          <p:nvPr/>
        </p:nvSpPr>
        <p:spPr>
          <a:xfrm>
            <a:off x="1955800" y="41480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低延迟实时对话与语音 Agent，可接电话/呼叫中心</a:t>
            </a:r>
          </a:p>
        </p:txBody>
      </p:sp>
      <p:sp>
        <p:nvSpPr>
          <p:cNvPr id="54" name="Strict 可预测"/>
          <p:cNvSpPr txBox="1"/>
          <p:nvPr/>
        </p:nvSpPr>
        <p:spPr>
          <a:xfrm>
            <a:off x="958850" y="44147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可预测</a:t>
            </a:r>
          </a:p>
        </p:txBody>
      </p:sp>
      <p:sp>
        <p:nvSpPr>
          <p:cNvPr id="55" name="Strict 结果稳定、可重复，适合合规场景"/>
          <p:cNvSpPr txBox="1"/>
          <p:nvPr/>
        </p:nvSpPr>
        <p:spPr>
          <a:xfrm>
            <a:off x="1955800" y="44147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结果稳定、可重复，适合合规场景</a:t>
            </a:r>
          </a:p>
        </p:txBody>
      </p:sp>
      <p:sp>
        <p:nvSpPr>
          <p:cNvPr id="56" name="Strict Agent"/>
          <p:cNvSpPr txBox="1"/>
          <p:nvPr/>
        </p:nvSpPr>
        <p:spPr>
          <a:xfrm>
            <a:off x="6845300" y="36146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Agent</a:t>
            </a:r>
          </a:p>
        </p:txBody>
      </p:sp>
      <p:sp>
        <p:nvSpPr>
          <p:cNvPr id="57" name="Strict 会判断、边想边调（agentic loop），会"/>
          <p:cNvSpPr txBox="1"/>
          <p:nvPr/>
        </p:nvSpPr>
        <p:spPr>
          <a:xfrm>
            <a:off x="7842250" y="36146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会判断、边想边调（agentic loop），会用 Files / Skills / Memory</a:t>
            </a:r>
          </a:p>
        </p:txBody>
      </p:sp>
      <p:sp>
        <p:nvSpPr>
          <p:cNvPr id="58" name="Strict Workflow"/>
          <p:cNvSpPr txBox="1"/>
          <p:nvPr/>
        </p:nvSpPr>
        <p:spPr>
          <a:xfrm>
            <a:off x="6845300" y="38813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Workflow</a:t>
            </a:r>
          </a:p>
        </p:txBody>
      </p:sp>
      <p:sp>
        <p:nvSpPr>
          <p:cNvPr id="59" name="Strict 把必须每次一样的步骤，稳定、可重复地跑完"/>
          <p:cNvSpPr txBox="1"/>
          <p:nvPr/>
        </p:nvSpPr>
        <p:spPr>
          <a:xfrm>
            <a:off x="7842250" y="38813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把必须每次一样的步骤，稳定、可重复地跑完</a:t>
            </a:r>
          </a:p>
        </p:txBody>
      </p:sp>
      <p:sp>
        <p:nvSpPr>
          <p:cNvPr id="60" name="Strict App"/>
          <p:cNvSpPr txBox="1"/>
          <p:nvPr/>
        </p:nvSpPr>
        <p:spPr>
          <a:xfrm>
            <a:off x="6845300" y="41480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App</a:t>
            </a:r>
          </a:p>
        </p:txBody>
      </p:sp>
      <p:sp>
        <p:nvSpPr>
          <p:cNvPr id="61" name="Strict 生成界面，让人来查看、修改与批准"/>
          <p:cNvSpPr txBox="1"/>
          <p:nvPr/>
        </p:nvSpPr>
        <p:spPr>
          <a:xfrm>
            <a:off x="7842250" y="41480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生成界面，让人来查看、修改与批准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12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768277"/>
            <a:ext cx="4744442" cy="2863850"/>
          </a:xfrm>
          <a:prstGeom prst="rect">
            <a:avLst/>
          </a:prstGeom>
        </p:spPr>
      </p:pic>
      <p:pic>
        <p:nvPicPr>
          <p:cNvPr id="5" name="Picture 4" descr="slide12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1927027"/>
            <a:ext cx="1434505" cy="184150"/>
          </a:xfrm>
          <a:prstGeom prst="rect">
            <a:avLst/>
          </a:prstGeom>
        </p:spPr>
      </p:pic>
      <p:pic>
        <p:nvPicPr>
          <p:cNvPr id="6" name="Picture 5" descr="slide12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450" y="2466777"/>
            <a:ext cx="4503142" cy="977900"/>
          </a:xfrm>
          <a:prstGeom prst="rect">
            <a:avLst/>
          </a:prstGeom>
        </p:spPr>
      </p:pic>
      <p:pic>
        <p:nvPicPr>
          <p:cNvPr id="7" name="Picture 6" descr="slide12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20542" y="2568377"/>
            <a:ext cx="1117600" cy="647700"/>
          </a:xfrm>
          <a:prstGeom prst="rect">
            <a:avLst/>
          </a:prstGeom>
        </p:spPr>
      </p:pic>
      <p:pic>
        <p:nvPicPr>
          <p:cNvPr id="8" name="Picture 7" descr="slide12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6450" y="3406577"/>
            <a:ext cx="4503142" cy="977900"/>
          </a:xfrm>
          <a:prstGeom prst="rect">
            <a:avLst/>
          </a:prstGeom>
        </p:spPr>
      </p:pic>
      <p:pic>
        <p:nvPicPr>
          <p:cNvPr id="9" name="Picture 8" descr="slide12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20542" y="3508177"/>
            <a:ext cx="1117600" cy="647700"/>
          </a:xfrm>
          <a:prstGeom prst="rect">
            <a:avLst/>
          </a:prstGeom>
        </p:spPr>
      </p:pic>
      <p:pic>
        <p:nvPicPr>
          <p:cNvPr id="10" name="Picture 9" descr="slide12-deco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9842" y="1768277"/>
            <a:ext cx="5618758" cy="3168650"/>
          </a:xfrm>
          <a:prstGeom prst="rect">
            <a:avLst/>
          </a:prstGeom>
        </p:spPr>
      </p:pic>
      <p:pic>
        <p:nvPicPr>
          <p:cNvPr id="11" name="Picture 10" descr="slide12-deco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63692" y="1927027"/>
            <a:ext cx="1284784" cy="184150"/>
          </a:xfrm>
          <a:prstGeom prst="rect">
            <a:avLst/>
          </a:prstGeom>
        </p:spPr>
      </p:pic>
      <p:pic>
        <p:nvPicPr>
          <p:cNvPr id="12" name="Picture 11" descr="slide12-deco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12892" y="2466777"/>
            <a:ext cx="5072658" cy="975618"/>
          </a:xfrm>
          <a:prstGeom prst="rect">
            <a:avLst/>
          </a:prstGeom>
        </p:spPr>
      </p:pic>
      <p:pic>
        <p:nvPicPr>
          <p:cNvPr id="13" name="Picture 12" descr="slide12-deco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5800" y="4759127"/>
            <a:ext cx="10820400" cy="416223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03 · WHICH 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863600"/>
            <a:ext cx="10820400" cy="961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两个名字别混：</a:t>
            </a:r>
            <a:r>
              <a:rPr lang="en-US" sz="2600" b="1" spc="-15" dirty="0">
                <a:solidFill>
                  <a:srgbClr val="4A53D6"/>
                </a:solidFill>
                <a:latin typeface="Segoe UI"/>
                <a:cs typeface="Segoe UI"/>
              </a:rPr>
              <a:t>Microsoft Copilot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是买来就用，</a:t>
            </a:r>
            <a:r>
              <a:rPr lang="en-US" sz="2600" b="1" spc="-15" dirty="0">
                <a:solidFill>
                  <a:srgbClr val="4A53D6"/>
                </a:solidFill>
                <a:latin typeface="Segoe UI"/>
                <a:cs typeface="Segoe UI"/>
              </a:rPr>
              <a:t>Copilot Studio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是自己造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1927027"/>
            <a:ext cx="1434505" cy="257810"/>
          </a:xfrm>
          <a:prstGeom prst="rect">
            <a:avLst/>
          </a:prstGeom>
          <a:noFill/>
        </p:spPr>
        <p:txBody>
          <a:bodyPr wrap="none" lIns="95250" tIns="31750" rIns="95250" bIns="31750" anchor="t"/>
          <a:lstStyle/>
          <a:p>
            <a:pPr algn="l">
              <a:lnSpc>
                <a:spcPts val="810"/>
              </a:lnSpc>
            </a:pPr>
            <a:r>
              <a:rPr lang="zh-CN" sz="675" b="1" spc="27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Microsoft Copilot · 现成产品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2161977"/>
            <a:ext cx="4401542" cy="284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让「我」这个人干得更快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900" y="2757984"/>
            <a:ext cx="2750542" cy="26838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6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当我需要</a:t>
            </a:r>
            <a:br>
              <a:rPr sz="800"/>
            </a:b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「结合多份材料，快速得到结论与答案」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1942" y="2793802"/>
            <a:ext cx="16510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20"/>
              </a:lnSpc>
            </a:pPr>
            <a:r>
              <a:rPr lang="en-US" sz="1100" b="1" dirty="0">
                <a:solidFill>
                  <a:srgbClr val="B5A0E8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71392" y="2638227"/>
            <a:ext cx="215900" cy="2159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71392" y="2638227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1B2030"/>
                </a:solidFill>
                <a:latin typeface="Segoe UI"/>
                <a:cs typeface="Segoe UI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7692" y="3044627"/>
            <a:ext cx="1003300" cy="1422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750"/>
              </a:lnSpc>
            </a:pPr>
            <a:r>
              <a:rPr lang="zh-CN" sz="6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问一句答一句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7692" y="2885877"/>
            <a:ext cx="10033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080"/>
              </a:lnSpc>
            </a:pPr>
            <a:r>
              <a:rPr lang="en-US" sz="900" b="1" dirty="0">
                <a:solidFill>
                  <a:srgbClr val="1B2030"/>
                </a:solidFill>
                <a:latin typeface="Segoe UI"/>
                <a:cs typeface="Segoe UI"/>
              </a:rPr>
              <a:t>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900" y="3697784"/>
            <a:ext cx="2750542" cy="26838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6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当我需要</a:t>
            </a:r>
            <a:br>
              <a:rPr sz="800"/>
            </a:b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「把跨系统、多步骤的一件活整个托付出去」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1942" y="3733602"/>
            <a:ext cx="16510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20"/>
              </a:lnSpc>
            </a:pPr>
            <a:r>
              <a:rPr lang="en-US" sz="1100" b="1" dirty="0">
                <a:solidFill>
                  <a:srgbClr val="B5A0E8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71392" y="3578027"/>
            <a:ext cx="215900" cy="2159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71392" y="3578027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1B2030"/>
                </a:solidFill>
                <a:latin typeface="Segoe UI"/>
                <a:ea typeface="Segoe UI"/>
                <a:cs typeface="Segoe UI"/>
              </a:rPr>
              <a:t>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7692" y="3984427"/>
            <a:ext cx="1003300" cy="1422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750"/>
              </a:lnSpc>
            </a:pPr>
            <a:r>
              <a:rPr lang="zh-CN" sz="6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跨应用多步骤代做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77692" y="3825677"/>
            <a:ext cx="10033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080"/>
              </a:lnSpc>
            </a:pPr>
            <a:r>
              <a:rPr lang="en-US" sz="900" b="1" dirty="0">
                <a:solidFill>
                  <a:srgbClr val="1B2030"/>
                </a:solidFill>
                <a:latin typeface="Segoe UI"/>
                <a:cs typeface="Segoe UI"/>
              </a:rPr>
              <a:t>Copilot Cowork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" y="4257477"/>
            <a:ext cx="4401542" cy="302260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买的是成品：功能微软定好，开箱即用，不用建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3692" y="1927027"/>
            <a:ext cx="1284784" cy="257810"/>
          </a:xfrm>
          <a:prstGeom prst="rect">
            <a:avLst/>
          </a:prstGeom>
          <a:noFill/>
        </p:spPr>
        <p:txBody>
          <a:bodyPr wrap="none" lIns="95250" tIns="31750" rIns="95250" bIns="31750" anchor="t"/>
          <a:lstStyle/>
          <a:p>
            <a:pPr algn="l">
              <a:lnSpc>
                <a:spcPts val="810"/>
              </a:lnSpc>
            </a:pPr>
            <a:r>
              <a:rPr lang="zh-CN" sz="675" b="1" spc="27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Copilot Studio · 建造平台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3692" y="2161977"/>
            <a:ext cx="4971058" cy="284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让「整个组织」的流程跑起来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09742" y="2600127"/>
            <a:ext cx="215900" cy="215900"/>
          </a:xfrm>
          <a:prstGeom prst="rect">
            <a:avLst/>
          </a:prstGeom>
          <a:solidFill>
            <a:srgbClr val="D6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09742" y="2600127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89142" y="2606477"/>
            <a:ext cx="1074341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440"/>
              </a:lnSpc>
            </a:pPr>
            <a:r>
              <a:rPr lang="en-US" sz="1200" b="1" dirty="0">
                <a:solidFill>
                  <a:srgbClr val="1B2030"/>
                </a:solidFill>
                <a:latin typeface="Segoe UI"/>
                <a:cs typeface="Segoe UI"/>
              </a:rPr>
              <a:t>Copilot Studio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09742" y="2860477"/>
            <a:ext cx="4678958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当我需要「一件事要天天跑、还要管得住成本和风险」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09742" y="3025577"/>
            <a:ext cx="4678958" cy="219055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32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把判断、固定步骤、应用和治理，装成组织能反复用的系统。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63692" y="3404295"/>
            <a:ext cx="4971058" cy="287635"/>
          </a:xfrm>
          <a:prstGeom prst="rect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D6357E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63692" y="3749080"/>
            <a:ext cx="4971058" cy="287635"/>
          </a:xfrm>
          <a:prstGeom prst="rect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D6357E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363692" y="4093865"/>
            <a:ext cx="4971058" cy="287635"/>
          </a:xfrm>
          <a:prstGeom prst="rect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D6357E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4759127"/>
            <a:ext cx="10820400" cy="416223"/>
          </a:xfrm>
          <a:prstGeom prst="rect">
            <a:avLst/>
          </a:prstGeom>
          <a:noFill/>
        </p:spPr>
        <p:txBody>
          <a:bodyPr wrap="square" lIns="165100" tIns="114300" rIns="165100" bIns="114300" anchor="ctr"/>
          <a:lstStyle/>
          <a:p>
            <a:pPr algn="l">
              <a:lnSpc>
                <a:spcPts val="1378"/>
              </a:lnSpc>
            </a:pPr>
            <a:r>
              <a:rPr lang="zh-CN" sz="9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不是三个等级 →</a:t>
            </a:r>
            <a:r>
              <a:rPr lang="zh-CN" sz="9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左边是</a:t>
            </a:r>
            <a:r>
              <a:rPr lang="zh-CN" sz="9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微软替你做好的 Copilot</a:t>
            </a:r>
            <a:r>
              <a:rPr lang="zh-CN" sz="9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，你按人头买来就能用；右边是</a:t>
            </a:r>
            <a:r>
              <a:rPr lang="zh-CN" sz="9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你自己造 Copilot 的地方</a:t>
            </a:r>
            <a:r>
              <a:rPr lang="zh-CN" sz="9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，业务逻辑、数据、权限都由你定义。</a:t>
            </a:r>
            <a:r>
              <a:rPr lang="zh-CN" sz="9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两边不冲突，绝大多数客户是同时都有。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Studio · 2026-08</a:t>
            </a:r>
          </a:p>
        </p:txBody>
      </p:sp>
      <p:sp>
        <p:nvSpPr>
          <p:cNvPr id="48" name="Strict 12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12 / 30</a:t>
            </a:r>
          </a:p>
        </p:txBody>
      </p:sp>
      <p:sp>
        <p:nvSpPr>
          <p:cNvPr id="49" name="Strict 能力穿透组织"/>
          <p:cNvSpPr txBox="1"/>
          <p:nvPr/>
        </p:nvSpPr>
        <p:spPr>
          <a:xfrm>
            <a:off x="6439892" y="3442395"/>
            <a:ext cx="920750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能力穿透组织</a:t>
            </a:r>
          </a:p>
        </p:txBody>
      </p:sp>
      <p:sp>
        <p:nvSpPr>
          <p:cNvPr id="50" name="Strict 一次建好，全公司在 Teams、Web、业务系统"/>
          <p:cNvSpPr txBox="1"/>
          <p:nvPr/>
        </p:nvSpPr>
        <p:spPr>
          <a:xfrm>
            <a:off x="7436842" y="3442395"/>
            <a:ext cx="3821708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一次建好，全公司在 Teams、Web、业务系统里都能用，不是个人手里的小工具</a:t>
            </a:r>
          </a:p>
        </p:txBody>
      </p:sp>
      <p:sp>
        <p:nvSpPr>
          <p:cNvPr id="51" name="Strict Agent 可治理"/>
          <p:cNvSpPr txBox="1"/>
          <p:nvPr/>
        </p:nvSpPr>
        <p:spPr>
          <a:xfrm>
            <a:off x="6439892" y="3787180"/>
            <a:ext cx="920750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Agent 可治理</a:t>
            </a:r>
          </a:p>
        </p:txBody>
      </p:sp>
      <p:sp>
        <p:nvSpPr>
          <p:cNvPr id="52" name="Strict 谁建的、连了什么数据、能做什么动作，都能盘点、审"/>
          <p:cNvSpPr txBox="1"/>
          <p:nvPr/>
        </p:nvSpPr>
        <p:spPr>
          <a:xfrm>
            <a:off x="7436842" y="3787180"/>
            <a:ext cx="3821708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谁建的、连了什么数据、能做什么动作，都能盘点、审计、随时收回</a:t>
            </a:r>
          </a:p>
        </p:txBody>
      </p:sp>
      <p:sp>
        <p:nvSpPr>
          <p:cNvPr id="53" name="Strict 成本可控"/>
          <p:cNvSpPr txBox="1"/>
          <p:nvPr/>
        </p:nvSpPr>
        <p:spPr>
          <a:xfrm>
            <a:off x="6439892" y="4131965"/>
            <a:ext cx="920750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成本可控</a:t>
            </a:r>
          </a:p>
        </p:txBody>
      </p:sp>
      <p:sp>
        <p:nvSpPr>
          <p:cNvPr id="54" name="Strict 环境级 + Agent 级双层额度，用量看得见、"/>
          <p:cNvSpPr txBox="1"/>
          <p:nvPr/>
        </p:nvSpPr>
        <p:spPr>
          <a:xfrm>
            <a:off x="7436842" y="4131965"/>
            <a:ext cx="3821708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环境级 + Agent 级双层额度，用量看得见、超限自动关停，不会失控</a:t>
            </a:r>
          </a:p>
        </p:txBody>
      </p:sp>
      <p:sp>
        <p:nvSpPr>
          <p:cNvPr id="55" name="Strict ›"/>
          <p:cNvSpPr txBox="1"/>
          <p:nvPr/>
        </p:nvSpPr>
        <p:spPr>
          <a:xfrm>
            <a:off x="5776317" y="2749352"/>
            <a:ext cx="6985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7146CF"/>
                </a:solidFill>
                <a:latin typeface="Segoe UI"/>
                <a:ea typeface="Microsoft YaHei"/>
              </a:rPr>
              <a:t>›</a:t>
            </a:r>
          </a:p>
        </p:txBody>
      </p:sp>
      <p:sp>
        <p:nvSpPr>
          <p:cNvPr id="56" name="Strict ›"/>
          <p:cNvSpPr txBox="1"/>
          <p:nvPr/>
        </p:nvSpPr>
        <p:spPr>
          <a:xfrm>
            <a:off x="5776317" y="3397052"/>
            <a:ext cx="6985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7146CF"/>
                </a:solidFill>
                <a:latin typeface="Segoe UI"/>
                <a:ea typeface="Microsoft YaHei"/>
              </a:rPr>
              <a:t>›</a:t>
            </a:r>
          </a:p>
        </p:txBody>
      </p:sp>
      <p:sp>
        <p:nvSpPr>
          <p:cNvPr id="57" name="Strict 从用现成的&#10;到自己造"/>
          <p:cNvSpPr txBox="1"/>
          <p:nvPr/>
        </p:nvSpPr>
        <p:spPr>
          <a:xfrm>
            <a:off x="5588992" y="3066852"/>
            <a:ext cx="444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146CF"/>
                </a:solidFill>
                <a:latin typeface="Segoe UI"/>
                <a:ea typeface="Microsoft YaHei"/>
              </a:rPr>
              <a:t>从用现成的</a:t>
            </a:r>
          </a:p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146CF"/>
                </a:solidFill>
                <a:latin typeface="Segoe UI"/>
                <a:ea typeface="Microsoft YaHei"/>
              </a:rPr>
              <a:t>到自己造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ct PART 02 · PLATFORM"/>
          <p:cNvSpPr txBox="1"/>
          <p:nvPr/>
        </p:nvSpPr>
        <p:spPr>
          <a:xfrm>
            <a:off x="3048000" y="2475111"/>
            <a:ext cx="6096000" cy="260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FB6FF"/>
                </a:solidFill>
                <a:latin typeface="Segoe UI"/>
                <a:ea typeface="Microsoft YaHei"/>
              </a:rPr>
              <a:t>PART 02 · PLATFORM</a:t>
            </a:r>
          </a:p>
        </p:txBody>
      </p:sp>
      <p:sp>
        <p:nvSpPr>
          <p:cNvPr id="3" name="Strict 平台全景与实证"/>
          <p:cNvSpPr txBox="1"/>
          <p:nvPr/>
        </p:nvSpPr>
        <p:spPr>
          <a:xfrm>
            <a:off x="3048000" y="2786261"/>
            <a:ext cx="6096000" cy="5216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平台全景与实证</a:t>
            </a:r>
          </a:p>
        </p:txBody>
      </p:sp>
      <p:sp>
        <p:nvSpPr>
          <p:cNvPr id="4" name="Strict 三件套建业务、平台自然融入四项企业能力；GitH"/>
          <p:cNvSpPr txBox="1"/>
          <p:nvPr/>
        </p:nvSpPr>
        <p:spPr>
          <a:xfrm>
            <a:off x="3048000" y="3409553"/>
            <a:ext cx="6096000" cy="490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7E1F5"/>
                </a:solidFill>
                <a:latin typeface="Segoe UI"/>
                <a:ea typeface="Microsoft YaHei"/>
              </a:rPr>
              <a:t>三件套建业务、平台自然融入四项企业能力；GitHub Copilot harness 凭什么更强，模型与 Agent 生态又新在哪里。</a:t>
            </a:r>
          </a:p>
        </p:txBody>
      </p:sp>
      <p:sp>
        <p:nvSpPr>
          <p:cNvPr id="5" name="Chapter pill"/>
          <p:cNvSpPr/>
          <p:nvPr/>
        </p:nvSpPr>
        <p:spPr>
          <a:xfrm>
            <a:off x="3684984" y="4090789"/>
            <a:ext cx="1605756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trict 全景三角 + 四项内建能力"/>
          <p:cNvSpPr txBox="1"/>
          <p:nvPr/>
        </p:nvSpPr>
        <p:spPr>
          <a:xfrm>
            <a:off x="3684984" y="4090789"/>
            <a:ext cx="1605756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全景三角 + 四项内建能力</a:t>
            </a:r>
          </a:p>
        </p:txBody>
      </p:sp>
      <p:sp>
        <p:nvSpPr>
          <p:cNvPr id="7" name="Chapter pill"/>
          <p:cNvSpPr/>
          <p:nvPr/>
        </p:nvSpPr>
        <p:spPr>
          <a:xfrm>
            <a:off x="5379641" y="4090789"/>
            <a:ext cx="1117600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trict 质量与成本实证"/>
          <p:cNvSpPr txBox="1"/>
          <p:nvPr/>
        </p:nvSpPr>
        <p:spPr>
          <a:xfrm>
            <a:off x="5379641" y="4090789"/>
            <a:ext cx="1117600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质量与成本实证</a:t>
            </a:r>
          </a:p>
        </p:txBody>
      </p:sp>
      <p:sp>
        <p:nvSpPr>
          <p:cNvPr id="9" name="Chapter pill"/>
          <p:cNvSpPr/>
          <p:nvPr/>
        </p:nvSpPr>
        <p:spPr>
          <a:xfrm>
            <a:off x="6586141" y="4090789"/>
            <a:ext cx="1920875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trict 模型画廊 + Connected agents"/>
          <p:cNvSpPr txBox="1"/>
          <p:nvPr/>
        </p:nvSpPr>
        <p:spPr>
          <a:xfrm>
            <a:off x="6586141" y="4090789"/>
            <a:ext cx="1920875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模型画廊 + Connected agents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6" name="Picture 5" descr="slide14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1101" y="2014439"/>
            <a:ext cx="2209799" cy="1498599"/>
          </a:xfrm>
          <a:prstGeom prst="rect">
            <a:avLst/>
          </a:prstGeom>
        </p:spPr>
      </p:pic>
      <p:pic>
        <p:nvPicPr>
          <p:cNvPr id="7" name="Picture 6" descr="slide14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6300" y="2236688"/>
            <a:ext cx="279400" cy="279400"/>
          </a:xfrm>
          <a:prstGeom prst="rect">
            <a:avLst/>
          </a:prstGeom>
        </p:spPr>
      </p:pic>
      <p:pic>
        <p:nvPicPr>
          <p:cNvPr id="8" name="Picture 7" descr="slide14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4400" y="1347688"/>
            <a:ext cx="1549102" cy="749300"/>
          </a:xfrm>
          <a:prstGeom prst="rect">
            <a:avLst/>
          </a:prstGeom>
        </p:spPr>
      </p:pic>
      <p:pic>
        <p:nvPicPr>
          <p:cNvPr id="9" name="Picture 8" descr="slide14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9700" y="3011388"/>
            <a:ext cx="1762026" cy="749300"/>
          </a:xfrm>
          <a:prstGeom prst="rect">
            <a:avLst/>
          </a:prstGeom>
        </p:spPr>
      </p:pic>
      <p:pic>
        <p:nvPicPr>
          <p:cNvPr id="10" name="Picture 9" descr="slide14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83700" y="3011388"/>
            <a:ext cx="1498600" cy="749300"/>
          </a:xfrm>
          <a:prstGeom prst="rect">
            <a:avLst/>
          </a:prstGeom>
        </p:spPr>
      </p:pic>
      <p:pic>
        <p:nvPicPr>
          <p:cNvPr id="11" name="Picture 10" descr="slide14-deco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4205188"/>
            <a:ext cx="2857500" cy="873720"/>
          </a:xfrm>
          <a:prstGeom prst="rect">
            <a:avLst/>
          </a:prstGeom>
        </p:spPr>
      </p:pic>
      <p:pic>
        <p:nvPicPr>
          <p:cNvPr id="12" name="Picture 11" descr="slide14-deco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02000" y="4205188"/>
            <a:ext cx="2857500" cy="873720"/>
          </a:xfrm>
          <a:prstGeom prst="rect">
            <a:avLst/>
          </a:prstGeom>
        </p:spPr>
      </p:pic>
      <p:pic>
        <p:nvPicPr>
          <p:cNvPr id="13" name="Picture 12" descr="slide14-deco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2500" y="4205188"/>
            <a:ext cx="2857500" cy="873720"/>
          </a:xfrm>
          <a:prstGeom prst="rect">
            <a:avLst/>
          </a:prstGeom>
        </p:spPr>
      </p:pic>
      <p:pic>
        <p:nvPicPr>
          <p:cNvPr id="14" name="Picture 13" descr="slide14-deco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4205188"/>
            <a:ext cx="2857500" cy="873720"/>
          </a:xfrm>
          <a:prstGeom prst="rect">
            <a:avLst/>
          </a:prstGeom>
        </p:spPr>
      </p:pic>
      <p:cxnSp>
        <p:nvCxnSpPr>
          <p:cNvPr id="15" name="Connector 14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06C · THE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Copilot Studio 全景：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三件套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建业务，平台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自然融入四项企业能力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2050" y="1487388"/>
            <a:ext cx="254000" cy="2540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42050" y="14873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80"/>
              </a:lnSpc>
            </a:pPr>
            <a:r>
              <a:rPr lang="en-US" sz="900" dirty="0">
                <a:solidFill>
                  <a:srgbClr val="FFFFFF"/>
                </a:solidFill>
                <a:latin typeface="Segoe UI"/>
                <a:cs typeface="Segoe U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8600" y="1455638"/>
            <a:ext cx="717252" cy="3175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dirty="0">
                <a:solidFill>
                  <a:srgbClr val="1B2030"/>
                </a:solidFill>
                <a:latin typeface="Segoe UI"/>
                <a:cs typeface="Segoe UI"/>
              </a:rPr>
              <a:t>Agent</a:t>
            </a:r>
            <a:br>
              <a:rPr sz="800"/>
            </a:b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理解 · 判断 · 编排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57350" y="3151088"/>
            <a:ext cx="254000" cy="254000"/>
          </a:xfrm>
          <a:prstGeom prst="rect">
            <a:avLst/>
          </a:prstGeom>
          <a:solidFill>
            <a:srgbClr val="159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57350" y="31510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80"/>
              </a:lnSpc>
            </a:pPr>
            <a:r>
              <a:rPr lang="en-US" sz="900" dirty="0">
                <a:solidFill>
                  <a:srgbClr val="FFFFFF"/>
                </a:solidFill>
                <a:latin typeface="Segoe UI"/>
                <a:cs typeface="Segoe UI"/>
              </a:rPr>
              <a:t>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93900" y="3119338"/>
            <a:ext cx="930176" cy="3175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dirty="0">
                <a:solidFill>
                  <a:srgbClr val="1B2030"/>
                </a:solidFill>
                <a:latin typeface="Segoe UI"/>
                <a:cs typeface="Segoe UI"/>
              </a:rPr>
              <a:t>Workflow</a:t>
            </a:r>
            <a:br>
              <a:rPr sz="800"/>
            </a:b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确定步骤 · 规模化执行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31350" y="3151088"/>
            <a:ext cx="254000" cy="254000"/>
          </a:xfrm>
          <a:prstGeom prst="rect">
            <a:avLst/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531350" y="31510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80"/>
              </a:lnSpc>
            </a:pPr>
            <a:r>
              <a:rPr lang="en-US" sz="9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67900" y="3119338"/>
            <a:ext cx="666750" cy="3175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dirty="0">
                <a:solidFill>
                  <a:srgbClr val="1B2030"/>
                </a:solidFill>
                <a:latin typeface="Segoe UI"/>
                <a:cs typeface="Segoe UI"/>
              </a:rPr>
              <a:t>App</a:t>
            </a:r>
            <a:br>
              <a:rPr sz="800"/>
            </a:b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人来查看与操作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001988"/>
            <a:ext cx="108204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900"/>
              </a:lnSpc>
            </a:pPr>
            <a:r>
              <a:rPr lang="zh-CN" sz="750" b="1" spc="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平台本身就自然融入了这四项企业能力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6450" y="4313138"/>
            <a:ext cx="215900" cy="2159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6450" y="4313138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cs typeface="Segoe UI"/>
              </a:rPr>
              <a:t>IQ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8550" y="4484588"/>
            <a:ext cx="2025650" cy="3326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把公司自己的邮件、会议、文件和组织关系喂给每个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8550" y="4313138"/>
            <a:ext cx="20955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en-US" sz="900" b="1" dirty="0">
                <a:solidFill>
                  <a:srgbClr val="1B2030"/>
                </a:solidFill>
                <a:latin typeface="Segoe UI"/>
                <a:cs typeface="Segoe UI"/>
              </a:rPr>
              <a:t>Microsoft IQ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36950" y="4313138"/>
            <a:ext cx="215900" cy="215900"/>
          </a:xfrm>
          <a:prstGeom prst="rect">
            <a:avLst/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536950" y="4313138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cs typeface="Segoe UI"/>
              </a:rPr>
              <a:t>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29050" y="4484588"/>
            <a:ext cx="2008386" cy="3326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各家最新 frontier 模型直接接进来，交到懂业务的人手里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29050" y="4313138"/>
            <a:ext cx="20955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模型与 harness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7450" y="4313138"/>
            <a:ext cx="215900" cy="215900"/>
          </a:xfrm>
          <a:prstGeom prst="rect">
            <a:avLst/>
          </a:prstGeom>
          <a:solidFill>
            <a:srgbClr val="159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67450" y="4313138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9550" y="4484588"/>
            <a:ext cx="2044998" cy="3326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跨平台盘点、身份与威胁防护，可信的 Agent 才能跑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59550" y="4313138"/>
            <a:ext cx="20955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365 治理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97950" y="4313138"/>
            <a:ext cx="215900" cy="215900"/>
          </a:xfrm>
          <a:prstGeom prst="rect">
            <a:avLst/>
          </a:prstGeom>
          <a:solidFill>
            <a:srgbClr val="C07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997950" y="4313138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cs typeface="Segoe UI"/>
              </a:rPr>
              <a:t>$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0050" y="4484588"/>
            <a:ext cx="2041128" cy="3326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环境级 + Agent 级双层额度，花多少、谁花的都看得见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0050" y="4313138"/>
            <a:ext cx="20955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成本可控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Level Up 2026-08</a:t>
            </a:r>
          </a:p>
        </p:txBody>
      </p:sp>
      <p:sp>
        <p:nvSpPr>
          <p:cNvPr id="46" name="Strict 14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14 / 30</a:t>
            </a:r>
          </a:p>
        </p:txBody>
      </p:sp>
      <p:sp>
        <p:nvSpPr>
          <p:cNvPr id="47" name="Strict Copilot Studio"/>
          <p:cNvSpPr txBox="1"/>
          <p:nvPr/>
        </p:nvSpPr>
        <p:spPr>
          <a:xfrm>
            <a:off x="5416550" y="2573238"/>
            <a:ext cx="1358900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Copilot Studio</a:t>
            </a:r>
          </a:p>
        </p:txBody>
      </p:sp>
      <p:sp>
        <p:nvSpPr>
          <p:cNvPr id="48" name="Strict 企业 Agentic 平台"/>
          <p:cNvSpPr txBox="1"/>
          <p:nvPr/>
        </p:nvSpPr>
        <p:spPr>
          <a:xfrm>
            <a:off x="5416550" y="2776438"/>
            <a:ext cx="13589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4155"/>
                </a:solidFill>
                <a:latin typeface="Segoe UI"/>
                <a:ea typeface="Microsoft YaHei"/>
              </a:rPr>
              <a:t>企业 Agentic 平台</a:t>
            </a:r>
          </a:p>
        </p:txBody>
      </p:sp>
      <p:cxnSp>
        <p:nvCxnSpPr>
          <p:cNvPr id="49" name="Strict native relationship"/>
          <p:cNvCxnSpPr/>
          <p:nvPr/>
        </p:nvCxnSpPr>
        <p:spPr>
          <a:xfrm>
            <a:off x="6768951" y="1881088"/>
            <a:ext cx="0" cy="11430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ict native relationship"/>
          <p:cNvCxnSpPr/>
          <p:nvPr/>
        </p:nvCxnSpPr>
        <p:spPr>
          <a:xfrm flipH="1">
            <a:off x="6096000" y="1995388"/>
            <a:ext cx="672951" cy="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ict native relationship"/>
          <p:cNvCxnSpPr/>
          <p:nvPr/>
        </p:nvCxnSpPr>
        <p:spPr>
          <a:xfrm>
            <a:off x="6096000" y="1995388"/>
            <a:ext cx="0" cy="11430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ict native relationship"/>
          <p:cNvCxnSpPr/>
          <p:nvPr/>
        </p:nvCxnSpPr>
        <p:spPr>
          <a:xfrm flipH="1">
            <a:off x="4127500" y="2560538"/>
            <a:ext cx="1162050" cy="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ict native relationship"/>
          <p:cNvCxnSpPr/>
          <p:nvPr/>
        </p:nvCxnSpPr>
        <p:spPr>
          <a:xfrm>
            <a:off x="4127500" y="2560538"/>
            <a:ext cx="0" cy="71755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ict native relationship"/>
          <p:cNvCxnSpPr/>
          <p:nvPr/>
        </p:nvCxnSpPr>
        <p:spPr>
          <a:xfrm flipH="1">
            <a:off x="3070126" y="3278088"/>
            <a:ext cx="1057374" cy="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ict native relationship"/>
          <p:cNvCxnSpPr/>
          <p:nvPr/>
        </p:nvCxnSpPr>
        <p:spPr>
          <a:xfrm>
            <a:off x="6902450" y="2560538"/>
            <a:ext cx="1225550" cy="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ict native relationship"/>
          <p:cNvCxnSpPr/>
          <p:nvPr/>
        </p:nvCxnSpPr>
        <p:spPr>
          <a:xfrm>
            <a:off x="8128000" y="2560538"/>
            <a:ext cx="0" cy="71755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ict native relationship"/>
          <p:cNvCxnSpPr/>
          <p:nvPr/>
        </p:nvCxnSpPr>
        <p:spPr>
          <a:xfrm>
            <a:off x="8128000" y="3278088"/>
            <a:ext cx="1257300" cy="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15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" y="1385788"/>
            <a:ext cx="5543550" cy="2019498"/>
          </a:xfrm>
          <a:prstGeom prst="rect">
            <a:avLst/>
          </a:prstGeom>
        </p:spPr>
      </p:pic>
      <p:pic>
        <p:nvPicPr>
          <p:cNvPr id="5" name="Picture 4" descr="slide15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4250" y="1385788"/>
            <a:ext cx="5543550" cy="2019498"/>
          </a:xfrm>
          <a:prstGeom prst="rect">
            <a:avLst/>
          </a:prstGeom>
        </p:spPr>
      </p:pic>
      <p:pic>
        <p:nvPicPr>
          <p:cNvPr id="6" name="Picture 5" descr="slide15-deco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265587"/>
            <a:ext cx="10820400" cy="368300"/>
          </a:xfrm>
          <a:prstGeom prst="rect">
            <a:avLst/>
          </a:prstGeom>
        </p:spPr>
      </p:pic>
      <p:pic>
        <p:nvPicPr>
          <p:cNvPr id="7" name="Picture 6" descr="slide15-deco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722787"/>
            <a:ext cx="10820400" cy="2639913"/>
          </a:xfrm>
          <a:prstGeom prst="rect">
            <a:avLst/>
          </a:prstGeom>
        </p:spPr>
      </p:pic>
      <p:pic>
        <p:nvPicPr>
          <p:cNvPr id="8" name="Picture 7" descr="slide15-deco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850" y="4027587"/>
            <a:ext cx="3687167" cy="2449413"/>
          </a:xfrm>
          <a:prstGeom prst="rect">
            <a:avLst/>
          </a:prstGeom>
        </p:spPr>
      </p:pic>
      <p:pic>
        <p:nvPicPr>
          <p:cNvPr id="9" name="Picture 8" descr="slide15-deco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2317" y="4027587"/>
            <a:ext cx="3687266" cy="2449413"/>
          </a:xfrm>
          <a:prstGeom prst="rect">
            <a:avLst/>
          </a:prstGeom>
        </p:spPr>
      </p:pic>
      <p:pic>
        <p:nvPicPr>
          <p:cNvPr id="10" name="Picture 9" descr="slide15-deco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99884" y="4027587"/>
            <a:ext cx="3687266" cy="2449413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07C · PLATFORM NEWS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863600"/>
            <a:ext cx="10820400" cy="3697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模型和 Agent 从哪来：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Agent 用内置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Workflow 能外接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4550" y="1544538"/>
            <a:ext cx="1113929" cy="165100"/>
          </a:xfrm>
          <a:prstGeom prst="roundRect">
            <a:avLst>
              <a:gd name="adj" fmla="val 50000"/>
            </a:avLst>
          </a:prstGeom>
          <a:solidFill>
            <a:srgbClr val="3D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4550" y="1544538"/>
            <a:ext cx="1113929" cy="23114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10"/>
              </a:lnSpc>
            </a:pPr>
            <a:r>
              <a:rPr lang="en-US" sz="675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Copilot Studio ·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1979" y="1519138"/>
            <a:ext cx="106680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用平台内置的模型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550" y="1811238"/>
            <a:ext cx="50228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内置 frontier 模型 · 下拉框直接选，换模型不用重建 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550" y="1989038"/>
            <a:ext cx="1044377" cy="228600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4550" y="1989038"/>
            <a:ext cx="1044377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2B6FD8"/>
                </a:solidFill>
                <a:latin typeface="Segoe UI"/>
                <a:ea typeface="Noto Sans SC"/>
                <a:cs typeface="Segoe UI"/>
              </a:rPr>
              <a:t>OpenAI GPT-5 系列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39727" y="1989038"/>
            <a:ext cx="1630065" cy="228600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939727" y="1989038"/>
            <a:ext cx="1630065" cy="228600"/>
          </a:xfrm>
          <a:prstGeom prst="rect">
            <a:avLst/>
          </a:prstGeom>
          <a:noFill/>
        </p:spPr>
        <p:txBody>
          <a:bodyPr wrap="squar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2B6FD8"/>
                </a:solidFill>
                <a:latin typeface="Segoe UI"/>
                <a:ea typeface="Segoe UI"/>
                <a:cs typeface="Segoe UI"/>
              </a:rPr>
              <a:t>Anthropic Claude Sonnet · Opus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20591" y="1989038"/>
            <a:ext cx="594519" cy="228600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20591" y="1989038"/>
            <a:ext cx="594519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2B6FD8"/>
                </a:solidFill>
                <a:latin typeface="Segoe UI"/>
                <a:cs typeface="Segoe UI"/>
              </a:rPr>
              <a:t>xAI Grok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5910" y="1989038"/>
            <a:ext cx="512762" cy="228600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65910" y="1989038"/>
            <a:ext cx="512762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2B6FD8"/>
                </a:solidFill>
                <a:latin typeface="Segoe UI"/>
                <a:cs typeface="Segoe UI"/>
              </a:rPr>
              <a:t>Mistral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550" y="2306538"/>
            <a:ext cx="50228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按任务性质挑，不用自己调参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4550" y="2484338"/>
            <a:ext cx="915690" cy="343098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811040" y="2484338"/>
            <a:ext cx="1099840" cy="343098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961680" y="2484338"/>
            <a:ext cx="1007765" cy="343098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4550" y="2827437"/>
            <a:ext cx="5022850" cy="302260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900"/>
              </a:lnSpc>
            </a:pPr>
            <a:r>
              <a:rPr lang="zh-CN" sz="7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好处是省心：模型由平台托底，不用自己管部署、配额和版本升级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24600" y="1544538"/>
            <a:ext cx="1280220" cy="165100"/>
          </a:xfrm>
          <a:prstGeom prst="roundRect">
            <a:avLst>
              <a:gd name="adj" fmla="val 50000"/>
            </a:avLst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24600" y="1544538"/>
            <a:ext cx="1280220" cy="23114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10"/>
              </a:lnSpc>
            </a:pPr>
            <a:r>
              <a:rPr lang="en-US" sz="675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Copilot Studio · Workflow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68320" y="1519138"/>
            <a:ext cx="53340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能往外接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4600" y="1811238"/>
            <a:ext cx="50228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可连 Azure AI Foundry · 自带模型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24600" y="1989038"/>
            <a:ext cx="835025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4600" y="1989038"/>
            <a:ext cx="835025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7146CF"/>
                </a:solidFill>
                <a:latin typeface="Segoe UI"/>
                <a:ea typeface="Noto Sans SC"/>
                <a:cs typeface="Segoe UI"/>
              </a:rPr>
              <a:t>自己微调的部署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10425" y="1989038"/>
            <a:ext cx="717550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10425" y="1989038"/>
            <a:ext cx="717550" cy="228600"/>
          </a:xfrm>
          <a:prstGeom prst="rect">
            <a:avLst/>
          </a:prstGeom>
          <a:noFill/>
        </p:spPr>
        <p:txBody>
          <a:bodyPr wrap="squar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7146CF"/>
                </a:solidFill>
                <a:latin typeface="Segoe UI"/>
                <a:cs typeface="Segoe UI"/>
              </a:rPr>
              <a:t>Meta Llama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775" y="1989038"/>
            <a:ext cx="633016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978775" y="1989038"/>
            <a:ext cx="633016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7146CF"/>
                </a:solidFill>
                <a:latin typeface="Segoe UI"/>
                <a:cs typeface="Segoe UI"/>
              </a:rPr>
              <a:t>DeepSeek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62591" y="1989038"/>
            <a:ext cx="1148358" cy="228600"/>
          </a:xfrm>
          <a:prstGeom prst="rect">
            <a:avLst/>
          </a:prstGeom>
          <a:noFill/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662591" y="1989038"/>
            <a:ext cx="1148358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…Foundry 目录里更多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4600" y="2306538"/>
            <a:ext cx="50228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可连 1P / 3P Agent 与 MCP 工具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24600" y="2484338"/>
            <a:ext cx="801489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24600" y="2484338"/>
            <a:ext cx="801489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7146CF"/>
                </a:solidFill>
                <a:latin typeface="Segoe UI"/>
                <a:cs typeface="Segoe UI"/>
              </a:rPr>
              <a:t>M365 Copilot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76889" y="2484338"/>
            <a:ext cx="819547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176889" y="2484338"/>
            <a:ext cx="819547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7146CF"/>
                </a:solidFill>
                <a:latin typeface="Segoe UI"/>
                <a:cs typeface="Segoe UI"/>
              </a:rPr>
              <a:t>Dynamics 365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47236" y="2484338"/>
            <a:ext cx="768152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047236" y="2484338"/>
            <a:ext cx="768152" cy="228600"/>
          </a:xfrm>
          <a:prstGeom prst="rect">
            <a:avLst/>
          </a:prstGeom>
          <a:noFill/>
        </p:spPr>
        <p:txBody>
          <a:bodyPr wrap="squar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7146CF"/>
                </a:solidFill>
                <a:latin typeface="Segoe UI"/>
                <a:ea typeface="Noto Sans SC"/>
                <a:cs typeface="Segoe UI"/>
              </a:rPr>
              <a:t>第三方 Agent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866188" y="2484338"/>
            <a:ext cx="609501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866188" y="2484338"/>
            <a:ext cx="609501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7146CF"/>
                </a:solidFill>
                <a:latin typeface="Segoe UI"/>
                <a:ea typeface="Noto Sans SC"/>
                <a:cs typeface="Segoe UI"/>
              </a:rPr>
              <a:t>MCP 工具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24600" y="2827437"/>
            <a:ext cx="5022850" cy="302260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900"/>
              </a:lnSpc>
            </a:pPr>
            <a:r>
              <a:rPr lang="zh-CN" sz="7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要指定模型、接自研 Agent、串外部系统——都放进 Workflow 这一层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9150" y="3348137"/>
            <a:ext cx="203200" cy="203200"/>
          </a:xfrm>
          <a:prstGeom prst="rect">
            <a:avLst/>
          </a:prstGeom>
          <a:solidFill>
            <a:srgbClr val="159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19150" y="3348137"/>
            <a:ext cx="203200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24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◎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1250" y="3373438"/>
            <a:ext cx="7491016" cy="1524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01"/>
              </a:lnSpc>
            </a:pPr>
            <a:r>
              <a:rPr lang="zh-CN" sz="7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不管你选哪个模型，计费口径都是同一套</a:t>
            </a: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——统一按 Copilot Credits 结算，</a:t>
            </a:r>
            <a:r>
              <a:rPr lang="zh-CN" sz="7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不需要各家分别开账号、分别谈价、分别对账</a:t>
            </a: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；换模型只影响单价，不改变你的采购和分账方式。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150" y="3830737"/>
            <a:ext cx="10553700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30"/>
              </a:lnSpc>
            </a:pPr>
            <a:r>
              <a:rPr lang="zh-CN" sz="775" b="1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三个最常被问到的诉求 →</a:t>
            </a: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落在哪一层，一眼看清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27100" y="4898926"/>
            <a:ext cx="381695" cy="127595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27100" y="4898926"/>
            <a:ext cx="381695" cy="178633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805"/>
              </a:lnSpc>
            </a:pPr>
            <a:r>
              <a:rPr lang="zh-CN" sz="575" b="1" spc="34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诉求 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59595" y="4886226"/>
            <a:ext cx="2051050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9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「我们自己微调过一个模型，能不能用？」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7100" y="5094486"/>
            <a:ext cx="3242667" cy="2952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62"/>
              </a:lnSpc>
            </a:pPr>
            <a:r>
              <a:rPr lang="en-US" sz="75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能。挂在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Workflow 的模型节点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上，从 Azure AI Foundry 里选你自己的部署；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层不用动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，照旧用内置 frontier 模型。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474567" y="4898926"/>
            <a:ext cx="390128" cy="127595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474567" y="4898926"/>
            <a:ext cx="390128" cy="178633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805"/>
              </a:lnSpc>
            </a:pPr>
            <a:r>
              <a:rPr lang="zh-CN" sz="575" b="1" spc="34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诉求 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15495" y="4886226"/>
            <a:ext cx="2296418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9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「我们已经建了几个 Agent，不想推倒重来。」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74567" y="5094486"/>
            <a:ext cx="3242766" cy="2952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62"/>
              </a:lnSpc>
            </a:pPr>
            <a:r>
              <a:rPr lang="en-US" sz="75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不用重来。已有的 1P / 3P Agent 在 Workflow 里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当成一个节点直接调用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，M365 Copilot、Dynamics 365、自研 Agent 都算在内。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22134" y="4898926"/>
            <a:ext cx="390128" cy="127595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022134" y="4898926"/>
            <a:ext cx="390128" cy="178633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805"/>
              </a:lnSpc>
            </a:pPr>
            <a:r>
              <a:rPr lang="zh-CN" sz="575" b="1" spc="34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诉求 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63062" y="4886226"/>
            <a:ext cx="2054622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9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「我们有套内部系统，只有自己的 API。」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22134" y="5094486"/>
            <a:ext cx="3242766" cy="2952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62"/>
              </a:lnSpc>
            </a:pPr>
            <a:r>
              <a:rPr lang="en-US" sz="75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走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MCP 工具或自定义连接器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接进来，接完 Agent 和 Workflow 都能用，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只接一次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模型与 Connected agents（官方 · 以产品界面为准）</a:t>
            </a:r>
          </a:p>
        </p:txBody>
      </p:sp>
      <p:sp>
        <p:nvSpPr>
          <p:cNvPr id="73" name="Strict 15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15 / 30</a:t>
            </a:r>
          </a:p>
        </p:txBody>
      </p:sp>
      <p:sp>
        <p:nvSpPr>
          <p:cNvPr id="74" name="Strict General"/>
          <p:cNvSpPr txBox="1"/>
          <p:nvPr/>
        </p:nvSpPr>
        <p:spPr>
          <a:xfrm>
            <a:off x="908050" y="2503388"/>
            <a:ext cx="78869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B6FD8"/>
                </a:solidFill>
                <a:latin typeface="Segoe UI"/>
                <a:ea typeface="Microsoft YaHei"/>
              </a:rPr>
              <a:t>General</a:t>
            </a:r>
          </a:p>
        </p:txBody>
      </p:sp>
      <p:sp>
        <p:nvSpPr>
          <p:cNvPr id="75" name="Strict 日常问答 · 快而省"/>
          <p:cNvSpPr txBox="1"/>
          <p:nvPr/>
        </p:nvSpPr>
        <p:spPr>
          <a:xfrm>
            <a:off x="908050" y="2643088"/>
            <a:ext cx="78869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日常问答 · 快而省</a:t>
            </a:r>
          </a:p>
        </p:txBody>
      </p:sp>
      <p:sp>
        <p:nvSpPr>
          <p:cNvPr id="76" name="Strict Deep"/>
          <p:cNvSpPr txBox="1"/>
          <p:nvPr/>
        </p:nvSpPr>
        <p:spPr>
          <a:xfrm>
            <a:off x="1874540" y="2503388"/>
            <a:ext cx="97284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B6FD8"/>
                </a:solidFill>
                <a:latin typeface="Segoe UI"/>
                <a:ea typeface="Microsoft YaHei"/>
              </a:rPr>
              <a:t>Deep</a:t>
            </a:r>
          </a:p>
        </p:txBody>
      </p:sp>
      <p:sp>
        <p:nvSpPr>
          <p:cNvPr id="77" name="Strict 多步推理 · 长文档分析"/>
          <p:cNvSpPr txBox="1"/>
          <p:nvPr/>
        </p:nvSpPr>
        <p:spPr>
          <a:xfrm>
            <a:off x="1874540" y="2643088"/>
            <a:ext cx="97284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多步推理 · 长文档分析</a:t>
            </a:r>
          </a:p>
        </p:txBody>
      </p:sp>
      <p:sp>
        <p:nvSpPr>
          <p:cNvPr id="78" name="Strict Auto"/>
          <p:cNvSpPr txBox="1"/>
          <p:nvPr/>
        </p:nvSpPr>
        <p:spPr>
          <a:xfrm>
            <a:off x="3025180" y="2503388"/>
            <a:ext cx="880765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B6FD8"/>
                </a:solidFill>
                <a:latin typeface="Segoe UI"/>
                <a:ea typeface="Microsoft YaHei"/>
              </a:rPr>
              <a:t>Auto</a:t>
            </a:r>
          </a:p>
        </p:txBody>
      </p:sp>
      <p:sp>
        <p:nvSpPr>
          <p:cNvPr id="79" name="Strict 混合场景 · 自动路由"/>
          <p:cNvSpPr txBox="1"/>
          <p:nvPr/>
        </p:nvSpPr>
        <p:spPr>
          <a:xfrm>
            <a:off x="3025180" y="2643088"/>
            <a:ext cx="880765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混合场景 · 自动路由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ct PART 03 · CAPABILITIES"/>
          <p:cNvSpPr txBox="1"/>
          <p:nvPr/>
        </p:nvSpPr>
        <p:spPr>
          <a:xfrm>
            <a:off x="2667000" y="2346424"/>
            <a:ext cx="6858000" cy="260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FB6FF"/>
                </a:solidFill>
                <a:latin typeface="Segoe UI"/>
                <a:ea typeface="Microsoft YaHei"/>
              </a:rPr>
              <a:t>PART 03 · CAPABILITIES</a:t>
            </a:r>
          </a:p>
        </p:txBody>
      </p:sp>
      <p:sp>
        <p:nvSpPr>
          <p:cNvPr id="3" name="Strict 三件套能力：App · Agent · Work"/>
          <p:cNvSpPr txBox="1"/>
          <p:nvPr/>
        </p:nvSpPr>
        <p:spPr>
          <a:xfrm>
            <a:off x="2667000" y="2657574"/>
            <a:ext cx="6858000" cy="1005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三件套能力：App · Agent · Workflow</a:t>
            </a:r>
          </a:p>
        </p:txBody>
      </p:sp>
      <p:sp>
        <p:nvSpPr>
          <p:cNvPr id="4" name="Strict Agent 管判断、Workflow 管确定执行"/>
          <p:cNvSpPr txBox="1"/>
          <p:nvPr/>
        </p:nvSpPr>
        <p:spPr>
          <a:xfrm>
            <a:off x="3048000" y="3764459"/>
            <a:ext cx="6096000" cy="2644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7E1F5"/>
                </a:solidFill>
                <a:latin typeface="Segoe UI"/>
                <a:ea typeface="Microsoft YaHei"/>
              </a:rPr>
              <a:t>Agent 管判断、Workflow 管确定执行、App 管人机交互——逐个看它们新增了哪些本事。</a:t>
            </a:r>
          </a:p>
        </p:txBody>
      </p:sp>
      <p:sp>
        <p:nvSpPr>
          <p:cNvPr id="5" name="Chapter pill"/>
          <p:cNvSpPr/>
          <p:nvPr/>
        </p:nvSpPr>
        <p:spPr>
          <a:xfrm>
            <a:off x="3165177" y="4219377"/>
            <a:ext cx="1388467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trict Files · Agentic loop"/>
          <p:cNvSpPr txBox="1"/>
          <p:nvPr/>
        </p:nvSpPr>
        <p:spPr>
          <a:xfrm>
            <a:off x="3165177" y="4219377"/>
            <a:ext cx="1388467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Files · Agentic loop</a:t>
            </a:r>
          </a:p>
        </p:txBody>
      </p:sp>
      <p:sp>
        <p:nvSpPr>
          <p:cNvPr id="7" name="Chapter pill"/>
          <p:cNvSpPr/>
          <p:nvPr/>
        </p:nvSpPr>
        <p:spPr>
          <a:xfrm>
            <a:off x="4642545" y="4219377"/>
            <a:ext cx="1153319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trict App 一句话生成"/>
          <p:cNvSpPr txBox="1"/>
          <p:nvPr/>
        </p:nvSpPr>
        <p:spPr>
          <a:xfrm>
            <a:off x="4642545" y="4219377"/>
            <a:ext cx="1153319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App 一句话生成</a:t>
            </a:r>
          </a:p>
        </p:txBody>
      </p:sp>
      <p:sp>
        <p:nvSpPr>
          <p:cNvPr id="9" name="Chapter pill"/>
          <p:cNvSpPr/>
          <p:nvPr/>
        </p:nvSpPr>
        <p:spPr>
          <a:xfrm>
            <a:off x="5884763" y="4219377"/>
            <a:ext cx="1629966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trict Workflow 画布 + 新节点"/>
          <p:cNvSpPr txBox="1"/>
          <p:nvPr/>
        </p:nvSpPr>
        <p:spPr>
          <a:xfrm>
            <a:off x="5884763" y="4219377"/>
            <a:ext cx="1629966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Workflow 画布 + 新节点</a:t>
            </a:r>
          </a:p>
        </p:txBody>
      </p:sp>
      <p:sp>
        <p:nvSpPr>
          <p:cNvPr id="11" name="Chapter pill"/>
          <p:cNvSpPr/>
          <p:nvPr/>
        </p:nvSpPr>
        <p:spPr>
          <a:xfrm>
            <a:off x="7603629" y="4219377"/>
            <a:ext cx="1423095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trict vs Power Automate"/>
          <p:cNvSpPr txBox="1"/>
          <p:nvPr/>
        </p:nvSpPr>
        <p:spPr>
          <a:xfrm>
            <a:off x="7603629" y="4219377"/>
            <a:ext cx="1423095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vs Power Automate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7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71450"/>
          </a:xfrm>
          <a:prstGeom prst="rect">
            <a:avLst/>
          </a:prstGeom>
        </p:spPr>
      </p:pic>
      <p:pic>
        <p:nvPicPr>
          <p:cNvPr id="4" name="Picture 3" descr="slide17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341338"/>
            <a:ext cx="406400" cy="406400"/>
          </a:xfrm>
          <a:prstGeom prst="rect">
            <a:avLst/>
          </a:prstGeom>
        </p:spPr>
      </p:pic>
      <p:pic>
        <p:nvPicPr>
          <p:cNvPr id="5" name="Picture 4" descr="slide17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855688"/>
            <a:ext cx="406400" cy="406400"/>
          </a:xfrm>
          <a:prstGeom prst="rect">
            <a:avLst/>
          </a:prstGeom>
        </p:spPr>
      </p:pic>
      <p:pic>
        <p:nvPicPr>
          <p:cNvPr id="6" name="Picture 5" descr="slide17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370038"/>
            <a:ext cx="406400" cy="406400"/>
          </a:xfrm>
          <a:prstGeom prst="rect">
            <a:avLst/>
          </a:prstGeom>
        </p:spPr>
      </p:pic>
      <p:pic>
        <p:nvPicPr>
          <p:cNvPr id="7" name="Picture 6" descr="slide17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884388"/>
            <a:ext cx="406400" cy="406400"/>
          </a:xfrm>
          <a:prstGeom prst="rect">
            <a:avLst/>
          </a:prstGeom>
        </p:spPr>
      </p:pic>
      <p:pic>
        <p:nvPicPr>
          <p:cNvPr id="8" name="Picture 7" descr="slide17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99620" y="1619945"/>
            <a:ext cx="6835180" cy="3708400"/>
          </a:xfrm>
          <a:prstGeom prst="rect">
            <a:avLst/>
          </a:prstGeom>
        </p:spPr>
      </p:pic>
      <p:pic>
        <p:nvPicPr>
          <p:cNvPr id="9" name="Picture 8" descr="slide17-img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34570" y="1664395"/>
            <a:ext cx="6365280" cy="2984500"/>
          </a:xfrm>
          <a:prstGeom prst="rect">
            <a:avLst/>
          </a:prstGeom>
        </p:spPr>
      </p:pic>
      <p:pic>
        <p:nvPicPr>
          <p:cNvPr id="10" name="Picture 9" descr="slide17-deco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302151"/>
            <a:ext cx="10820400" cy="1060549"/>
          </a:xfrm>
          <a:prstGeom prst="rect">
            <a:avLst/>
          </a:prstGeom>
        </p:spPr>
      </p:pic>
      <p:pic>
        <p:nvPicPr>
          <p:cNvPr id="11" name="Picture 10" descr="slide17-deco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850" y="5587901"/>
            <a:ext cx="2705100" cy="625773"/>
          </a:xfrm>
          <a:prstGeom prst="rect">
            <a:avLst/>
          </a:prstGeom>
        </p:spPr>
      </p:pic>
      <p:pic>
        <p:nvPicPr>
          <p:cNvPr id="12" name="Picture 11" descr="slide17-deco1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97250" y="5587901"/>
            <a:ext cx="2705100" cy="625773"/>
          </a:xfrm>
          <a:prstGeom prst="rect">
            <a:avLst/>
          </a:prstGeom>
        </p:spPr>
      </p:pic>
      <p:pic>
        <p:nvPicPr>
          <p:cNvPr id="13" name="Picture 12" descr="slide17-deco1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89650" y="5587901"/>
            <a:ext cx="2705100" cy="625773"/>
          </a:xfrm>
          <a:prstGeom prst="rect">
            <a:avLst/>
          </a:prstGeom>
        </p:spPr>
      </p:pic>
      <p:pic>
        <p:nvPicPr>
          <p:cNvPr id="14" name="Picture 13" descr="slide17-deco1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82050" y="5587901"/>
            <a:ext cx="2705100" cy="625773"/>
          </a:xfrm>
          <a:prstGeom prst="rect">
            <a:avLst/>
          </a:prstGeom>
        </p:spPr>
      </p:pic>
      <p:cxnSp>
        <p:nvCxnSpPr>
          <p:cNvPr id="15" name="Connector 14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584200"/>
            <a:ext cx="461863" cy="171450"/>
          </a:xfrm>
          <a:prstGeom prst="roundRect">
            <a:avLst>
              <a:gd name="adj" fmla="val 50000"/>
            </a:avLst>
          </a:prstGeom>
          <a:solidFill>
            <a:srgbClr val="3D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584200"/>
            <a:ext cx="461863" cy="24003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40"/>
              </a:lnSpc>
            </a:pPr>
            <a:r>
              <a:rPr lang="en-US" sz="700" b="1" spc="28" dirty="0">
                <a:solidFill>
                  <a:srgbClr val="FFFFFF"/>
                </a:solidFill>
                <a:latin typeface="Segoe UI"/>
                <a:cs typeface="Segoe UI"/>
              </a:rPr>
              <a:t>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3863" y="587375"/>
            <a:ext cx="1431032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08 · AGENT · FILES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86995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Files 成一等公民：读懂文件只是第一步，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结果要能流进业务系统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13540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" y="1354038"/>
            <a:ext cx="63500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原生生成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9900" y="135721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39900" y="135721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1400" y="1595338"/>
            <a:ext cx="298202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直接产出 Word / Excel / PPT / PDF，不再只是回一段文字。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18683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" y="1868388"/>
            <a:ext cx="79375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大文件分析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98650" y="187156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898650" y="187156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1400" y="2109688"/>
            <a:ext cx="32004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专属容器吃得下整份大文件——上百页一次读完，不再逐段喂。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23827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1400" y="2382738"/>
            <a:ext cx="79375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跨文件比对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98650" y="238591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898650" y="238591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" y="2624038"/>
            <a:ext cx="32004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多份标书、附件、历史合同放在一起对，差异和风险一眼看出。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8970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1400" y="2897088"/>
            <a:ext cx="1132483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间传文件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37383" y="290026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237383" y="290026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1400" y="3138388"/>
            <a:ext cx="2881511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解析结果直接交给下一个 Agent 接着处理，形成流水线。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34570" y="4648895"/>
            <a:ext cx="6365280" cy="254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1" name="Connector 40"/>
          <p:cNvCxnSpPr/>
          <p:nvPr/>
        </p:nvCxnSpPr>
        <p:spPr>
          <a:xfrm>
            <a:off x="5134570" y="4648895"/>
            <a:ext cx="636528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134570" y="4648895"/>
            <a:ext cx="6365280" cy="355600"/>
          </a:xfrm>
          <a:prstGeom prst="rect">
            <a:avLst/>
          </a:prstGeom>
          <a:noFill/>
        </p:spPr>
        <p:txBody>
          <a:bodyPr wrap="none" lIns="101600" tIns="63500" rIns="101600" bIns="63500" anchor="t"/>
          <a:lstStyle/>
          <a:p>
            <a:pPr algn="l">
              <a:lnSpc>
                <a:spcPts val="840"/>
              </a:lnSpc>
            </a:pP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真实产品界面 · 一份 140 页招标文件被自动拆成</a:t>
            </a:r>
            <a:r>
              <a:rPr lang="zh-CN" sz="700" b="1" dirty="0">
                <a:solidFill>
                  <a:srgbClr val="2B6FD8"/>
                </a:solidFill>
                <a:latin typeface="Segoe UI"/>
                <a:ea typeface="Noto Sans SC"/>
                <a:cs typeface="Segoe UI"/>
              </a:rPr>
              <a:t> 9 大模块 / 198 条发现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，每条都挂风险标签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150" y="5391051"/>
            <a:ext cx="10553700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30"/>
              </a:lnSpc>
            </a:pPr>
            <a:r>
              <a:rPr lang="zh-CN" sz="7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但重点不是「能读文件」→</a:t>
            </a: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而是读完之后，结果</a:t>
            </a:r>
            <a:r>
              <a:rPr lang="zh-CN" sz="7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能自己往下走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" y="5587901"/>
            <a:ext cx="2476500" cy="397173"/>
          </a:xfrm>
          <a:prstGeom prst="rect">
            <a:avLst/>
          </a:prstGeom>
          <a:noFill/>
        </p:spPr>
        <p:txBody>
          <a:bodyPr wrap="square" lIns="82550" tIns="63500" rIns="82550" bIns="6350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文件进来</a:t>
            </a:r>
            <a:br>
              <a:rPr sz="800"/>
            </a:br>
            <a:r>
              <a:rPr lang="zh-CN" sz="6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合同 · 发票 · 标书 · 报表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21050" y="5697538"/>
            <a:ext cx="16510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200"/>
              </a:lnSpc>
            </a:pPr>
            <a:r>
              <a:rPr lang="en-US" sz="100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11550" y="5587901"/>
            <a:ext cx="2476500" cy="397173"/>
          </a:xfrm>
          <a:prstGeom prst="rect">
            <a:avLst/>
          </a:prstGeom>
          <a:noFill/>
        </p:spPr>
        <p:txBody>
          <a:bodyPr wrap="square" lIns="82550" tIns="63500" rIns="82550" bIns="6350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读并判断</a:t>
            </a:r>
            <a:br>
              <a:rPr sz="800"/>
            </a:br>
            <a:r>
              <a:rPr lang="zh-CN" sz="6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抽字段、比差异、定风险等级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3450" y="5697538"/>
            <a:ext cx="16510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200"/>
              </a:lnSpc>
            </a:pPr>
            <a:r>
              <a:rPr lang="en-US" sz="100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03950" y="5587901"/>
            <a:ext cx="2476500" cy="397173"/>
          </a:xfrm>
          <a:prstGeom prst="rect">
            <a:avLst/>
          </a:prstGeom>
          <a:noFill/>
        </p:spPr>
        <p:txBody>
          <a:bodyPr wrap="square" lIns="82550" tIns="63500" rIns="82550" bIns="6350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Workflow 写进系统</a:t>
            </a:r>
            <a:br>
              <a:rPr sz="800"/>
            </a:br>
            <a:r>
              <a:rPr lang="zh-CN" sz="6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回写 SAP / Dataverse，发起审批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05850" y="5697538"/>
            <a:ext cx="16510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200"/>
              </a:lnSpc>
            </a:pPr>
            <a:r>
              <a:rPr lang="en-US" sz="100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96350" y="5587901"/>
            <a:ext cx="2476500" cy="397173"/>
          </a:xfrm>
          <a:prstGeom prst="rect">
            <a:avLst/>
          </a:prstGeom>
          <a:noFill/>
        </p:spPr>
        <p:txBody>
          <a:bodyPr wrap="square" lIns="82550" tIns="63500" rIns="82550" bIns="6350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App 让人拍板</a:t>
            </a:r>
            <a:br>
              <a:rPr sz="800"/>
            </a:br>
            <a:r>
              <a:rPr lang="zh-CN" sz="6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只看异常项，点确认或退回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19150" y="6054923"/>
            <a:ext cx="10553700" cy="0"/>
          </a:xfrm>
          <a:prstGeom prst="line">
            <a:avLst/>
          </a:prstGeom>
          <a:ln w="6350">
            <a:solidFill>
              <a:srgbClr val="2B7FFF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19150" y="6054923"/>
            <a:ext cx="10553700" cy="212527"/>
          </a:xfrm>
          <a:prstGeom prst="rect">
            <a:avLst/>
          </a:prstGeom>
          <a:noFill/>
        </p:spPr>
        <p:txBody>
          <a:bodyPr wrap="square" lIns="0" tIns="63500" rIns="0" bIns="0" anchor="t"/>
          <a:lstStyle/>
          <a:p>
            <a:pPr algn="l">
              <a:lnSpc>
                <a:spcPts val="1124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差别在哪？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只做到「读懂文件」，产出还是一段要人复制粘贴的文字；</a:t>
            </a: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接上 Workflow 和 App，它才真正接管了一段流程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——这也是我们把 Files 做成一等公民、而不是一个附加功能的原因。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Files · 真实产品界面（RFP 审阅场景）</a:t>
            </a:r>
          </a:p>
        </p:txBody>
      </p:sp>
      <p:sp>
        <p:nvSpPr>
          <p:cNvPr id="54" name="Strict 17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7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71450"/>
          </a:xfrm>
          <a:prstGeom prst="rect">
            <a:avLst/>
          </a:prstGeom>
        </p:spPr>
      </p:pic>
      <p:pic>
        <p:nvPicPr>
          <p:cNvPr id="4" name="Picture 3" descr="slide18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54038"/>
            <a:ext cx="11277600" cy="4838700"/>
          </a:xfrm>
          <a:prstGeom prst="rect">
            <a:avLst/>
          </a:prstGeom>
        </p:spPr>
      </p:pic>
      <p:pic>
        <p:nvPicPr>
          <p:cNvPr id="5" name="Picture 4" descr="slide18-img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50" y="1398488"/>
            <a:ext cx="10807700" cy="3937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584200"/>
            <a:ext cx="461863" cy="171450"/>
          </a:xfrm>
          <a:prstGeom prst="roundRect">
            <a:avLst>
              <a:gd name="adj" fmla="val 50000"/>
            </a:avLst>
          </a:prstGeom>
          <a:solidFill>
            <a:srgbClr val="3D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584200"/>
            <a:ext cx="461863" cy="24003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40"/>
              </a:lnSpc>
            </a:pPr>
            <a:r>
              <a:rPr lang="en-US" sz="700" b="1" spc="28" dirty="0">
                <a:solidFill>
                  <a:srgbClr val="FFFFFF"/>
                </a:solidFill>
                <a:latin typeface="Segoe UI"/>
                <a:cs typeface="Segoe UI"/>
              </a:rPr>
              <a:t>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3863" y="587375"/>
            <a:ext cx="1866404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zh-CN" sz="950" b="1" spc="152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08B · AGENT · FILES 实拍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86995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再往前一步：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多份标书一起比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，直接给出优先级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2150" y="5335488"/>
            <a:ext cx="10807700" cy="254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692150" y="5335488"/>
            <a:ext cx="108077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2150" y="5335488"/>
            <a:ext cx="10807700" cy="355600"/>
          </a:xfrm>
          <a:prstGeom prst="rect">
            <a:avLst/>
          </a:prstGeom>
          <a:noFill/>
        </p:spPr>
        <p:txBody>
          <a:bodyPr wrap="none" lIns="101600" tIns="63500" rIns="101600" bIns="63500" anchor="t"/>
          <a:lstStyle/>
          <a:p>
            <a:pPr algn="l">
              <a:lnSpc>
                <a:spcPts val="840"/>
              </a:lnSpc>
            </a:pP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多份文档的高风险项与置信度一屏看全 · 人只做最后判断：</a:t>
            </a:r>
            <a:r>
              <a:rPr lang="zh-CN" sz="700" b="1" dirty="0">
                <a:solidFill>
                  <a:srgbClr val="2B6FD8"/>
                </a:solidFill>
                <a:latin typeface="Segoe UI"/>
                <a:ea typeface="Noto Sans SC"/>
                <a:cs typeface="Segoe UI"/>
              </a:rPr>
              <a:t>确认高风险、拍板取舍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875238"/>
            <a:ext cx="10820400" cy="0"/>
          </a:xfrm>
          <a:prstGeom prst="line">
            <a:avLst/>
          </a:prstGeom>
          <a:ln w="6350">
            <a:solidFill>
              <a:srgbClr val="2B7FFF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875238"/>
            <a:ext cx="10820400" cy="212527"/>
          </a:xfrm>
          <a:prstGeom prst="rect">
            <a:avLst/>
          </a:prstGeom>
          <a:noFill/>
        </p:spPr>
        <p:txBody>
          <a:bodyPr wrap="square" lIns="0" tIns="63500" rIns="0" bIns="0" anchor="t"/>
          <a:lstStyle/>
          <a:p>
            <a:pPr algn="l">
              <a:lnSpc>
                <a:spcPts val="1124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价值在这里 →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过去这一步要法务或售前</a:t>
            </a: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逐页人肉啃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，一份标书两三天；现在 Agent 先把风险项挑出来排好优先级，</a:t>
            </a: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人只需要在已经收敛的清单上做判断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70650"/>
            <a:ext cx="2157313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场景示例 · RFP / 招标文件审阅 · 真实产品界面</a:t>
            </a:r>
          </a:p>
        </p:txBody>
      </p:sp>
      <p:sp>
        <p:nvSpPr>
          <p:cNvPr id="17" name="Strict 18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7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71450"/>
          </a:xfrm>
          <a:prstGeom prst="rect">
            <a:avLst/>
          </a:prstGeom>
        </p:spPr>
      </p:pic>
      <p:pic>
        <p:nvPicPr>
          <p:cNvPr id="4" name="Picture 3" descr="slide19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506438"/>
            <a:ext cx="406400" cy="406400"/>
          </a:xfrm>
          <a:prstGeom prst="rect">
            <a:avLst/>
          </a:prstGeom>
        </p:spPr>
      </p:pic>
      <p:pic>
        <p:nvPicPr>
          <p:cNvPr id="5" name="Picture 4" descr="slide19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084288"/>
            <a:ext cx="406400" cy="406400"/>
          </a:xfrm>
          <a:prstGeom prst="rect">
            <a:avLst/>
          </a:prstGeom>
        </p:spPr>
      </p:pic>
      <p:pic>
        <p:nvPicPr>
          <p:cNvPr id="6" name="Picture 5" descr="slide17-deco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833588"/>
            <a:ext cx="406400" cy="406400"/>
          </a:xfrm>
          <a:prstGeom prst="rect">
            <a:avLst/>
          </a:prstGeom>
        </p:spPr>
      </p:pic>
      <p:pic>
        <p:nvPicPr>
          <p:cNvPr id="7" name="Picture 6" descr="slide19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3411438"/>
            <a:ext cx="406400" cy="406400"/>
          </a:xfrm>
          <a:prstGeom prst="rect">
            <a:avLst/>
          </a:prstGeom>
        </p:spPr>
      </p:pic>
      <p:pic>
        <p:nvPicPr>
          <p:cNvPr id="8" name="Picture 7" descr="slide19-img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6320" y="1502470"/>
            <a:ext cx="6339880" cy="47498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584200"/>
            <a:ext cx="461863" cy="171450"/>
          </a:xfrm>
          <a:prstGeom prst="roundRect">
            <a:avLst>
              <a:gd name="adj" fmla="val 50000"/>
            </a:avLst>
          </a:prstGeom>
          <a:solidFill>
            <a:srgbClr val="3D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584200"/>
            <a:ext cx="461863" cy="24003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40"/>
              </a:lnSpc>
            </a:pPr>
            <a:r>
              <a:rPr lang="en-US" sz="700" b="1" spc="28" dirty="0">
                <a:solidFill>
                  <a:srgbClr val="FFFFFF"/>
                </a:solidFill>
                <a:latin typeface="Segoe UI"/>
                <a:cs typeface="Segoe UI"/>
              </a:rP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3863" y="587375"/>
            <a:ext cx="2158107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08 · AGENT · AGENTIC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86995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Agentic loop：让 Agent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 边想边调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，直到把活干完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5191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400" y="1519138"/>
            <a:ext cx="95250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自己规划步骤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57400" y="1522313"/>
            <a:ext cx="886619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57400" y="1522313"/>
            <a:ext cx="886619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 08/2026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" y="1760438"/>
            <a:ext cx="30861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拿到任务先想清楚要几步、先做哪一步，而不是一次性硬答。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0969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1400" y="2096988"/>
            <a:ext cx="95250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工具挑得更准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210016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057400" y="210016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" y="2338288"/>
            <a:ext cx="3870920" cy="4457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选哪个工具、参数怎么填、指令怎么遵守，都比 Standard harness 明显更准。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8462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2846288"/>
            <a:ext cx="111125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递归执行到完成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16150" y="284946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216150" y="284946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" y="3087588"/>
            <a:ext cx="32004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一轮不够就再来一轮，拿到中间结果继续推进，直到目标达成。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4241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400" y="3424138"/>
            <a:ext cx="162937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Hooks 插入自定义检查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34270" y="3427313"/>
            <a:ext cx="589657" cy="209550"/>
          </a:xfrm>
          <a:prstGeom prst="rect">
            <a:avLst/>
          </a:prstGeom>
          <a:solidFill>
            <a:srgbClr val="FFCF5C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34270" y="3427313"/>
            <a:ext cx="589657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C07514"/>
                </a:solidFill>
                <a:latin typeface="Segoe UI"/>
                <a:cs typeface="Segoe UI"/>
              </a:rPr>
              <a:t>Preview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1400" y="3665438"/>
            <a:ext cx="25146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在关键节点插入你自己的校验、日志或安全扫描。</a:t>
            </a:r>
          </a:p>
        </p:txBody>
      </p:sp>
      <p:sp>
        <p:nvSpPr>
          <p:cNvPr id="34" name="Strict 19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7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71450"/>
          </a:xfrm>
          <a:prstGeom prst="rect">
            <a:avLst/>
          </a:prstGeom>
        </p:spPr>
      </p:pic>
      <p:pic>
        <p:nvPicPr>
          <p:cNvPr id="4" name="Picture 3" descr="slide19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506438"/>
            <a:ext cx="406400" cy="406400"/>
          </a:xfrm>
          <a:prstGeom prst="rect">
            <a:avLst/>
          </a:prstGeom>
        </p:spPr>
      </p:pic>
      <p:pic>
        <p:nvPicPr>
          <p:cNvPr id="5" name="Picture 4" descr="slide19-deco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255738"/>
            <a:ext cx="406400" cy="406400"/>
          </a:xfrm>
          <a:prstGeom prst="rect">
            <a:avLst/>
          </a:prstGeom>
        </p:spPr>
      </p:pic>
      <p:pic>
        <p:nvPicPr>
          <p:cNvPr id="6" name="Picture 5" descr="slide17-deco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833588"/>
            <a:ext cx="406400" cy="406400"/>
          </a:xfrm>
          <a:prstGeom prst="rect">
            <a:avLst/>
          </a:prstGeom>
        </p:spPr>
      </p:pic>
      <p:pic>
        <p:nvPicPr>
          <p:cNvPr id="7" name="Picture 6" descr="slide17-deco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582888"/>
            <a:ext cx="406400" cy="406400"/>
          </a:xfrm>
          <a:prstGeom prst="rect">
            <a:avLst/>
          </a:prstGeom>
        </p:spPr>
      </p:pic>
      <p:pic>
        <p:nvPicPr>
          <p:cNvPr id="8" name="Picture 7" descr="slide20-img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6320" y="2078335"/>
            <a:ext cx="6339880" cy="3598069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584200"/>
            <a:ext cx="369391" cy="171450"/>
          </a:xfrm>
          <a:prstGeom prst="roundRect">
            <a:avLst>
              <a:gd name="adj" fmla="val 50000"/>
            </a:avLst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584200"/>
            <a:ext cx="369391" cy="24003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40"/>
              </a:lnSpc>
            </a:pPr>
            <a:r>
              <a:rPr lang="en-US" sz="700" b="1" spc="28" dirty="0">
                <a:solidFill>
                  <a:srgbClr val="FFFFFF"/>
                </a:solidFill>
                <a:latin typeface="Segoe UI"/>
                <a:cs typeface="Segoe UI"/>
              </a:rPr>
              <a:t>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1391" y="587375"/>
            <a:ext cx="748705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09C ·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86995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App：说一句话，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生成一个能用的应用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5191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400" y="1519138"/>
            <a:ext cx="79375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一句话生成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8650" y="1522313"/>
            <a:ext cx="1251645" cy="209550"/>
          </a:xfrm>
          <a:prstGeom prst="rect">
            <a:avLst/>
          </a:prstGeom>
          <a:solidFill>
            <a:srgbClr val="FFCF5C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98650" y="1522313"/>
            <a:ext cx="1251645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C07514"/>
                </a:solidFill>
                <a:latin typeface="Segoe UI"/>
                <a:cs typeface="Segoe UI"/>
              </a:rPr>
              <a:t>Preview 08/2026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" y="1760438"/>
            <a:ext cx="4064000" cy="4457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"帮我建一个入职引导 App"——屏幕、数据、逻辑一起生成，1 分多钟出结果。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2684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1400" y="2268438"/>
            <a:ext cx="3562449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懂你的公司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" y="2509738"/>
            <a:ext cx="3562449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通过 Work IQ 拿到组织的人、内容和流程上下文，不是一个空壳模板。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8462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" y="2846288"/>
            <a:ext cx="387092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连得上业务系统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1400" y="3087588"/>
            <a:ext cx="3870920" cy="3429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连 Agent、Workflow 和 1,500+ connectors，也能调用发布成 MCP 的</a:t>
            </a:r>
            <a:br>
              <a:rPr sz="900"/>
            </a:b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agent。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5955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" y="3595588"/>
            <a:ext cx="387092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托管宿主里企业级部署治理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1400" y="3836888"/>
            <a:ext cx="3870920" cy="3429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建好的 App 在 managed host 里部署、运行、治理；右图左下角就写着"用了</a:t>
            </a:r>
            <a:br>
              <a:rPr sz="900"/>
            </a:b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200 credits"，成本当场透明。</a:t>
            </a:r>
          </a:p>
        </p:txBody>
      </p:sp>
      <p:sp>
        <p:nvSpPr>
          <p:cNvPr id="28" name="Strict 20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flow badge"/>
          <p:cNvSpPr/>
          <p:nvPr/>
        </p:nvSpPr>
        <p:spPr>
          <a:xfrm>
            <a:off x="685800" y="508000"/>
            <a:ext cx="787400" cy="203200"/>
          </a:xfrm>
          <a:prstGeom prst="roundRect">
            <a:avLst>
              <a:gd name="adj" fmla="val 20000"/>
            </a:avLst>
          </a:prstGeom>
          <a:solidFill>
            <a:srgbClr val="168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trict Workflow"/>
          <p:cNvSpPr txBox="1"/>
          <p:nvPr/>
        </p:nvSpPr>
        <p:spPr>
          <a:xfrm>
            <a:off x="685800" y="508000"/>
            <a:ext cx="787400" cy="20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"/>
                <a:ea typeface="Microsoft YaHei"/>
              </a:rPr>
              <a:t>Workflow</a:t>
            </a:r>
          </a:p>
        </p:txBody>
      </p:sp>
      <p:sp>
        <p:nvSpPr>
          <p:cNvPr id="4" name="Strict 09 · WORKFLOW"/>
          <p:cNvSpPr txBox="1"/>
          <p:nvPr/>
        </p:nvSpPr>
        <p:spPr>
          <a:xfrm>
            <a:off x="1574800" y="520700"/>
            <a:ext cx="53975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869E8"/>
                </a:solidFill>
                <a:latin typeface="Segoe UI"/>
                <a:ea typeface="Microsoft YaHei"/>
              </a:rPr>
              <a:t>09 · WORKFLOW</a:t>
            </a:r>
          </a:p>
        </p:txBody>
      </p:sp>
      <p:sp>
        <p:nvSpPr>
          <p:cNvPr id="5" name="Strict Workflow：AI 判断，确定流程负责执行"/>
          <p:cNvSpPr txBox="1"/>
          <p:nvPr/>
        </p:nvSpPr>
        <p:spPr>
          <a:xfrm>
            <a:off x="685800" y="876300"/>
            <a:ext cx="108204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B2030"/>
                </a:solidFill>
                <a:latin typeface="Segoe UI"/>
                <a:ea typeface="Microsoft YaHei"/>
              </a:rPr>
              <a:t>Workflow：AI 判断，确定流程负责执行</a:t>
            </a:r>
          </a:p>
        </p:txBody>
      </p:sp>
      <p:sp>
        <p:nvSpPr>
          <p:cNvPr id="6" name="Strict 以发票分类为例：提取信息 → 判断情况 → 走到"/>
          <p:cNvSpPr txBox="1"/>
          <p:nvPr/>
        </p:nvSpPr>
        <p:spPr>
          <a:xfrm>
            <a:off x="698500" y="1384300"/>
            <a:ext cx="1066800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77B"/>
                </a:solidFill>
                <a:latin typeface="Segoe UI"/>
                <a:ea typeface="Microsoft YaHei"/>
              </a:rPr>
              <a:t>以发票分类为例：提取信息 → 判断情况 → 走到对应结果。</a:t>
            </a:r>
          </a:p>
        </p:txBody>
      </p:sp>
      <p:cxnSp>
        <p:nvCxnSpPr>
          <p:cNvPr id="7" name="Workflow connection"/>
          <p:cNvCxnSpPr/>
          <p:nvPr/>
        </p:nvCxnSpPr>
        <p:spPr>
          <a:xfrm>
            <a:off x="685800" y="6343650"/>
            <a:ext cx="10820400" cy="0"/>
          </a:xfrm>
          <a:prstGeom prst="line">
            <a:avLst/>
          </a:prstGeom>
          <a:ln w="13970">
            <a:solidFill>
              <a:srgbClr val="D6DD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rict 来源 · Copilot Studio · Le"/>
          <p:cNvSpPr txBox="1"/>
          <p:nvPr/>
        </p:nvSpPr>
        <p:spPr>
          <a:xfrm>
            <a:off x="685800" y="6464300"/>
            <a:ext cx="9588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9677B"/>
                </a:solidFill>
                <a:latin typeface="Segoe UI"/>
                <a:ea typeface="Microsoft YaHei"/>
              </a:rPr>
              <a:t>来源 · Copilot Studio · Level Up 2026-08 · 官方素材中文重制</a:t>
            </a:r>
          </a:p>
        </p:txBody>
      </p:sp>
      <p:sp>
        <p:nvSpPr>
          <p:cNvPr id="9" name="Strict 21 / 30"/>
          <p:cNvSpPr txBox="1"/>
          <p:nvPr/>
        </p:nvSpPr>
        <p:spPr>
          <a:xfrm>
            <a:off x="10807700" y="6464300"/>
            <a:ext cx="69850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2030"/>
                </a:solidFill>
                <a:latin typeface="Segoe UI"/>
                <a:ea typeface="Microsoft YaHei"/>
              </a:rPr>
              <a:t>21 / 30</a:t>
            </a:r>
          </a:p>
        </p:txBody>
      </p:sp>
      <p:cxnSp>
        <p:nvCxnSpPr>
          <p:cNvPr id="10" name="Workflow connection"/>
          <p:cNvCxnSpPr/>
          <p:nvPr/>
        </p:nvCxnSpPr>
        <p:spPr>
          <a:xfrm>
            <a:off x="2146300" y="3048000"/>
            <a:ext cx="0" cy="44450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Workflow connection"/>
          <p:cNvCxnSpPr/>
          <p:nvPr/>
        </p:nvCxnSpPr>
        <p:spPr>
          <a:xfrm>
            <a:off x="2146300" y="4229100"/>
            <a:ext cx="0" cy="44450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Workflow connection"/>
          <p:cNvCxnSpPr/>
          <p:nvPr/>
        </p:nvCxnSpPr>
        <p:spPr>
          <a:xfrm>
            <a:off x="3352800" y="5041900"/>
            <a:ext cx="787400" cy="0"/>
          </a:xfrm>
          <a:prstGeom prst="line">
            <a:avLst/>
          </a:prstGeom>
          <a:ln w="13970">
            <a:solidFill>
              <a:srgbClr val="A8B6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Workflow connection"/>
          <p:cNvCxnSpPr/>
          <p:nvPr/>
        </p:nvCxnSpPr>
        <p:spPr>
          <a:xfrm>
            <a:off x="4140200" y="2679700"/>
            <a:ext cx="0" cy="2362200"/>
          </a:xfrm>
          <a:prstGeom prst="line">
            <a:avLst/>
          </a:prstGeom>
          <a:ln w="13970">
            <a:solidFill>
              <a:srgbClr val="A8B6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Workflow connection"/>
          <p:cNvCxnSpPr/>
          <p:nvPr/>
        </p:nvCxnSpPr>
        <p:spPr>
          <a:xfrm>
            <a:off x="4140200" y="2679700"/>
            <a:ext cx="8382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Workflow connection"/>
          <p:cNvCxnSpPr/>
          <p:nvPr/>
        </p:nvCxnSpPr>
        <p:spPr>
          <a:xfrm>
            <a:off x="7569200" y="2679700"/>
            <a:ext cx="12446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Workflow connection"/>
          <p:cNvCxnSpPr/>
          <p:nvPr/>
        </p:nvCxnSpPr>
        <p:spPr>
          <a:xfrm>
            <a:off x="4140200" y="3860800"/>
            <a:ext cx="8382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Workflow connection"/>
          <p:cNvCxnSpPr/>
          <p:nvPr/>
        </p:nvCxnSpPr>
        <p:spPr>
          <a:xfrm>
            <a:off x="7569200" y="3860800"/>
            <a:ext cx="12446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Workflow connection"/>
          <p:cNvCxnSpPr/>
          <p:nvPr/>
        </p:nvCxnSpPr>
        <p:spPr>
          <a:xfrm>
            <a:off x="4140200" y="5041900"/>
            <a:ext cx="8382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Workflow connection"/>
          <p:cNvCxnSpPr/>
          <p:nvPr/>
        </p:nvCxnSpPr>
        <p:spPr>
          <a:xfrm>
            <a:off x="7569200" y="5041900"/>
            <a:ext cx="12446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Strict 01   输入与分类"/>
          <p:cNvSpPr txBox="1"/>
          <p:nvPr/>
        </p:nvSpPr>
        <p:spPr>
          <a:xfrm>
            <a:off x="939800" y="1892300"/>
            <a:ext cx="260350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869E8"/>
                </a:solidFill>
                <a:latin typeface="Segoe UI"/>
                <a:ea typeface="Microsoft YaHei"/>
              </a:rPr>
              <a:t>01   输入与分类</a:t>
            </a:r>
          </a:p>
        </p:txBody>
      </p:sp>
      <p:sp>
        <p:nvSpPr>
          <p:cNvPr id="21" name="Strict 02   Agent 按情况判断"/>
          <p:cNvSpPr txBox="1"/>
          <p:nvPr/>
        </p:nvSpPr>
        <p:spPr>
          <a:xfrm>
            <a:off x="4978400" y="1892300"/>
            <a:ext cx="260350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856D8"/>
                </a:solidFill>
                <a:latin typeface="Segoe UI"/>
                <a:ea typeface="Microsoft YaHei"/>
              </a:rPr>
              <a:t>02   Agent 按情况判断</a:t>
            </a:r>
          </a:p>
        </p:txBody>
      </p:sp>
      <p:sp>
        <p:nvSpPr>
          <p:cNvPr id="22" name="Strict 03   流程交付结果"/>
          <p:cNvSpPr txBox="1"/>
          <p:nvPr/>
        </p:nvSpPr>
        <p:spPr>
          <a:xfrm>
            <a:off x="8813800" y="1892300"/>
            <a:ext cx="260350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8C58"/>
                </a:solidFill>
                <a:latin typeface="Segoe UI"/>
                <a:ea typeface="Microsoft YaHei"/>
              </a:rPr>
              <a:t>03   流程交付结果</a:t>
            </a:r>
          </a:p>
        </p:txBody>
      </p:sp>
      <p:sp>
        <p:nvSpPr>
          <p:cNvPr id="23" name="Workflow node 发票邮件到达"/>
          <p:cNvSpPr/>
          <p:nvPr/>
        </p:nvSpPr>
        <p:spPr>
          <a:xfrm>
            <a:off x="939800" y="2311400"/>
            <a:ext cx="24130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Node accent"/>
          <p:cNvSpPr/>
          <p:nvPr/>
        </p:nvSpPr>
        <p:spPr>
          <a:xfrm>
            <a:off x="939800" y="2451100"/>
            <a:ext cx="31750" cy="457200"/>
          </a:xfrm>
          <a:prstGeom prst="roundRect">
            <a:avLst>
              <a:gd name="adj" fmla="val 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Node index"/>
          <p:cNvSpPr/>
          <p:nvPr/>
        </p:nvSpPr>
        <p:spPr>
          <a:xfrm>
            <a:off x="1104900" y="2463800"/>
            <a:ext cx="266700" cy="266700"/>
          </a:xfrm>
          <a:prstGeom prst="roundRect">
            <a:avLst>
              <a:gd name="adj" fmla="val 2000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trict 01"/>
          <p:cNvSpPr txBox="1"/>
          <p:nvPr/>
        </p:nvSpPr>
        <p:spPr>
          <a:xfrm>
            <a:off x="1104900" y="246380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27" name="Strict 发票邮件到达"/>
          <p:cNvSpPr txBox="1"/>
          <p:nvPr/>
        </p:nvSpPr>
        <p:spPr>
          <a:xfrm>
            <a:off x="1466850" y="244475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发票邮件到达</a:t>
            </a:r>
          </a:p>
        </p:txBody>
      </p:sp>
      <p:sp>
        <p:nvSpPr>
          <p:cNvPr id="28" name="Strict 收到发票邮件，触发流程"/>
          <p:cNvSpPr txBox="1"/>
          <p:nvPr/>
        </p:nvSpPr>
        <p:spPr>
          <a:xfrm>
            <a:off x="1466850" y="271780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收到发票邮件，触发流程</a:t>
            </a:r>
          </a:p>
        </p:txBody>
      </p:sp>
      <p:sp>
        <p:nvSpPr>
          <p:cNvPr id="29" name="Workflow node Extract · 提取字段"/>
          <p:cNvSpPr/>
          <p:nvPr/>
        </p:nvSpPr>
        <p:spPr>
          <a:xfrm>
            <a:off x="939800" y="3492500"/>
            <a:ext cx="24130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Node accent"/>
          <p:cNvSpPr/>
          <p:nvPr/>
        </p:nvSpPr>
        <p:spPr>
          <a:xfrm>
            <a:off x="939800" y="3632200"/>
            <a:ext cx="31750" cy="457200"/>
          </a:xfrm>
          <a:prstGeom prst="roundRect">
            <a:avLst>
              <a:gd name="adj" fmla="val 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Node index"/>
          <p:cNvSpPr/>
          <p:nvPr/>
        </p:nvSpPr>
        <p:spPr>
          <a:xfrm>
            <a:off x="1104900" y="3644900"/>
            <a:ext cx="266700" cy="266700"/>
          </a:xfrm>
          <a:prstGeom prst="roundRect">
            <a:avLst>
              <a:gd name="adj" fmla="val 2000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trict 02"/>
          <p:cNvSpPr txBox="1"/>
          <p:nvPr/>
        </p:nvSpPr>
        <p:spPr>
          <a:xfrm>
            <a:off x="1104900" y="364490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33" name="Strict Extract · 提取字段"/>
          <p:cNvSpPr txBox="1"/>
          <p:nvPr/>
        </p:nvSpPr>
        <p:spPr>
          <a:xfrm>
            <a:off x="1466850" y="362585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Extract · 提取字段</a:t>
            </a:r>
          </a:p>
        </p:txBody>
      </p:sp>
      <p:sp>
        <p:nvSpPr>
          <p:cNvPr id="34" name="Strict 从 PDF 读取金额、类别、日期"/>
          <p:cNvSpPr txBox="1"/>
          <p:nvPr/>
        </p:nvSpPr>
        <p:spPr>
          <a:xfrm>
            <a:off x="1466850" y="389890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从 PDF 读取金额、类别、日期</a:t>
            </a:r>
          </a:p>
        </p:txBody>
      </p:sp>
      <p:sp>
        <p:nvSpPr>
          <p:cNvPr id="35" name="Workflow node Classify · 分类"/>
          <p:cNvSpPr/>
          <p:nvPr/>
        </p:nvSpPr>
        <p:spPr>
          <a:xfrm>
            <a:off x="939800" y="4673600"/>
            <a:ext cx="24130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Node accent"/>
          <p:cNvSpPr/>
          <p:nvPr/>
        </p:nvSpPr>
        <p:spPr>
          <a:xfrm>
            <a:off x="939800" y="4813300"/>
            <a:ext cx="31750" cy="457200"/>
          </a:xfrm>
          <a:prstGeom prst="roundRect">
            <a:avLst>
              <a:gd name="adj" fmla="val 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Node index"/>
          <p:cNvSpPr/>
          <p:nvPr/>
        </p:nvSpPr>
        <p:spPr>
          <a:xfrm>
            <a:off x="1104900" y="4826000"/>
            <a:ext cx="266700" cy="266700"/>
          </a:xfrm>
          <a:prstGeom prst="roundRect">
            <a:avLst>
              <a:gd name="adj" fmla="val 2000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Strict 03"/>
          <p:cNvSpPr txBox="1"/>
          <p:nvPr/>
        </p:nvSpPr>
        <p:spPr>
          <a:xfrm>
            <a:off x="1104900" y="482600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39" name="Strict Classify · 分类"/>
          <p:cNvSpPr txBox="1"/>
          <p:nvPr/>
        </p:nvSpPr>
        <p:spPr>
          <a:xfrm>
            <a:off x="1466850" y="480695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Classify · 分类</a:t>
            </a:r>
          </a:p>
        </p:txBody>
      </p:sp>
      <p:sp>
        <p:nvSpPr>
          <p:cNvPr id="40" name="Strict 按金额与合规情况分三支"/>
          <p:cNvSpPr txBox="1"/>
          <p:nvPr/>
        </p:nvSpPr>
        <p:spPr>
          <a:xfrm>
            <a:off x="1466850" y="508000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按金额与合规情况分三支</a:t>
            </a:r>
          </a:p>
        </p:txBody>
      </p:sp>
      <p:sp>
        <p:nvSpPr>
          <p:cNvPr id="41" name="Workflow node Agent · 可直接报"/>
          <p:cNvSpPr/>
          <p:nvPr/>
        </p:nvSpPr>
        <p:spPr>
          <a:xfrm>
            <a:off x="4978400" y="2311400"/>
            <a:ext cx="2590800" cy="736600"/>
          </a:xfrm>
          <a:prstGeom prst="roundRect">
            <a:avLst>
              <a:gd name="adj" fmla="val 12000"/>
            </a:avLst>
          </a:prstGeom>
          <a:solidFill>
            <a:srgbClr val="F7F4FE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Node accent"/>
          <p:cNvSpPr/>
          <p:nvPr/>
        </p:nvSpPr>
        <p:spPr>
          <a:xfrm>
            <a:off x="4978400" y="2451100"/>
            <a:ext cx="31750" cy="457200"/>
          </a:xfrm>
          <a:prstGeom prst="roundRect">
            <a:avLst>
              <a:gd name="adj" fmla="val 0"/>
            </a:avLst>
          </a:prstGeom>
          <a:solidFill>
            <a:srgbClr val="785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Strict Agent · 可直接报"/>
          <p:cNvSpPr txBox="1"/>
          <p:nvPr/>
        </p:nvSpPr>
        <p:spPr>
          <a:xfrm>
            <a:off x="5143500" y="244475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Agent · 可直接报</a:t>
            </a:r>
          </a:p>
        </p:txBody>
      </p:sp>
      <p:sp>
        <p:nvSpPr>
          <p:cNvPr id="44" name="Strict 金额合规，票据齐全"/>
          <p:cNvSpPr txBox="1"/>
          <p:nvPr/>
        </p:nvSpPr>
        <p:spPr>
          <a:xfrm>
            <a:off x="5143500" y="271780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金额合规，票据齐全</a:t>
            </a:r>
          </a:p>
        </p:txBody>
      </p:sp>
      <p:sp>
        <p:nvSpPr>
          <p:cNvPr id="45" name="Workflow node Agent · 超标"/>
          <p:cNvSpPr/>
          <p:nvPr/>
        </p:nvSpPr>
        <p:spPr>
          <a:xfrm>
            <a:off x="4978400" y="3492500"/>
            <a:ext cx="2590800" cy="736600"/>
          </a:xfrm>
          <a:prstGeom prst="roundRect">
            <a:avLst>
              <a:gd name="adj" fmla="val 12000"/>
            </a:avLst>
          </a:prstGeom>
          <a:solidFill>
            <a:srgbClr val="F7F4FE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Node accent"/>
          <p:cNvSpPr/>
          <p:nvPr/>
        </p:nvSpPr>
        <p:spPr>
          <a:xfrm>
            <a:off x="4978400" y="3632200"/>
            <a:ext cx="31750" cy="457200"/>
          </a:xfrm>
          <a:prstGeom prst="roundRect">
            <a:avLst>
              <a:gd name="adj" fmla="val 0"/>
            </a:avLst>
          </a:prstGeom>
          <a:solidFill>
            <a:srgbClr val="785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Strict Agent · 超标"/>
          <p:cNvSpPr txBox="1"/>
          <p:nvPr/>
        </p:nvSpPr>
        <p:spPr>
          <a:xfrm>
            <a:off x="5143500" y="362585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Agent · 超标</a:t>
            </a:r>
          </a:p>
        </p:txBody>
      </p:sp>
      <p:sp>
        <p:nvSpPr>
          <p:cNvPr id="48" name="Strict 超出政策上限，需要审批"/>
          <p:cNvSpPr txBox="1"/>
          <p:nvPr/>
        </p:nvSpPr>
        <p:spPr>
          <a:xfrm>
            <a:off x="5143500" y="389890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超出政策上限，需要审批</a:t>
            </a:r>
          </a:p>
        </p:txBody>
      </p:sp>
      <p:sp>
        <p:nvSpPr>
          <p:cNvPr id="49" name="Workflow node Agent · 缺票"/>
          <p:cNvSpPr/>
          <p:nvPr/>
        </p:nvSpPr>
        <p:spPr>
          <a:xfrm>
            <a:off x="4978400" y="4673600"/>
            <a:ext cx="2590800" cy="736600"/>
          </a:xfrm>
          <a:prstGeom prst="roundRect">
            <a:avLst>
              <a:gd name="adj" fmla="val 12000"/>
            </a:avLst>
          </a:prstGeom>
          <a:solidFill>
            <a:srgbClr val="F7F4FE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Node accent"/>
          <p:cNvSpPr/>
          <p:nvPr/>
        </p:nvSpPr>
        <p:spPr>
          <a:xfrm>
            <a:off x="4978400" y="4813300"/>
            <a:ext cx="31750" cy="457200"/>
          </a:xfrm>
          <a:prstGeom prst="roundRect">
            <a:avLst>
              <a:gd name="adj" fmla="val 0"/>
            </a:avLst>
          </a:prstGeom>
          <a:solidFill>
            <a:srgbClr val="785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trict Agent · 缺票"/>
          <p:cNvSpPr txBox="1"/>
          <p:nvPr/>
        </p:nvSpPr>
        <p:spPr>
          <a:xfrm>
            <a:off x="5143500" y="480695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Agent · 缺票</a:t>
            </a:r>
          </a:p>
        </p:txBody>
      </p:sp>
      <p:sp>
        <p:nvSpPr>
          <p:cNvPr id="52" name="Strict 缺少发票或行程单"/>
          <p:cNvSpPr txBox="1"/>
          <p:nvPr/>
        </p:nvSpPr>
        <p:spPr>
          <a:xfrm>
            <a:off x="5143500" y="508000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缺少发票或行程单</a:t>
            </a:r>
          </a:p>
        </p:txBody>
      </p:sp>
      <p:sp>
        <p:nvSpPr>
          <p:cNvPr id="53" name="Workflow node 写入财务系统"/>
          <p:cNvSpPr/>
          <p:nvPr/>
        </p:nvSpPr>
        <p:spPr>
          <a:xfrm>
            <a:off x="8813800" y="2311400"/>
            <a:ext cx="2438400" cy="736600"/>
          </a:xfrm>
          <a:prstGeom prst="roundRect">
            <a:avLst>
              <a:gd name="adj" fmla="val 12000"/>
            </a:avLst>
          </a:prstGeom>
          <a:solidFill>
            <a:srgbClr val="EFF8F3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Node accent"/>
          <p:cNvSpPr/>
          <p:nvPr/>
        </p:nvSpPr>
        <p:spPr>
          <a:xfrm>
            <a:off x="8813800" y="2451100"/>
            <a:ext cx="31750" cy="457200"/>
          </a:xfrm>
          <a:prstGeom prst="roundRect">
            <a:avLst>
              <a:gd name="adj" fmla="val 0"/>
            </a:avLst>
          </a:prstGeom>
          <a:solidFill>
            <a:srgbClr val="168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trict 写入财务系统"/>
          <p:cNvSpPr txBox="1"/>
          <p:nvPr/>
        </p:nvSpPr>
        <p:spPr>
          <a:xfrm>
            <a:off x="8978900" y="244475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写入财务系统</a:t>
            </a:r>
          </a:p>
        </p:txBody>
      </p:sp>
      <p:sp>
        <p:nvSpPr>
          <p:cNvPr id="56" name="Strict 合规路径"/>
          <p:cNvSpPr txBox="1"/>
          <p:nvPr/>
        </p:nvSpPr>
        <p:spPr>
          <a:xfrm>
            <a:off x="8978900" y="271780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合规路径</a:t>
            </a:r>
          </a:p>
        </p:txBody>
      </p:sp>
      <p:sp>
        <p:nvSpPr>
          <p:cNvPr id="57" name="Workflow node 转经理审批"/>
          <p:cNvSpPr/>
          <p:nvPr/>
        </p:nvSpPr>
        <p:spPr>
          <a:xfrm>
            <a:off x="8813800" y="3492500"/>
            <a:ext cx="2438400" cy="736600"/>
          </a:xfrm>
          <a:prstGeom prst="roundRect">
            <a:avLst>
              <a:gd name="adj" fmla="val 12000"/>
            </a:avLst>
          </a:prstGeom>
          <a:solidFill>
            <a:srgbClr val="FCF7ED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Node accent"/>
          <p:cNvSpPr/>
          <p:nvPr/>
        </p:nvSpPr>
        <p:spPr>
          <a:xfrm>
            <a:off x="8813800" y="3632200"/>
            <a:ext cx="31750" cy="457200"/>
          </a:xfrm>
          <a:prstGeom prst="roundRect">
            <a:avLst>
              <a:gd name="adj" fmla="val 0"/>
            </a:avLst>
          </a:prstGeom>
          <a:solidFill>
            <a:srgbClr val="B07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Strict 转经理审批"/>
          <p:cNvSpPr txBox="1"/>
          <p:nvPr/>
        </p:nvSpPr>
        <p:spPr>
          <a:xfrm>
            <a:off x="8978900" y="362585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转经理审批</a:t>
            </a:r>
          </a:p>
        </p:txBody>
      </p:sp>
      <p:sp>
        <p:nvSpPr>
          <p:cNvPr id="60" name="Strict 例外转人工"/>
          <p:cNvSpPr txBox="1"/>
          <p:nvPr/>
        </p:nvSpPr>
        <p:spPr>
          <a:xfrm>
            <a:off x="8978900" y="389890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例外转人工</a:t>
            </a:r>
          </a:p>
        </p:txBody>
      </p:sp>
      <p:sp>
        <p:nvSpPr>
          <p:cNvPr id="61" name="Workflow node 发邮件请补材料"/>
          <p:cNvSpPr/>
          <p:nvPr/>
        </p:nvSpPr>
        <p:spPr>
          <a:xfrm>
            <a:off x="8813800" y="4673600"/>
            <a:ext cx="2438400" cy="736600"/>
          </a:xfrm>
          <a:prstGeom prst="roundRect">
            <a:avLst>
              <a:gd name="adj" fmla="val 12000"/>
            </a:avLst>
          </a:prstGeom>
          <a:solidFill>
            <a:srgbClr val="FBEFF4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Node accent"/>
          <p:cNvSpPr/>
          <p:nvPr/>
        </p:nvSpPr>
        <p:spPr>
          <a:xfrm>
            <a:off x="8813800" y="4813300"/>
            <a:ext cx="31750" cy="457200"/>
          </a:xfrm>
          <a:prstGeom prst="roundRect">
            <a:avLst>
              <a:gd name="adj" fmla="val 0"/>
            </a:avLst>
          </a:prstGeom>
          <a:solidFill>
            <a:srgbClr val="B54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Strict 发邮件请补材料"/>
          <p:cNvSpPr txBox="1"/>
          <p:nvPr/>
        </p:nvSpPr>
        <p:spPr>
          <a:xfrm>
            <a:off x="8978900" y="480695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发邮件请补材料</a:t>
            </a:r>
          </a:p>
        </p:txBody>
      </p:sp>
      <p:sp>
        <p:nvSpPr>
          <p:cNvPr id="64" name="Strict 信息不足先补齐"/>
          <p:cNvSpPr txBox="1"/>
          <p:nvPr/>
        </p:nvSpPr>
        <p:spPr>
          <a:xfrm>
            <a:off x="8978900" y="508000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信息不足先补齐</a:t>
            </a:r>
          </a:p>
        </p:txBody>
      </p:sp>
      <p:sp>
        <p:nvSpPr>
          <p:cNvPr id="65" name="Strict 可组合节点"/>
          <p:cNvSpPr txBox="1"/>
          <p:nvPr/>
        </p:nvSpPr>
        <p:spPr>
          <a:xfrm>
            <a:off x="939800" y="5715000"/>
            <a:ext cx="9525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59677B"/>
                </a:solidFill>
                <a:latin typeface="Segoe UI"/>
                <a:ea typeface="Microsoft YaHei"/>
              </a:rPr>
              <a:t>可组合节点</a:t>
            </a:r>
          </a:p>
        </p:txBody>
      </p:sp>
      <p:sp>
        <p:nvSpPr>
          <p:cNvPr id="66" name="Strict 触发器  ·  Extract  ·  Clas"/>
          <p:cNvSpPr txBox="1"/>
          <p:nvPr/>
        </p:nvSpPr>
        <p:spPr>
          <a:xfrm>
            <a:off x="1936750" y="5715000"/>
            <a:ext cx="85725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4155"/>
                </a:solidFill>
                <a:latin typeface="Segoe UI"/>
                <a:ea typeface="Microsoft YaHei"/>
              </a:rPr>
              <a:t>触发器  ·  Extract  ·  Classify  ·  Agent  ·  Human review  ·  Code / Python</a:t>
            </a:r>
          </a:p>
        </p:txBody>
      </p:sp>
      <p:sp>
        <p:nvSpPr>
          <p:cNvPr id="67" name="Strict 新建体验 GA   /   节点可单测   / "/>
          <p:cNvSpPr txBox="1"/>
          <p:nvPr/>
        </p:nvSpPr>
        <p:spPr>
          <a:xfrm>
            <a:off x="939800" y="6007100"/>
            <a:ext cx="100012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68C58"/>
                </a:solidFill>
                <a:latin typeface="Segoe UI"/>
                <a:ea typeface="Microsoft YaHei"/>
              </a:rPr>
              <a:t>新建体验 GA   /   节点可单测   /   失败处 Resume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flow badge"/>
          <p:cNvSpPr/>
          <p:nvPr/>
        </p:nvSpPr>
        <p:spPr>
          <a:xfrm>
            <a:off x="685800" y="508000"/>
            <a:ext cx="787400" cy="203200"/>
          </a:xfrm>
          <a:prstGeom prst="roundRect">
            <a:avLst>
              <a:gd name="adj" fmla="val 20000"/>
            </a:avLst>
          </a:prstGeom>
          <a:solidFill>
            <a:srgbClr val="168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trict Workflow"/>
          <p:cNvSpPr txBox="1"/>
          <p:nvPr/>
        </p:nvSpPr>
        <p:spPr>
          <a:xfrm>
            <a:off x="685800" y="508000"/>
            <a:ext cx="787400" cy="20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"/>
                <a:ea typeface="Microsoft YaHei"/>
              </a:rPr>
              <a:t>Workflow</a:t>
            </a:r>
          </a:p>
        </p:txBody>
      </p:sp>
      <p:sp>
        <p:nvSpPr>
          <p:cNvPr id="4" name="Strict 09B · NEW NODES"/>
          <p:cNvSpPr txBox="1"/>
          <p:nvPr/>
        </p:nvSpPr>
        <p:spPr>
          <a:xfrm>
            <a:off x="1574800" y="520700"/>
            <a:ext cx="53975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869E8"/>
                </a:solidFill>
                <a:latin typeface="Segoe UI"/>
                <a:ea typeface="Microsoft YaHei"/>
              </a:rPr>
              <a:t>09B · NEW NODES</a:t>
            </a:r>
          </a:p>
        </p:txBody>
      </p:sp>
      <p:sp>
        <p:nvSpPr>
          <p:cNvPr id="5" name="Strict 四种新节点，让 Workflow 接住完整业务"/>
          <p:cNvSpPr txBox="1"/>
          <p:nvPr/>
        </p:nvSpPr>
        <p:spPr>
          <a:xfrm>
            <a:off x="685800" y="876300"/>
            <a:ext cx="108204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B2030"/>
                </a:solidFill>
                <a:latin typeface="Segoe UI"/>
                <a:ea typeface="Microsoft YaHei"/>
              </a:rPr>
              <a:t>四种新节点，让 Workflow 接住完整业务</a:t>
            </a:r>
          </a:p>
        </p:txBody>
      </p:sp>
      <p:sp>
        <p:nvSpPr>
          <p:cNvPr id="6" name="Strict 提数据、跑代码、叫外援、从失败处继续——各自解决"/>
          <p:cNvSpPr txBox="1"/>
          <p:nvPr/>
        </p:nvSpPr>
        <p:spPr>
          <a:xfrm>
            <a:off x="698500" y="1384300"/>
            <a:ext cx="1066800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77B"/>
                </a:solidFill>
                <a:latin typeface="Segoe UI"/>
                <a:ea typeface="Microsoft YaHei"/>
              </a:rPr>
              <a:t>提数据、跑代码、叫外援、从失败处继续——各自解决一个具体问题。</a:t>
            </a:r>
          </a:p>
        </p:txBody>
      </p:sp>
      <p:cxnSp>
        <p:nvCxnSpPr>
          <p:cNvPr id="7" name="Workflow connection"/>
          <p:cNvCxnSpPr/>
          <p:nvPr/>
        </p:nvCxnSpPr>
        <p:spPr>
          <a:xfrm>
            <a:off x="685800" y="6343650"/>
            <a:ext cx="10820400" cy="0"/>
          </a:xfrm>
          <a:prstGeom prst="line">
            <a:avLst/>
          </a:prstGeom>
          <a:ln w="13970">
            <a:solidFill>
              <a:srgbClr val="D6DD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rict 来源 · Copilot Studio · Le"/>
          <p:cNvSpPr txBox="1"/>
          <p:nvPr/>
        </p:nvSpPr>
        <p:spPr>
          <a:xfrm>
            <a:off x="685800" y="6464300"/>
            <a:ext cx="9588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9677B"/>
                </a:solidFill>
                <a:latin typeface="Segoe UI"/>
                <a:ea typeface="Microsoft YaHei"/>
              </a:rPr>
              <a:t>来源 · Copilot Studio · Level Up 2026-08 · 官方素材中文重制</a:t>
            </a:r>
          </a:p>
        </p:txBody>
      </p:sp>
      <p:sp>
        <p:nvSpPr>
          <p:cNvPr id="9" name="Strict 22 / 30"/>
          <p:cNvSpPr txBox="1"/>
          <p:nvPr/>
        </p:nvSpPr>
        <p:spPr>
          <a:xfrm>
            <a:off x="10807700" y="6464300"/>
            <a:ext cx="69850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2030"/>
                </a:solidFill>
                <a:latin typeface="Segoe UI"/>
                <a:ea typeface="Microsoft YaHei"/>
              </a:rPr>
              <a:t>22 / 30</a:t>
            </a:r>
          </a:p>
        </p:txBody>
      </p:sp>
      <p:sp>
        <p:nvSpPr>
          <p:cNvPr id="10" name="Feature panel"/>
          <p:cNvSpPr/>
          <p:nvPr/>
        </p:nvSpPr>
        <p:spPr>
          <a:xfrm>
            <a:off x="685800" y="1816100"/>
            <a:ext cx="5295900" cy="20447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7620">
            <a:solidFill>
              <a:srgbClr val="DB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eature index"/>
          <p:cNvSpPr/>
          <p:nvPr/>
        </p:nvSpPr>
        <p:spPr>
          <a:xfrm>
            <a:off x="825500" y="1943100"/>
            <a:ext cx="254000" cy="254000"/>
          </a:xfrm>
          <a:prstGeom prst="roundRect">
            <a:avLst>
              <a:gd name="adj" fmla="val 1700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trict 01"/>
          <p:cNvSpPr txBox="1"/>
          <p:nvPr/>
        </p:nvSpPr>
        <p:spPr>
          <a:xfrm>
            <a:off x="825500" y="1943100"/>
            <a:ext cx="25400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13" name="Strict Extract · 提取"/>
          <p:cNvSpPr txBox="1"/>
          <p:nvPr/>
        </p:nvSpPr>
        <p:spPr>
          <a:xfrm>
            <a:off x="1181100" y="1949450"/>
            <a:ext cx="4032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Extract · 提取</a:t>
            </a:r>
          </a:p>
        </p:txBody>
      </p:sp>
      <p:sp>
        <p:nvSpPr>
          <p:cNvPr id="14" name="GA label"/>
          <p:cNvSpPr/>
          <p:nvPr/>
        </p:nvSpPr>
        <p:spPr>
          <a:xfrm>
            <a:off x="5372100" y="1974850"/>
            <a:ext cx="444500" cy="177800"/>
          </a:xfrm>
          <a:prstGeom prst="roundRect">
            <a:avLst>
              <a:gd name="adj" fmla="val 20000"/>
            </a:avLst>
          </a:prstGeom>
          <a:solidFill>
            <a:srgbClr val="E8F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trict GA"/>
          <p:cNvSpPr txBox="1"/>
          <p:nvPr/>
        </p:nvSpPr>
        <p:spPr>
          <a:xfrm>
            <a:off x="5372100" y="1974850"/>
            <a:ext cx="444500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68C58"/>
                </a:solidFill>
                <a:latin typeface="Segoe UI"/>
                <a:ea typeface="Microsoft YaHei"/>
              </a:rPr>
              <a:t>GA</a:t>
            </a:r>
          </a:p>
        </p:txBody>
      </p:sp>
      <p:sp>
        <p:nvSpPr>
          <p:cNvPr id="16" name="Strict PDF、图片、Office 文件&#10;直接提取结构化"/>
          <p:cNvSpPr txBox="1"/>
          <p:nvPr/>
        </p:nvSpPr>
        <p:spPr>
          <a:xfrm>
            <a:off x="838200" y="2393950"/>
            <a:ext cx="1447800" cy="901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PDF、图片、Office 文件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直接提取结构化字段，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不用再写解析代码。</a:t>
            </a:r>
          </a:p>
        </p:txBody>
      </p:sp>
      <p:sp>
        <p:nvSpPr>
          <p:cNvPr id="17" name="Strict 产品界面"/>
          <p:cNvSpPr txBox="1"/>
          <p:nvPr/>
        </p:nvSpPr>
        <p:spPr>
          <a:xfrm>
            <a:off x="838200" y="3505200"/>
            <a:ext cx="1428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A8799"/>
                </a:solidFill>
                <a:latin typeface="Segoe UI"/>
                <a:ea typeface="Microsoft YaHei"/>
              </a:rPr>
              <a:t>产品界面</a:t>
            </a:r>
          </a:p>
        </p:txBody>
      </p:sp>
      <p:sp>
        <p:nvSpPr>
          <p:cNvPr id="18" name="Product screenshot frame"/>
          <p:cNvSpPr/>
          <p:nvPr/>
        </p:nvSpPr>
        <p:spPr>
          <a:xfrm>
            <a:off x="2400300" y="2349500"/>
            <a:ext cx="3429000" cy="1358900"/>
          </a:xfrm>
          <a:prstGeom prst="roundRect">
            <a:avLst>
              <a:gd name="adj" fmla="val 2500"/>
            </a:avLst>
          </a:prstGeom>
          <a:solidFill>
            <a:srgbClr val="F7F9FC"/>
          </a:solidFill>
          <a:ln w="7620">
            <a:solidFill>
              <a:srgbClr val="E7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857" y="2362200"/>
            <a:ext cx="2369887" cy="1333500"/>
          </a:xfrm>
          <a:prstGeom prst="rect">
            <a:avLst/>
          </a:prstGeom>
        </p:spPr>
      </p:pic>
      <p:sp>
        <p:nvSpPr>
          <p:cNvPr id="20" name="Feature panel"/>
          <p:cNvSpPr/>
          <p:nvPr/>
        </p:nvSpPr>
        <p:spPr>
          <a:xfrm>
            <a:off x="6210300" y="1816100"/>
            <a:ext cx="5295900" cy="20447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7620">
            <a:solidFill>
              <a:srgbClr val="DB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eature index"/>
          <p:cNvSpPr/>
          <p:nvPr/>
        </p:nvSpPr>
        <p:spPr>
          <a:xfrm>
            <a:off x="6350000" y="1943100"/>
            <a:ext cx="254000" cy="254000"/>
          </a:xfrm>
          <a:prstGeom prst="roundRect">
            <a:avLst>
              <a:gd name="adj" fmla="val 17000"/>
            </a:avLst>
          </a:prstGeom>
          <a:solidFill>
            <a:srgbClr val="526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trict 02"/>
          <p:cNvSpPr txBox="1"/>
          <p:nvPr/>
        </p:nvSpPr>
        <p:spPr>
          <a:xfrm>
            <a:off x="6350000" y="1943100"/>
            <a:ext cx="25400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23" name="Strict Code · 跑 Python"/>
          <p:cNvSpPr txBox="1"/>
          <p:nvPr/>
        </p:nvSpPr>
        <p:spPr>
          <a:xfrm>
            <a:off x="6705600" y="1949450"/>
            <a:ext cx="4032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Code · 跑 Python</a:t>
            </a:r>
          </a:p>
        </p:txBody>
      </p:sp>
      <p:sp>
        <p:nvSpPr>
          <p:cNvPr id="24" name="GA label"/>
          <p:cNvSpPr/>
          <p:nvPr/>
        </p:nvSpPr>
        <p:spPr>
          <a:xfrm>
            <a:off x="10896600" y="1974850"/>
            <a:ext cx="444500" cy="177800"/>
          </a:xfrm>
          <a:prstGeom prst="roundRect">
            <a:avLst>
              <a:gd name="adj" fmla="val 20000"/>
            </a:avLst>
          </a:prstGeom>
          <a:solidFill>
            <a:srgbClr val="E8F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trict GA"/>
          <p:cNvSpPr txBox="1"/>
          <p:nvPr/>
        </p:nvSpPr>
        <p:spPr>
          <a:xfrm>
            <a:off x="10896600" y="1974850"/>
            <a:ext cx="444500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68C58"/>
                </a:solidFill>
                <a:latin typeface="Segoe UI"/>
                <a:ea typeface="Microsoft YaHei"/>
              </a:rPr>
              <a:t>GA</a:t>
            </a:r>
          </a:p>
        </p:txBody>
      </p:sp>
      <p:sp>
        <p:nvSpPr>
          <p:cNvPr id="26" name="Strict 把 Python 插成流程一步，&#10;复杂计算、格式"/>
          <p:cNvSpPr txBox="1"/>
          <p:nvPr/>
        </p:nvSpPr>
        <p:spPr>
          <a:xfrm>
            <a:off x="6362700" y="2393950"/>
            <a:ext cx="1447800" cy="901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把 Python 插成流程一步，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复杂计算、格式转换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都不用绕道。</a:t>
            </a:r>
          </a:p>
        </p:txBody>
      </p:sp>
      <p:sp>
        <p:nvSpPr>
          <p:cNvPr id="27" name="Strict 产品界面"/>
          <p:cNvSpPr txBox="1"/>
          <p:nvPr/>
        </p:nvSpPr>
        <p:spPr>
          <a:xfrm>
            <a:off x="6362700" y="3505200"/>
            <a:ext cx="1428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A8799"/>
                </a:solidFill>
                <a:latin typeface="Segoe UI"/>
                <a:ea typeface="Microsoft YaHei"/>
              </a:rPr>
              <a:t>产品界面</a:t>
            </a:r>
          </a:p>
        </p:txBody>
      </p:sp>
      <p:sp>
        <p:nvSpPr>
          <p:cNvPr id="28" name="Product screenshot frame"/>
          <p:cNvSpPr/>
          <p:nvPr/>
        </p:nvSpPr>
        <p:spPr>
          <a:xfrm>
            <a:off x="7924800" y="2349500"/>
            <a:ext cx="3429000" cy="1358900"/>
          </a:xfrm>
          <a:prstGeom prst="roundRect">
            <a:avLst>
              <a:gd name="adj" fmla="val 2500"/>
            </a:avLst>
          </a:prstGeom>
          <a:solidFill>
            <a:srgbClr val="F7F9FC"/>
          </a:solidFill>
          <a:ln w="7620">
            <a:solidFill>
              <a:srgbClr val="E7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5395" y="2362200"/>
            <a:ext cx="2367810" cy="1333500"/>
          </a:xfrm>
          <a:prstGeom prst="rect">
            <a:avLst/>
          </a:prstGeom>
        </p:spPr>
      </p:pic>
      <p:sp>
        <p:nvSpPr>
          <p:cNvPr id="30" name="Feature panel"/>
          <p:cNvSpPr/>
          <p:nvPr/>
        </p:nvSpPr>
        <p:spPr>
          <a:xfrm>
            <a:off x="685800" y="4013200"/>
            <a:ext cx="5295900" cy="20447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7620">
            <a:solidFill>
              <a:srgbClr val="DB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eature index"/>
          <p:cNvSpPr/>
          <p:nvPr/>
        </p:nvSpPr>
        <p:spPr>
          <a:xfrm>
            <a:off x="825500" y="4140200"/>
            <a:ext cx="254000" cy="254000"/>
          </a:xfrm>
          <a:prstGeom prst="roundRect">
            <a:avLst>
              <a:gd name="adj" fmla="val 17000"/>
            </a:avLst>
          </a:prstGeom>
          <a:solidFill>
            <a:srgbClr val="785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trict 03"/>
          <p:cNvSpPr txBox="1"/>
          <p:nvPr/>
        </p:nvSpPr>
        <p:spPr>
          <a:xfrm>
            <a:off x="825500" y="4140200"/>
            <a:ext cx="25400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33" name="Strict Copilot Cowork · 叫外援"/>
          <p:cNvSpPr txBox="1"/>
          <p:nvPr/>
        </p:nvSpPr>
        <p:spPr>
          <a:xfrm>
            <a:off x="1181100" y="4146550"/>
            <a:ext cx="4032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Copilot Cowork · 叫外援</a:t>
            </a:r>
          </a:p>
        </p:txBody>
      </p:sp>
      <p:sp>
        <p:nvSpPr>
          <p:cNvPr id="34" name="GA label"/>
          <p:cNvSpPr/>
          <p:nvPr/>
        </p:nvSpPr>
        <p:spPr>
          <a:xfrm>
            <a:off x="5372100" y="4171950"/>
            <a:ext cx="444500" cy="177800"/>
          </a:xfrm>
          <a:prstGeom prst="roundRect">
            <a:avLst>
              <a:gd name="adj" fmla="val 20000"/>
            </a:avLst>
          </a:prstGeom>
          <a:solidFill>
            <a:srgbClr val="E8F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Strict GA"/>
          <p:cNvSpPr txBox="1"/>
          <p:nvPr/>
        </p:nvSpPr>
        <p:spPr>
          <a:xfrm>
            <a:off x="5372100" y="4171950"/>
            <a:ext cx="444500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68C58"/>
                </a:solidFill>
                <a:latin typeface="Segoe UI"/>
                <a:ea typeface="Microsoft YaHei"/>
              </a:rPr>
              <a:t>GA</a:t>
            </a:r>
          </a:p>
        </p:txBody>
      </p:sp>
      <p:sp>
        <p:nvSpPr>
          <p:cNvPr id="36" name="Strict 在流程里调用&#10;Copilot Cowork，&#10;把"/>
          <p:cNvSpPr txBox="1"/>
          <p:nvPr/>
        </p:nvSpPr>
        <p:spPr>
          <a:xfrm>
            <a:off x="838200" y="4591050"/>
            <a:ext cx="1447800" cy="901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在流程里调用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Copilot Cowork，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把跨应用的工作交给它。</a:t>
            </a:r>
          </a:p>
        </p:txBody>
      </p:sp>
      <p:sp>
        <p:nvSpPr>
          <p:cNvPr id="37" name="Strict 产品界面"/>
          <p:cNvSpPr txBox="1"/>
          <p:nvPr/>
        </p:nvSpPr>
        <p:spPr>
          <a:xfrm>
            <a:off x="838200" y="5702300"/>
            <a:ext cx="1428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A8799"/>
                </a:solidFill>
                <a:latin typeface="Segoe UI"/>
                <a:ea typeface="Microsoft YaHei"/>
              </a:rPr>
              <a:t>产品界面</a:t>
            </a:r>
          </a:p>
        </p:txBody>
      </p:sp>
      <p:sp>
        <p:nvSpPr>
          <p:cNvPr id="38" name="Product screenshot frame"/>
          <p:cNvSpPr/>
          <p:nvPr/>
        </p:nvSpPr>
        <p:spPr>
          <a:xfrm>
            <a:off x="2400300" y="4546600"/>
            <a:ext cx="3429000" cy="1358900"/>
          </a:xfrm>
          <a:prstGeom prst="roundRect">
            <a:avLst>
              <a:gd name="adj" fmla="val 2500"/>
            </a:avLst>
          </a:prstGeom>
          <a:solidFill>
            <a:srgbClr val="F7F9FC"/>
          </a:solidFill>
          <a:ln w="7620">
            <a:solidFill>
              <a:srgbClr val="E7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0895" y="4559300"/>
            <a:ext cx="2367810" cy="1333500"/>
          </a:xfrm>
          <a:prstGeom prst="rect">
            <a:avLst/>
          </a:prstGeom>
        </p:spPr>
      </p:pic>
      <p:sp>
        <p:nvSpPr>
          <p:cNvPr id="40" name="Feature panel"/>
          <p:cNvSpPr/>
          <p:nvPr/>
        </p:nvSpPr>
        <p:spPr>
          <a:xfrm>
            <a:off x="6210300" y="4013200"/>
            <a:ext cx="5295900" cy="20447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7620">
            <a:solidFill>
              <a:srgbClr val="DB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Feature index"/>
          <p:cNvSpPr/>
          <p:nvPr/>
        </p:nvSpPr>
        <p:spPr>
          <a:xfrm>
            <a:off x="6350000" y="4140200"/>
            <a:ext cx="254000" cy="254000"/>
          </a:xfrm>
          <a:prstGeom prst="roundRect">
            <a:avLst>
              <a:gd name="adj" fmla="val 17000"/>
            </a:avLst>
          </a:prstGeom>
          <a:solidFill>
            <a:srgbClr val="168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Strict 04"/>
          <p:cNvSpPr txBox="1"/>
          <p:nvPr/>
        </p:nvSpPr>
        <p:spPr>
          <a:xfrm>
            <a:off x="6350000" y="4140200"/>
            <a:ext cx="25400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43" name="Strict Resume · 从错处继续"/>
          <p:cNvSpPr txBox="1"/>
          <p:nvPr/>
        </p:nvSpPr>
        <p:spPr>
          <a:xfrm>
            <a:off x="6705600" y="4146550"/>
            <a:ext cx="4032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Resume · 从错处继续</a:t>
            </a:r>
          </a:p>
        </p:txBody>
      </p:sp>
      <p:sp>
        <p:nvSpPr>
          <p:cNvPr id="44" name="GA label"/>
          <p:cNvSpPr/>
          <p:nvPr/>
        </p:nvSpPr>
        <p:spPr>
          <a:xfrm>
            <a:off x="10896600" y="4171950"/>
            <a:ext cx="444500" cy="177800"/>
          </a:xfrm>
          <a:prstGeom prst="roundRect">
            <a:avLst>
              <a:gd name="adj" fmla="val 20000"/>
            </a:avLst>
          </a:prstGeom>
          <a:solidFill>
            <a:srgbClr val="E8F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trict GA"/>
          <p:cNvSpPr txBox="1"/>
          <p:nvPr/>
        </p:nvSpPr>
        <p:spPr>
          <a:xfrm>
            <a:off x="10896600" y="4171950"/>
            <a:ext cx="444500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68C58"/>
                </a:solidFill>
                <a:latin typeface="Segoe UI"/>
                <a:ea typeface="Microsoft YaHei"/>
              </a:rPr>
              <a:t>GA</a:t>
            </a:r>
          </a:p>
        </p:txBody>
      </p:sp>
      <p:sp>
        <p:nvSpPr>
          <p:cNvPr id="46" name="Strict 修好失败的步骤后，&#10;从中断处继续，&#10;不用整条流程"/>
          <p:cNvSpPr txBox="1"/>
          <p:nvPr/>
        </p:nvSpPr>
        <p:spPr>
          <a:xfrm>
            <a:off x="6362700" y="4591050"/>
            <a:ext cx="1447800" cy="901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修好失败的步骤后，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从中断处继续，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不用整条流程重跑。</a:t>
            </a:r>
          </a:p>
        </p:txBody>
      </p:sp>
      <p:sp>
        <p:nvSpPr>
          <p:cNvPr id="47" name="Strict 产品界面"/>
          <p:cNvSpPr txBox="1"/>
          <p:nvPr/>
        </p:nvSpPr>
        <p:spPr>
          <a:xfrm>
            <a:off x="6362700" y="5702300"/>
            <a:ext cx="1428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A8799"/>
                </a:solidFill>
                <a:latin typeface="Segoe UI"/>
                <a:ea typeface="Microsoft YaHei"/>
              </a:rPr>
              <a:t>产品界面</a:t>
            </a:r>
          </a:p>
        </p:txBody>
      </p:sp>
      <p:sp>
        <p:nvSpPr>
          <p:cNvPr id="48" name="Product screenshot frame"/>
          <p:cNvSpPr/>
          <p:nvPr/>
        </p:nvSpPr>
        <p:spPr>
          <a:xfrm>
            <a:off x="7924800" y="4546600"/>
            <a:ext cx="3429000" cy="1358900"/>
          </a:xfrm>
          <a:prstGeom prst="roundRect">
            <a:avLst>
              <a:gd name="adj" fmla="val 2500"/>
            </a:avLst>
          </a:prstGeom>
          <a:solidFill>
            <a:srgbClr val="F7F9FC"/>
          </a:solidFill>
          <a:ln w="7620">
            <a:solidFill>
              <a:srgbClr val="E7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395" y="4559300"/>
            <a:ext cx="236781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7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71450"/>
          </a:xfrm>
          <a:prstGeom prst="rect">
            <a:avLst/>
          </a:prstGeom>
        </p:spPr>
      </p:pic>
      <p:pic>
        <p:nvPicPr>
          <p:cNvPr id="4" name="Picture 3" descr="slide23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493738"/>
            <a:ext cx="11049000" cy="4175125"/>
          </a:xfrm>
          <a:prstGeom prst="rect">
            <a:avLst/>
          </a:prstGeom>
        </p:spPr>
      </p:pic>
      <p:pic>
        <p:nvPicPr>
          <p:cNvPr id="5" name="Picture 4" descr="slide23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5605363"/>
            <a:ext cx="10820400" cy="5969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584200"/>
            <a:ext cx="644922" cy="171450"/>
          </a:xfrm>
          <a:prstGeom prst="roundRect">
            <a:avLst>
              <a:gd name="adj" fmla="val 50000"/>
            </a:avLst>
          </a:prstGeom>
          <a:solidFill>
            <a:srgbClr val="159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584200"/>
            <a:ext cx="644922" cy="24003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40"/>
              </a:lnSpc>
            </a:pPr>
            <a:r>
              <a:rPr lang="en-US" sz="700" b="1" spc="28" dirty="0">
                <a:solidFill>
                  <a:srgbClr val="FFFFFF"/>
                </a:solidFill>
                <a:latin typeface="Segoe UI"/>
                <a:cs typeface="Segoe UI"/>
              </a:rPr>
              <a:t>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6922" y="587375"/>
            <a:ext cx="123567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10 · WHICH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86995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en-US" sz="2600" b="1" spc="-15" dirty="0">
                <a:solidFill>
                  <a:srgbClr val="1B2030"/>
                </a:solidFill>
                <a:latin typeface="Segoe UI"/>
                <a:cs typeface="Segoe UI"/>
              </a:rPr>
              <a:t>Power Automate Flow vs Copilot Studio Workflow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2150" y="1500088"/>
            <a:ext cx="3834904" cy="596900"/>
          </a:xfrm>
          <a:prstGeom prst="rect">
            <a:avLst/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692150" y="2096988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2150" y="1500088"/>
            <a:ext cx="3834904" cy="835660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650"/>
              </a:lnSpc>
            </a:pPr>
            <a:r>
              <a:rPr lang="zh-CN" sz="11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维度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7054" y="1500088"/>
            <a:ext cx="3486348" cy="596900"/>
          </a:xfrm>
          <a:prstGeom prst="rect">
            <a:avLst/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>
            <a:off x="4527054" y="2096988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27054" y="1500088"/>
            <a:ext cx="3486348" cy="835660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650"/>
              </a:lnSpc>
            </a:pPr>
            <a:r>
              <a:rPr lang="en-US" sz="1100" b="1" dirty="0">
                <a:solidFill>
                  <a:srgbClr val="1B2030"/>
                </a:solidFill>
                <a:latin typeface="Segoe UI"/>
                <a:cs typeface="Segoe UI"/>
              </a:rPr>
              <a:t>Power Automate Flow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13402" y="1500088"/>
            <a:ext cx="3486448" cy="596900"/>
          </a:xfrm>
          <a:prstGeom prst="rect">
            <a:avLst/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>
            <a:off x="8013402" y="2096988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013402" y="1500088"/>
            <a:ext cx="3486448" cy="835660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650"/>
              </a:lnSpc>
            </a:pPr>
            <a:r>
              <a:rPr lang="en-US" sz="1100" b="1" dirty="0">
                <a:solidFill>
                  <a:srgbClr val="1B2030"/>
                </a:solidFill>
                <a:latin typeface="Segoe UI"/>
                <a:cs typeface="Segoe UI"/>
              </a:rPr>
              <a:t>Copilot Studio Workflow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2150" y="2684363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2150" y="2096988"/>
            <a:ext cx="3834904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最适合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27054" y="2684363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27054" y="2096988"/>
            <a:ext cx="34863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6B7688"/>
                </a:solidFill>
                <a:latin typeface="Segoe UI"/>
                <a:ea typeface="Noto Sans SC"/>
                <a:cs typeface="Segoe UI"/>
              </a:rPr>
              <a:t>可预测任务的确定自动化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13402" y="2096988"/>
            <a:ext cx="3486448" cy="587375"/>
          </a:xfrm>
          <a:prstGeom prst="rect">
            <a:avLst/>
          </a:prstGeom>
          <a:solidFill>
            <a:srgbClr val="2B7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8013402" y="2684363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13402" y="2096988"/>
            <a:ext cx="34864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确定编排 + AI 推理的端到端流程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2150" y="3471763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2150" y="2684363"/>
            <a:ext cx="3834904" cy="102362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AI 能力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27054" y="3471763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27054" y="2684363"/>
            <a:ext cx="3486348" cy="102362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en-US" sz="1050" dirty="0">
                <a:solidFill>
                  <a:srgbClr val="6B7688"/>
                </a:solidFill>
                <a:latin typeface="Segoe UI"/>
                <a:cs typeface="Segoe UI"/>
              </a:rPr>
              <a:t>Prompts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13402" y="2684363"/>
            <a:ext cx="3486448" cy="787400"/>
          </a:xfrm>
          <a:prstGeom prst="rect">
            <a:avLst/>
          </a:prstGeom>
          <a:solidFill>
            <a:srgbClr val="2B7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8013402" y="3471763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013402" y="2684363"/>
            <a:ext cx="3486448" cy="78740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Agents（最新模型 / 多文件 / 工具 / 代码）+ 内置 AI</a:t>
            </a:r>
            <a:br>
              <a:rPr sz="1050"/>
            </a:b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动作：分类 / 提取 / M365 Copilot / Computer Use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92150" y="4259163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92150" y="3471763"/>
            <a:ext cx="3834904" cy="102362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典型场景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527054" y="4259163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27054" y="3471763"/>
            <a:ext cx="3486348" cy="102362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6B7688"/>
                </a:solidFill>
                <a:latin typeface="Segoe UI"/>
                <a:ea typeface="Noto Sans SC"/>
                <a:cs typeface="Segoe UI"/>
              </a:rPr>
              <a:t>审批路由、定时同步、通知提醒、RPA 桌面自动化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13402" y="3471763"/>
            <a:ext cx="3486448" cy="787400"/>
          </a:xfrm>
          <a:prstGeom prst="rect">
            <a:avLst/>
          </a:prstGeom>
          <a:solidFill>
            <a:srgbClr val="2B7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>
            <a:off x="8013402" y="4259163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013402" y="3471763"/>
            <a:ext cx="3664248" cy="102362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发票稽核、工单分诊与回复、合同条款分析、月结叙述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92150" y="4846538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92150" y="4259163"/>
            <a:ext cx="3834904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出错处理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527054" y="4846538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527054" y="4259163"/>
            <a:ext cx="34863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6B7688"/>
                </a:solidFill>
                <a:latin typeface="Segoe UI"/>
                <a:ea typeface="Noto Sans SC"/>
                <a:cs typeface="Segoe UI"/>
              </a:rPr>
              <a:t>整条重跑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13402" y="4259163"/>
            <a:ext cx="3486448" cy="587375"/>
          </a:xfrm>
          <a:prstGeom prst="rect">
            <a:avLst/>
          </a:prstGeom>
          <a:solidFill>
            <a:srgbClr val="2B7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8013402" y="4846538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013402" y="4259163"/>
            <a:ext cx="34864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从失败那一步恢复（Resume from error）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92150" y="5433913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92150" y="4846538"/>
            <a:ext cx="3834904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计费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527054" y="5433913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27054" y="4846538"/>
            <a:ext cx="34863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6B7688"/>
                </a:solidFill>
                <a:latin typeface="Segoe UI"/>
                <a:ea typeface="Noto Sans SC"/>
                <a:cs typeface="Segoe UI"/>
              </a:rPr>
              <a:t>Power Automate 许可 + prompt credits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13402" y="4846538"/>
            <a:ext cx="3486448" cy="587375"/>
          </a:xfrm>
          <a:prstGeom prst="rect">
            <a:avLst/>
          </a:prstGeom>
          <a:solidFill>
            <a:srgbClr val="2B7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8013402" y="5433913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013402" y="4846538"/>
            <a:ext cx="34864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Credit 消耗（0.13 credit / action）+ agent 消耗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605363"/>
            <a:ext cx="10820400" cy="596900"/>
          </a:xfrm>
          <a:prstGeom prst="rect">
            <a:avLst/>
          </a:prstGeom>
          <a:noFill/>
        </p:spPr>
        <p:txBody>
          <a:bodyPr wrap="square" lIns="165100" tIns="101600" rIns="165100" bIns="101600" anchor="t"/>
          <a:lstStyle/>
          <a:p>
            <a:pPr algn="l">
              <a:lnSpc>
                <a:spcPts val="1350"/>
              </a:lnSpc>
            </a:pPr>
            <a:r>
              <a:rPr lang="zh-CN" sz="90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怎么选 →</a:t>
            </a:r>
            <a:br>
              <a:rPr sz="900"/>
            </a:br>
            <a:r>
              <a:rPr lang="zh-CN" sz="9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步骤固定、不用 AI 判断的活，留给 Power Automate（更成熟、连接器最多）；流程里需要理解内容、做判断、还要能从失败处接着跑的，用 Copilot Studio Workflow。两者不是替代关系，可以互相调用。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Studio · 2026-08</a:t>
            </a:r>
          </a:p>
        </p:txBody>
      </p:sp>
      <p:sp>
        <p:nvSpPr>
          <p:cNvPr id="57" name="Strict 23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ct PART 04 · BILLING"/>
          <p:cNvSpPr txBox="1"/>
          <p:nvPr/>
        </p:nvSpPr>
        <p:spPr>
          <a:xfrm>
            <a:off x="3028950" y="2475111"/>
            <a:ext cx="6134100" cy="260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FB6FF"/>
                </a:solidFill>
                <a:latin typeface="Segoe UI"/>
                <a:ea typeface="Microsoft YaHei"/>
              </a:rPr>
              <a:t>PART 04 · BILLING</a:t>
            </a:r>
          </a:p>
        </p:txBody>
      </p:sp>
      <p:sp>
        <p:nvSpPr>
          <p:cNvPr id="3" name="Strict 成本模型：计费口径与支出管控"/>
          <p:cNvSpPr txBox="1"/>
          <p:nvPr/>
        </p:nvSpPr>
        <p:spPr>
          <a:xfrm>
            <a:off x="3028950" y="2786261"/>
            <a:ext cx="6134100" cy="5216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成本模型：计费口径与支出管控</a:t>
            </a:r>
          </a:p>
        </p:txBody>
      </p:sp>
      <p:sp>
        <p:nvSpPr>
          <p:cNvPr id="4" name="Strict GitHub Copilot harness 采"/>
          <p:cNvSpPr txBox="1"/>
          <p:nvPr/>
        </p:nvSpPr>
        <p:spPr>
          <a:xfrm>
            <a:off x="3048000" y="3409553"/>
            <a:ext cx="6096000" cy="490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7E1F5"/>
                </a:solidFill>
                <a:latin typeface="Segoe UI"/>
                <a:ea typeface="Microsoft YaHei"/>
              </a:rPr>
              <a:t>GitHub Copilot harness 采用按用量计费——先明确一次任务的 Credits 消耗口径，再看如何建立可预算、可分账的支出管控机制。</a:t>
            </a:r>
          </a:p>
        </p:txBody>
      </p:sp>
      <p:sp>
        <p:nvSpPr>
          <p:cNvPr id="5" name="Chapter pill"/>
          <p:cNvSpPr/>
          <p:nvPr/>
        </p:nvSpPr>
        <p:spPr>
          <a:xfrm>
            <a:off x="3337123" y="4090789"/>
            <a:ext cx="1528266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trict 三 harness 能力 + 计费"/>
          <p:cNvSpPr txBox="1"/>
          <p:nvPr/>
        </p:nvSpPr>
        <p:spPr>
          <a:xfrm>
            <a:off x="3337123" y="4090789"/>
            <a:ext cx="1528266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三 harness 能力 + 计费</a:t>
            </a:r>
          </a:p>
        </p:txBody>
      </p:sp>
      <p:sp>
        <p:nvSpPr>
          <p:cNvPr id="7" name="Chapter pill"/>
          <p:cNvSpPr/>
          <p:nvPr/>
        </p:nvSpPr>
        <p:spPr>
          <a:xfrm>
            <a:off x="4954290" y="4090789"/>
            <a:ext cx="1258987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trict 官方 s30 逐项明细"/>
          <p:cNvSpPr txBox="1"/>
          <p:nvPr/>
        </p:nvSpPr>
        <p:spPr>
          <a:xfrm>
            <a:off x="4954290" y="4090789"/>
            <a:ext cx="1258987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官方 s30 逐项明细</a:t>
            </a:r>
          </a:p>
        </p:txBody>
      </p:sp>
      <p:sp>
        <p:nvSpPr>
          <p:cNvPr id="9" name="Chapter pill"/>
          <p:cNvSpPr/>
          <p:nvPr/>
        </p:nvSpPr>
        <p:spPr>
          <a:xfrm>
            <a:off x="6302177" y="4090789"/>
            <a:ext cx="1117600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trict 四因素计算口径"/>
          <p:cNvSpPr txBox="1"/>
          <p:nvPr/>
        </p:nvSpPr>
        <p:spPr>
          <a:xfrm>
            <a:off x="6302177" y="4090789"/>
            <a:ext cx="1117600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四因素计算口径</a:t>
            </a:r>
          </a:p>
        </p:txBody>
      </p:sp>
      <p:sp>
        <p:nvSpPr>
          <p:cNvPr id="11" name="Chapter pill"/>
          <p:cNvSpPr/>
          <p:nvPr/>
        </p:nvSpPr>
        <p:spPr>
          <a:xfrm>
            <a:off x="7508677" y="4090789"/>
            <a:ext cx="1346200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trict 双层额度与支出管控"/>
          <p:cNvSpPr txBox="1"/>
          <p:nvPr/>
        </p:nvSpPr>
        <p:spPr>
          <a:xfrm>
            <a:off x="7508677" y="4090789"/>
            <a:ext cx="1346200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双层额度与支出管控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BILLING · 02 · BILLING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逐项计费明细：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建 / 跑 / 配套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三条 harness 分别怎么算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360388"/>
            <a:ext cx="10820400" cy="294580"/>
          </a:xfrm>
          <a:prstGeom prst="rect">
            <a:avLst/>
          </a:prstGeom>
          <a:solidFill>
            <a:srgbClr val="D6357E">
              <a:alpha val="7000"/>
            </a:srgbClr>
          </a:solidFill>
          <a:ln w="6350">
            <a:solidFill>
              <a:srgbClr val="D6357E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360388"/>
            <a:ext cx="10820400" cy="294580"/>
          </a:xfrm>
          <a:prstGeom prst="rect">
            <a:avLst/>
          </a:prstGeom>
          <a:noFill/>
        </p:spPr>
        <p:txBody>
          <a:bodyPr wrap="square" lIns="114300" tIns="69850" rIns="114300" bIns="69850" anchor="t"/>
          <a:lstStyle/>
          <a:p>
            <a:pPr algn="l">
              <a:lnSpc>
                <a:spcPts val="1120"/>
              </a:lnSpc>
            </a:pPr>
            <a:r>
              <a:rPr lang="en-US" sz="800" dirty="0">
                <a:solidFill>
                  <a:srgbClr val="5B6577"/>
                </a:solidFill>
                <a:latin typeface="Segoe UI"/>
                <a:cs typeface="Segoe UI"/>
              </a:rPr>
              <a:t>Chat / Standard harness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商业模式不变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</a:t>
            </a:r>
            <a:r>
              <a:rPr lang="en-US" sz="800" b="1" dirty="0">
                <a:solidFill>
                  <a:srgbClr val="1B2030"/>
                </a:solidFill>
                <a:latin typeface="Segoe UI"/>
                <a:cs typeface="Segoe UI"/>
              </a:rPr>
              <a:t>GitHub Copilot harness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在建 Agent 与运行时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新增 Usage-based 计费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731169"/>
            <a:ext cx="3465810" cy="234950"/>
          </a:xfrm>
          <a:prstGeom prst="rect">
            <a:avLst/>
          </a:prstGeom>
          <a:solidFill>
            <a:srgbClr val="56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731169"/>
            <a:ext cx="3465810" cy="328930"/>
          </a:xfrm>
          <a:prstGeom prst="rect">
            <a:avLst/>
          </a:prstGeom>
          <a:noFill/>
        </p:spPr>
        <p:txBody>
          <a:bodyPr wrap="none" lIns="88900" tIns="50800" rIns="88900" bIns="50800" anchor="t"/>
          <a:lstStyle/>
          <a:p>
            <a:pPr algn="l">
              <a:lnSpc>
                <a:spcPts val="930"/>
              </a:lnSpc>
            </a:pPr>
            <a:r>
              <a:rPr lang="zh-CN" sz="775" b="1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项目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77010" y="1731169"/>
            <a:ext cx="2310606" cy="234950"/>
          </a:xfrm>
          <a:prstGeom prst="rect">
            <a:avLst/>
          </a:prstGeom>
          <a:solidFill>
            <a:srgbClr val="6F8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77010" y="1731169"/>
            <a:ext cx="2310606" cy="328930"/>
          </a:xfrm>
          <a:prstGeom prst="rect">
            <a:avLst/>
          </a:prstGeom>
          <a:noFill/>
        </p:spPr>
        <p:txBody>
          <a:bodyPr wrap="none" lIns="88900" tIns="50800" rIns="88900" bIns="50800" anchor="t"/>
          <a:lstStyle/>
          <a:p>
            <a:pPr algn="l">
              <a:lnSpc>
                <a:spcPts val="930"/>
              </a:lnSpc>
            </a:pPr>
            <a:r>
              <a:rPr lang="en-US" sz="775" b="1" dirty="0">
                <a:solidFill>
                  <a:srgbClr val="FFFFFF"/>
                </a:solidFill>
                <a:latin typeface="Segoe UI"/>
                <a:cs typeface="Segoe UI"/>
              </a:rPr>
              <a:t>Chat harness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3016" y="1731169"/>
            <a:ext cx="2310606" cy="234950"/>
          </a:xfrm>
          <a:prstGeom prst="rect">
            <a:avLst/>
          </a:prstGeom>
          <a:solidFill>
            <a:srgbClr val="6F8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3016" y="1731169"/>
            <a:ext cx="2310606" cy="328930"/>
          </a:xfrm>
          <a:prstGeom prst="rect">
            <a:avLst/>
          </a:prstGeom>
          <a:noFill/>
        </p:spPr>
        <p:txBody>
          <a:bodyPr wrap="none" lIns="88900" tIns="50800" rIns="88900" bIns="50800" anchor="t"/>
          <a:lstStyle/>
          <a:p>
            <a:pPr algn="l">
              <a:lnSpc>
                <a:spcPts val="930"/>
              </a:lnSpc>
            </a:pPr>
            <a:r>
              <a:rPr lang="en-US" sz="775" b="1" dirty="0">
                <a:solidFill>
                  <a:srgbClr val="FFFFFF"/>
                </a:solidFill>
                <a:latin typeface="Segoe UI"/>
                <a:cs typeface="Segoe UI"/>
              </a:rPr>
              <a:t>Standard harness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49023" y="1731169"/>
            <a:ext cx="2657177" cy="234950"/>
          </a:xfrm>
          <a:prstGeom prst="rect">
            <a:avLst/>
          </a:prstGeom>
          <a:solidFill>
            <a:srgbClr val="D6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849023" y="1731169"/>
            <a:ext cx="2657177" cy="328930"/>
          </a:xfrm>
          <a:prstGeom prst="rect">
            <a:avLst/>
          </a:prstGeom>
          <a:noFill/>
        </p:spPr>
        <p:txBody>
          <a:bodyPr wrap="none" lIns="88900" tIns="50800" rIns="88900" bIns="50800" anchor="t"/>
          <a:lstStyle/>
          <a:p>
            <a:pPr algn="l">
              <a:lnSpc>
                <a:spcPts val="930"/>
              </a:lnSpc>
            </a:pPr>
            <a:r>
              <a:rPr lang="en-US" sz="775" b="1" dirty="0">
                <a:solidFill>
                  <a:srgbClr val="FFFFFF"/>
                </a:solidFill>
                <a:latin typeface="Segoe UI"/>
                <a:cs typeface="Segoe UI"/>
              </a:rPr>
              <a:t>GitHub Copilot harness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023269"/>
            <a:ext cx="10820400" cy="184150"/>
          </a:xfrm>
          <a:prstGeom prst="rect">
            <a:avLst/>
          </a:prstGeom>
          <a:solidFill>
            <a:srgbClr val="EE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2023269"/>
            <a:ext cx="10820400" cy="257810"/>
          </a:xfrm>
          <a:prstGeom prst="rect">
            <a:avLst/>
          </a:prstGeom>
          <a:noFill/>
        </p:spPr>
        <p:txBody>
          <a:bodyPr wrap="none" lIns="88900" tIns="31750" rIns="88900" bIns="31750" anchor="t"/>
          <a:lstStyle/>
          <a:p>
            <a:pPr algn="l">
              <a:lnSpc>
                <a:spcPts val="840"/>
              </a:lnSpc>
            </a:pPr>
            <a:r>
              <a:rPr lang="zh-CN" sz="700" b="1" spc="14" dirty="0">
                <a:solidFill>
                  <a:srgbClr val="56697F"/>
                </a:solidFill>
                <a:latin typeface="Segoe UI"/>
                <a:ea typeface="Noto Sans SC"/>
                <a:cs typeface="Segoe UI"/>
              </a:rPr>
              <a:t>建 Agent · Agent creation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2328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22328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手动搭建（Manual authoring）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77010" y="2232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513016" y="2232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849023" y="22328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85800" y="24868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24868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自然语言搭建（NL authoring）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7010" y="2486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77010" y="24868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en-US" sz="700" b="1" dirty="0">
                <a:solidFill>
                  <a:srgbClr val="64748B"/>
                </a:solidFill>
                <a:latin typeface="Segoe UI"/>
                <a:cs typeface="Segoe UI"/>
              </a:rPr>
              <a:t>N/A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13016" y="2486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849023" y="24868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849023" y="24868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27408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27408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评估（Evaluations）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77010" y="2740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177010" y="27408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en-US" sz="700" b="1" dirty="0">
                <a:solidFill>
                  <a:srgbClr val="64748B"/>
                </a:solidFill>
                <a:latin typeface="Segoe UI"/>
                <a:cs typeface="Segoe UI"/>
              </a:rPr>
              <a:t>N/A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13016" y="2740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849023" y="27408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849023" y="27408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29948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85800" y="29948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测试面板 / 预览（Test Pane · Preview）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77010" y="2994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513016" y="2994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8849023" y="29948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849023" y="29948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3280569"/>
            <a:ext cx="10820400" cy="184150"/>
          </a:xfrm>
          <a:prstGeom prst="rect">
            <a:avLst/>
          </a:prstGeom>
          <a:solidFill>
            <a:srgbClr val="EE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5800" y="3280569"/>
            <a:ext cx="10820400" cy="257810"/>
          </a:xfrm>
          <a:prstGeom prst="rect">
            <a:avLst/>
          </a:prstGeom>
          <a:noFill/>
        </p:spPr>
        <p:txBody>
          <a:bodyPr wrap="none" lIns="88900" tIns="31750" rIns="88900" bIns="31750" anchor="t"/>
          <a:lstStyle/>
          <a:p>
            <a:pPr algn="l">
              <a:lnSpc>
                <a:spcPts val="840"/>
              </a:lnSpc>
            </a:pPr>
            <a:r>
              <a:rPr lang="zh-CN" sz="700" b="1" spc="14" dirty="0">
                <a:solidFill>
                  <a:srgbClr val="56697F"/>
                </a:solidFill>
                <a:latin typeface="Segoe UI"/>
                <a:ea typeface="Noto Sans SC"/>
                <a:cs typeface="Segoe UI"/>
              </a:rPr>
              <a:t>跑 Agent · Agent runtime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" y="34901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34901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外部渠道使用（网站 / App / 社交）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77010" y="3490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177010" y="34901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en-US" sz="700" b="1" dirty="0">
                <a:solidFill>
                  <a:srgbClr val="64748B"/>
                </a:solidFill>
                <a:latin typeface="Segoe UI"/>
                <a:cs typeface="Segoe UI"/>
              </a:rPr>
              <a:t>N/A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13016" y="3490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513016" y="34901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公开费率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49023" y="34901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849023" y="34901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5800" y="37441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85800" y="37441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无 M365 Copilot 许可用户使用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77010" y="3744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177010" y="37441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公开费率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13016" y="3744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513016" y="37441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公开费率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49023" y="37441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849023" y="37441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5800" y="39981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85800" y="39981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有 M365 Copilot 许可用户使用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77010" y="3998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513016" y="3998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8849023" y="39981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849023" y="39981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5800" y="4283869"/>
            <a:ext cx="10820400" cy="184150"/>
          </a:xfrm>
          <a:prstGeom prst="rect">
            <a:avLst/>
          </a:prstGeom>
          <a:solidFill>
            <a:srgbClr val="EE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85800" y="4283869"/>
            <a:ext cx="10820400" cy="257810"/>
          </a:xfrm>
          <a:prstGeom prst="rect">
            <a:avLst/>
          </a:prstGeom>
          <a:noFill/>
        </p:spPr>
        <p:txBody>
          <a:bodyPr wrap="none" lIns="88900" tIns="31750" rIns="88900" bIns="31750" anchor="t"/>
          <a:lstStyle/>
          <a:p>
            <a:pPr algn="l">
              <a:lnSpc>
                <a:spcPts val="840"/>
              </a:lnSpc>
            </a:pPr>
            <a:r>
              <a:rPr lang="zh-CN" sz="700" b="1" spc="14" dirty="0">
                <a:solidFill>
                  <a:srgbClr val="56697F"/>
                </a:solidFill>
                <a:latin typeface="Segoe UI"/>
                <a:ea typeface="Noto Sans SC"/>
                <a:cs typeface="Segoe UI"/>
              </a:rPr>
              <a:t>配套能力 · Supporting features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5800" y="44934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85800" y="44934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标准 / 高级 / 自定义连接器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77010" y="4493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6513016" y="4493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8849023" y="44934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685800" y="47474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85800" y="47474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本地数据网关传输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77010" y="4747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6513016" y="4747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8849023" y="47474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685800" y="50014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85800" y="50014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Dataverse 存结构化数据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177010" y="5001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6513016" y="5001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8849023" y="50014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685800" y="52554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685800" y="52554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托管环境（Managed Environments）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177010" y="5255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6513016" y="5255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8849023" y="52554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685800" y="55094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685800" y="55094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Power Platform 管理中心管理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77010" y="5509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6513016" y="5509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8849023" y="55094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685800" y="5822950"/>
            <a:ext cx="4274641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800"/>
              </a:lnSpc>
            </a:pPr>
            <a:r>
              <a:rPr lang="en-US" sz="650" b="1" baseline="45500" dirty="0">
                <a:solidFill>
                  <a:srgbClr val="526071"/>
                </a:solidFill>
                <a:latin typeface="Segoe UI"/>
                <a:cs typeface="Segoe UI"/>
              </a:rPr>
              <a:t>1</a:t>
            </a:r>
            <a:r>
              <a:rPr lang="zh-CN" sz="65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Copilot Studio 默认自带 Dataverse 容量：数据库 15 GB、文件 20 GB、日志 2 GB；超出部分可按 1 GB 为单位另行采购。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125541" y="5822950"/>
            <a:ext cx="327124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800"/>
              </a:lnSpc>
            </a:pPr>
            <a:r>
              <a:rPr lang="en-US" sz="650" b="1" baseline="45500" dirty="0">
                <a:solidFill>
                  <a:srgbClr val="526071"/>
                </a:solidFill>
                <a:latin typeface="Segoe UI"/>
                <a:cs typeface="Segoe UI"/>
              </a:rPr>
              <a:t>2</a:t>
            </a:r>
            <a:r>
              <a:rPr lang="zh-CN" sz="65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托管环境（Managed Environments）的许可细则以官方 Managed Environments 说明为准。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61884" y="5822950"/>
            <a:ext cx="1951434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800"/>
              </a:lnSpc>
            </a:pPr>
            <a:r>
              <a:rPr lang="en-US" sz="650" b="1" baseline="45500" dirty="0">
                <a:solidFill>
                  <a:srgbClr val="526071"/>
                </a:solidFill>
                <a:latin typeface="Segoe UI"/>
                <a:cs typeface="Segoe UI"/>
              </a:rPr>
              <a:t>3</a:t>
            </a:r>
            <a:r>
              <a:rPr lang="zh-CN" sz="65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此处的托管环境仅针对 Copilot Studio 相关功能启用。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85800" y="6072188"/>
            <a:ext cx="10820400" cy="290512"/>
          </a:xfrm>
          <a:prstGeom prst="rect">
            <a:avLst/>
          </a:prstGeom>
          <a:solidFill>
            <a:srgbClr val="D6357E">
              <a:alpha val="6000"/>
            </a:srgbClr>
          </a:solidFill>
          <a:ln w="6350">
            <a:solidFill>
              <a:srgbClr val="D6357E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685800" y="6072188"/>
            <a:ext cx="10820400" cy="290512"/>
          </a:xfrm>
          <a:prstGeom prst="rect">
            <a:avLst/>
          </a:prstGeom>
          <a:noFill/>
        </p:spPr>
        <p:txBody>
          <a:bodyPr wrap="square" lIns="114300" tIns="69850" rIns="114300" bIns="69850" anchor="t"/>
          <a:lstStyle/>
          <a:p>
            <a:pPr algn="l">
              <a:lnSpc>
                <a:spcPts val="1088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要点：</a:t>
            </a:r>
            <a:r>
              <a:rPr lang="zh-CN" sz="75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只有最右一列（GitHub Copilot harness）在「建 + 跑」两段引入按用量计费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；左两列客户已买的照常用。配套能力三条 harness 基本都不额外收费。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Studio · Billing details（官方 s30）· 2026-08</a:t>
            </a:r>
          </a:p>
        </p:txBody>
      </p:sp>
      <p:sp>
        <p:nvSpPr>
          <p:cNvPr id="125" name="Strict 25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25 / 30</a:t>
            </a:r>
          </a:p>
        </p:txBody>
      </p:sp>
      <p:sp>
        <p:nvSpPr>
          <p:cNvPr id="126" name="Strict 不计费"/>
          <p:cNvSpPr txBox="1"/>
          <p:nvPr/>
        </p:nvSpPr>
        <p:spPr>
          <a:xfrm>
            <a:off x="4177010" y="2232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27" name="Strict 不计费"/>
          <p:cNvSpPr txBox="1"/>
          <p:nvPr/>
        </p:nvSpPr>
        <p:spPr>
          <a:xfrm>
            <a:off x="6513016" y="2232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28" name="Strict 不计费"/>
          <p:cNvSpPr txBox="1"/>
          <p:nvPr/>
        </p:nvSpPr>
        <p:spPr>
          <a:xfrm>
            <a:off x="8849023" y="22328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29" name="Strict 不计费"/>
          <p:cNvSpPr txBox="1"/>
          <p:nvPr/>
        </p:nvSpPr>
        <p:spPr>
          <a:xfrm>
            <a:off x="6513016" y="2486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0" name="Strict 不计费"/>
          <p:cNvSpPr txBox="1"/>
          <p:nvPr/>
        </p:nvSpPr>
        <p:spPr>
          <a:xfrm>
            <a:off x="6513016" y="2740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1" name="Strict 不计费"/>
          <p:cNvSpPr txBox="1"/>
          <p:nvPr/>
        </p:nvSpPr>
        <p:spPr>
          <a:xfrm>
            <a:off x="4177010" y="2994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2" name="Strict 不计费"/>
          <p:cNvSpPr txBox="1"/>
          <p:nvPr/>
        </p:nvSpPr>
        <p:spPr>
          <a:xfrm>
            <a:off x="6513016" y="2994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3" name="Strict 不计费（合理使用）"/>
          <p:cNvSpPr txBox="1"/>
          <p:nvPr/>
        </p:nvSpPr>
        <p:spPr>
          <a:xfrm>
            <a:off x="4177010" y="39981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不计费（合理使用）</a:t>
            </a:r>
          </a:p>
        </p:txBody>
      </p:sp>
      <p:sp>
        <p:nvSpPr>
          <p:cNvPr id="134" name="Strict 不计费（合理使用）"/>
          <p:cNvSpPr txBox="1"/>
          <p:nvPr/>
        </p:nvSpPr>
        <p:spPr>
          <a:xfrm>
            <a:off x="6513016" y="39981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不计费（合理使用）</a:t>
            </a:r>
          </a:p>
        </p:txBody>
      </p:sp>
      <p:sp>
        <p:nvSpPr>
          <p:cNvPr id="135" name="Strict 不计费"/>
          <p:cNvSpPr txBox="1"/>
          <p:nvPr/>
        </p:nvSpPr>
        <p:spPr>
          <a:xfrm>
            <a:off x="4177010" y="4493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6" name="Strict 不计费"/>
          <p:cNvSpPr txBox="1"/>
          <p:nvPr/>
        </p:nvSpPr>
        <p:spPr>
          <a:xfrm>
            <a:off x="6513016" y="4493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7" name="Strict 不计费"/>
          <p:cNvSpPr txBox="1"/>
          <p:nvPr/>
        </p:nvSpPr>
        <p:spPr>
          <a:xfrm>
            <a:off x="8849023" y="44934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8" name="Strict 不计费"/>
          <p:cNvSpPr txBox="1"/>
          <p:nvPr/>
        </p:nvSpPr>
        <p:spPr>
          <a:xfrm>
            <a:off x="4177010" y="4747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9" name="Strict 不计费"/>
          <p:cNvSpPr txBox="1"/>
          <p:nvPr/>
        </p:nvSpPr>
        <p:spPr>
          <a:xfrm>
            <a:off x="6513016" y="4747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0" name="Strict 不计费"/>
          <p:cNvSpPr txBox="1"/>
          <p:nvPr/>
        </p:nvSpPr>
        <p:spPr>
          <a:xfrm>
            <a:off x="8849023" y="47474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1" name="Strict 不计费"/>
          <p:cNvSpPr txBox="1"/>
          <p:nvPr/>
        </p:nvSpPr>
        <p:spPr>
          <a:xfrm>
            <a:off x="4177010" y="5001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2" name="Strict 不计费 [1]"/>
          <p:cNvSpPr txBox="1"/>
          <p:nvPr/>
        </p:nvSpPr>
        <p:spPr>
          <a:xfrm>
            <a:off x="6513016" y="5001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 [1]</a:t>
            </a:r>
          </a:p>
        </p:txBody>
      </p:sp>
      <p:sp>
        <p:nvSpPr>
          <p:cNvPr id="143" name="Strict 不计费 [1]"/>
          <p:cNvSpPr txBox="1"/>
          <p:nvPr/>
        </p:nvSpPr>
        <p:spPr>
          <a:xfrm>
            <a:off x="8849023" y="50014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 [1]</a:t>
            </a:r>
          </a:p>
        </p:txBody>
      </p:sp>
      <p:sp>
        <p:nvSpPr>
          <p:cNvPr id="144" name="Strict 不计费"/>
          <p:cNvSpPr txBox="1"/>
          <p:nvPr/>
        </p:nvSpPr>
        <p:spPr>
          <a:xfrm>
            <a:off x="4177010" y="5255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5" name="Strict 不计费 [2]"/>
          <p:cNvSpPr txBox="1"/>
          <p:nvPr/>
        </p:nvSpPr>
        <p:spPr>
          <a:xfrm>
            <a:off x="6513016" y="5255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 [2]</a:t>
            </a:r>
          </a:p>
        </p:txBody>
      </p:sp>
      <p:sp>
        <p:nvSpPr>
          <p:cNvPr id="146" name="Strict 不计费 [2,3]"/>
          <p:cNvSpPr txBox="1"/>
          <p:nvPr/>
        </p:nvSpPr>
        <p:spPr>
          <a:xfrm>
            <a:off x="8849023" y="52554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 [2,3]</a:t>
            </a:r>
          </a:p>
        </p:txBody>
      </p:sp>
      <p:sp>
        <p:nvSpPr>
          <p:cNvPr id="147" name="Strict 不计费"/>
          <p:cNvSpPr txBox="1"/>
          <p:nvPr/>
        </p:nvSpPr>
        <p:spPr>
          <a:xfrm>
            <a:off x="4177010" y="5509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8" name="Strict 不计费"/>
          <p:cNvSpPr txBox="1"/>
          <p:nvPr/>
        </p:nvSpPr>
        <p:spPr>
          <a:xfrm>
            <a:off x="6513016" y="5509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9" name="Strict 不计费"/>
          <p:cNvSpPr txBox="1"/>
          <p:nvPr/>
        </p:nvSpPr>
        <p:spPr>
          <a:xfrm>
            <a:off x="8849023" y="55094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26-img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641277"/>
            <a:ext cx="10820400" cy="458470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11 · BILLING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863600"/>
            <a:ext cx="10820400" cy="73957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Usage-based 计费：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一次任务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怎么算钱？四个因素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各算各的、加起来扣</a:t>
            </a:r>
            <a:br>
              <a:rPr sz="2600"/>
            </a:br>
            <a:r>
              <a:rPr lang="en-US" sz="2600" b="1" spc="-15" dirty="0">
                <a:solidFill>
                  <a:srgbClr val="4A53D6"/>
                </a:solidFill>
                <a:latin typeface="Segoe UI"/>
                <a:cs typeface="Segoe UI"/>
              </a:rPr>
              <a:t>Credits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Credits Guide · Aug 2026 · 官方四因素（Model · Context · Tools · Runtime）</a:t>
            </a:r>
          </a:p>
        </p:txBody>
      </p:sp>
      <p:sp>
        <p:nvSpPr>
          <p:cNvPr id="9" name="Strict 26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27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27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385788"/>
            <a:ext cx="3589834" cy="4781352"/>
          </a:xfrm>
          <a:prstGeom prst="rect">
            <a:avLst/>
          </a:prstGeom>
        </p:spPr>
      </p:pic>
      <p:pic>
        <p:nvPicPr>
          <p:cNvPr id="8" name="Picture 7" descr="slide27-deco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" y="2476401"/>
            <a:ext cx="3094534" cy="3093839"/>
          </a:xfrm>
          <a:prstGeom prst="rect">
            <a:avLst/>
          </a:prstGeom>
        </p:spPr>
      </p:pic>
      <p:pic>
        <p:nvPicPr>
          <p:cNvPr id="9" name="Picture 8" descr="slide27-img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500" y="2482751"/>
            <a:ext cx="3081834" cy="3081139"/>
          </a:xfrm>
          <a:prstGeom prst="rect">
            <a:avLst/>
          </a:prstGeom>
        </p:spPr>
      </p:pic>
      <p:pic>
        <p:nvPicPr>
          <p:cNvPr id="10" name="Picture 9" descr="slide27-deco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1034" y="1385788"/>
            <a:ext cx="3589834" cy="4781352"/>
          </a:xfrm>
          <a:prstGeom prst="rect">
            <a:avLst/>
          </a:prstGeom>
        </p:spPr>
      </p:pic>
      <p:pic>
        <p:nvPicPr>
          <p:cNvPr id="11" name="Picture 10" descr="slide27-deco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23284" y="2120801"/>
            <a:ext cx="987524" cy="254000"/>
          </a:xfrm>
          <a:prstGeom prst="rect">
            <a:avLst/>
          </a:prstGeom>
        </p:spPr>
      </p:pic>
      <p:pic>
        <p:nvPicPr>
          <p:cNvPr id="12" name="Picture 11" descr="slide27-deco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98108" y="2120801"/>
            <a:ext cx="996950" cy="254000"/>
          </a:xfrm>
          <a:prstGeom prst="rect">
            <a:avLst/>
          </a:prstGeom>
        </p:spPr>
      </p:pic>
      <p:pic>
        <p:nvPicPr>
          <p:cNvPr id="13" name="Picture 12" descr="slide27-deco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82358" y="2120801"/>
            <a:ext cx="679450" cy="254000"/>
          </a:xfrm>
          <a:prstGeom prst="rect">
            <a:avLst/>
          </a:prstGeom>
        </p:spPr>
      </p:pic>
      <p:pic>
        <p:nvPicPr>
          <p:cNvPr id="14" name="Picture 13" descr="slide27-deco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48684" y="2374801"/>
            <a:ext cx="3094534" cy="3195439"/>
          </a:xfrm>
          <a:prstGeom prst="rect">
            <a:avLst/>
          </a:prstGeom>
        </p:spPr>
      </p:pic>
      <p:pic>
        <p:nvPicPr>
          <p:cNvPr id="15" name="Picture 14" descr="slide27-img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55034" y="2381151"/>
            <a:ext cx="3081834" cy="3182739"/>
          </a:xfrm>
          <a:prstGeom prst="rect">
            <a:avLst/>
          </a:prstGeom>
        </p:spPr>
      </p:pic>
      <p:pic>
        <p:nvPicPr>
          <p:cNvPr id="16" name="Picture 15" descr="slide27-deco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30567" y="1385788"/>
            <a:ext cx="3589834" cy="4781352"/>
          </a:xfrm>
          <a:prstGeom prst="rect">
            <a:avLst/>
          </a:prstGeom>
        </p:spPr>
      </p:pic>
      <p:pic>
        <p:nvPicPr>
          <p:cNvPr id="17" name="Picture 16" descr="slide27-deco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52817" y="2120801"/>
            <a:ext cx="881955" cy="254000"/>
          </a:xfrm>
          <a:prstGeom prst="rect">
            <a:avLst/>
          </a:prstGeom>
        </p:spPr>
      </p:pic>
      <p:pic>
        <p:nvPicPr>
          <p:cNvPr id="18" name="Picture 17" descr="slide27-deco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22073" y="2120801"/>
            <a:ext cx="629841" cy="254000"/>
          </a:xfrm>
          <a:prstGeom prst="rect">
            <a:avLst/>
          </a:prstGeom>
        </p:spPr>
      </p:pic>
      <p:pic>
        <p:nvPicPr>
          <p:cNvPr id="19" name="Picture 18" descr="slide27-deco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739213" y="2120801"/>
            <a:ext cx="679450" cy="254000"/>
          </a:xfrm>
          <a:prstGeom prst="rect">
            <a:avLst/>
          </a:prstGeom>
        </p:spPr>
      </p:pic>
      <p:pic>
        <p:nvPicPr>
          <p:cNvPr id="20" name="Picture 19" descr="slide27-deco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78217" y="2374801"/>
            <a:ext cx="3094534" cy="3195439"/>
          </a:xfrm>
          <a:prstGeom prst="rect">
            <a:avLst/>
          </a:prstGeom>
        </p:spPr>
      </p:pic>
      <p:pic>
        <p:nvPicPr>
          <p:cNvPr id="21" name="Picture 20" descr="slide27-img3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84567" y="2381151"/>
            <a:ext cx="3081834" cy="3182739"/>
          </a:xfrm>
          <a:prstGeom prst="rect">
            <a:avLst/>
          </a:prstGeom>
        </p:spPr>
      </p:pic>
      <p:pic>
        <p:nvPicPr>
          <p:cNvPr id="22" name="Picture 21" descr="slide27-deco18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5800" y="6027440"/>
            <a:ext cx="10820400" cy="335260"/>
          </a:xfrm>
          <a:prstGeom prst="rect">
            <a:avLst/>
          </a:prstGeom>
        </p:spPr>
      </p:pic>
      <p:cxnSp>
        <p:nvCxnSpPr>
          <p:cNvPr id="23" name="Connector 22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12 · GOVERN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用起来之后怎么管钱：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租户 → 环境 → Agent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三层闸门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150" y="1552476"/>
            <a:ext cx="378222" cy="13335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9150" y="1552476"/>
            <a:ext cx="378222" cy="186690"/>
          </a:xfrm>
          <a:prstGeom prst="rect">
            <a:avLst/>
          </a:prstGeom>
          <a:noFill/>
        </p:spPr>
        <p:txBody>
          <a:bodyPr wrap="none" lIns="63500" tIns="19050" rIns="63500" bIns="19050" anchor="t"/>
          <a:lstStyle/>
          <a:p>
            <a:pPr algn="l">
              <a:lnSpc>
                <a:spcPts val="690"/>
              </a:lnSpc>
            </a:pPr>
            <a:r>
              <a:rPr lang="zh-CN" sz="575" b="1" spc="46" dirty="0">
                <a:solidFill>
                  <a:srgbClr val="8A99AD"/>
                </a:solidFill>
                <a:latin typeface="Segoe UI"/>
                <a:ea typeface="Noto Sans SC"/>
                <a:cs typeface="Segoe UI"/>
              </a:rPr>
              <a:t>第 1 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4522" y="1517551"/>
            <a:ext cx="203200" cy="2032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254522" y="1517551"/>
            <a:ext cx="203200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14872" y="1506438"/>
            <a:ext cx="1006673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租户级 Credit 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" y="1777901"/>
            <a:ext cx="3094534" cy="363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88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全公司共用一个池子，所有 Copilot 体验的消耗都汇总到这里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9150" y="5640090"/>
            <a:ext cx="309453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19150" y="5640090"/>
            <a:ext cx="3094534" cy="266700"/>
          </a:xfrm>
          <a:prstGeom prst="rect">
            <a:avLst/>
          </a:prstGeom>
          <a:noFill/>
        </p:spPr>
        <p:txBody>
          <a:bodyPr wrap="none" lIns="0" tIns="63500" rIns="0" bIns="0" anchor="t"/>
          <a:lstStyle/>
          <a:p>
            <a:pPr algn="l">
              <a:lnSpc>
                <a:spcPts val="810"/>
              </a:lnSpc>
            </a:pP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解决：</a:t>
            </a:r>
            <a:r>
              <a:rPr lang="zh-CN" sz="6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全公司总盘子有多大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48684" y="1552476"/>
            <a:ext cx="386655" cy="13335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48684" y="1552476"/>
            <a:ext cx="386655" cy="186690"/>
          </a:xfrm>
          <a:prstGeom prst="rect">
            <a:avLst/>
          </a:prstGeom>
          <a:noFill/>
        </p:spPr>
        <p:txBody>
          <a:bodyPr wrap="none" lIns="63500" tIns="19050" rIns="63500" bIns="19050" anchor="t"/>
          <a:lstStyle/>
          <a:p>
            <a:pPr algn="l">
              <a:lnSpc>
                <a:spcPts val="690"/>
              </a:lnSpc>
            </a:pPr>
            <a:r>
              <a:rPr lang="zh-CN" sz="575" b="1" spc="46" dirty="0">
                <a:solidFill>
                  <a:srgbClr val="8A99AD"/>
                </a:solidFill>
                <a:latin typeface="Segoe UI"/>
                <a:ea typeface="Noto Sans SC"/>
                <a:cs typeface="Segoe UI"/>
              </a:rPr>
              <a:t>第 2 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92489" y="1517551"/>
            <a:ext cx="203200" cy="203200"/>
          </a:xfrm>
          <a:prstGeom prst="rect">
            <a:avLst/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992489" y="1517551"/>
            <a:ext cx="203200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2839" y="1506438"/>
            <a:ext cx="66675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环境级预留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48684" y="1777901"/>
            <a:ext cx="3094534" cy="363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88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给部门 / 项目圈一块容量，</a:t>
            </a: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圈完就隔离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——别的环境吃不到，也吃不光你的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48684" y="2120801"/>
            <a:ext cx="936724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部门分账 chargeback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23508" y="2120801"/>
            <a:ext cx="946150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可关掉「从租户池抽」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07758" y="2120801"/>
            <a:ext cx="628650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阈值告警订阅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48684" y="5640090"/>
            <a:ext cx="309453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48684" y="5640090"/>
            <a:ext cx="3094534" cy="266700"/>
          </a:xfrm>
          <a:prstGeom prst="rect">
            <a:avLst/>
          </a:prstGeom>
          <a:noFill/>
        </p:spPr>
        <p:txBody>
          <a:bodyPr wrap="none" lIns="0" tIns="63500" rIns="0" bIns="0" anchor="t"/>
          <a:lstStyle/>
          <a:p>
            <a:pPr algn="l">
              <a:lnSpc>
                <a:spcPts val="810"/>
              </a:lnSpc>
            </a:pP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解决：</a:t>
            </a:r>
            <a:r>
              <a:rPr lang="zh-CN" sz="6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部门之间不互相吞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78217" y="1552476"/>
            <a:ext cx="386655" cy="13335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78217" y="1552476"/>
            <a:ext cx="386655" cy="186690"/>
          </a:xfrm>
          <a:prstGeom prst="rect">
            <a:avLst/>
          </a:prstGeom>
          <a:noFill/>
        </p:spPr>
        <p:txBody>
          <a:bodyPr wrap="none" lIns="63500" tIns="19050" rIns="63500" bIns="19050" anchor="t"/>
          <a:lstStyle/>
          <a:p>
            <a:pPr algn="l">
              <a:lnSpc>
                <a:spcPts val="690"/>
              </a:lnSpc>
            </a:pPr>
            <a:r>
              <a:rPr lang="zh-CN" sz="575" b="1" spc="46" dirty="0">
                <a:solidFill>
                  <a:srgbClr val="8A99AD"/>
                </a:solidFill>
                <a:latin typeface="Segoe UI"/>
                <a:ea typeface="Noto Sans SC"/>
                <a:cs typeface="Segoe UI"/>
              </a:rPr>
              <a:t>第 3 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22023" y="1517551"/>
            <a:ext cx="203200" cy="203200"/>
          </a:xfrm>
          <a:prstGeom prst="rect">
            <a:avLst/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722023" y="1517551"/>
            <a:ext cx="203200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✦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82373" y="1506438"/>
            <a:ext cx="836513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级上限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78217" y="1777901"/>
            <a:ext cx="3094534" cy="363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88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单个 Agent 设月度 Credit 天花板，</a:t>
            </a: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超限自动告警或直接停用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8217" y="2120801"/>
            <a:ext cx="831155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单 Agent 月度限额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7473" y="2120801"/>
            <a:ext cx="579041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80% 先通知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64613" y="2120801"/>
            <a:ext cx="628650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到顶自动停用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278217" y="5640090"/>
            <a:ext cx="309453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278217" y="5640090"/>
            <a:ext cx="3094534" cy="266700"/>
          </a:xfrm>
          <a:prstGeom prst="rect">
            <a:avLst/>
          </a:prstGeom>
          <a:noFill/>
        </p:spPr>
        <p:txBody>
          <a:bodyPr wrap="none" lIns="0" tIns="63500" rIns="0" bIns="0" anchor="t"/>
          <a:lstStyle/>
          <a:p>
            <a:pPr algn="l">
              <a:lnSpc>
                <a:spcPts val="810"/>
              </a:lnSpc>
            </a:pP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解决：</a:t>
            </a:r>
            <a:r>
              <a:rPr lang="zh-CN" sz="6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单个 Agent 不失控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6027440"/>
            <a:ext cx="10820400" cy="335260"/>
          </a:xfrm>
          <a:prstGeom prst="rect">
            <a:avLst/>
          </a:prstGeom>
          <a:noFill/>
        </p:spPr>
        <p:txBody>
          <a:bodyPr wrap="square" lIns="139700" tIns="82550" rIns="139700" bIns="82550" anchor="t"/>
          <a:lstStyle/>
          <a:p>
            <a:pPr algn="l">
              <a:lnSpc>
                <a:spcPts val="124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一句话记忆 →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租户层定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总量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、环境层定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归属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、Agent 层定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单点上限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；三层叠起来，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用量看得见、超限拦得住、账分得清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但请注意：Agent 限额只管单个 Agent，管不住环境总量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——下一页讲这个坑。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Capacity &amp; billing management · PPAC 真实界面</a:t>
            </a:r>
          </a:p>
        </p:txBody>
      </p:sp>
      <p:sp>
        <p:nvSpPr>
          <p:cNvPr id="65" name="Strict 27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27 / 30</a:t>
            </a:r>
          </a:p>
        </p:txBody>
      </p:sp>
      <p:sp>
        <p:nvSpPr>
          <p:cNvPr id="66" name="Procurement mode"/>
          <p:cNvSpPr/>
          <p:nvPr/>
        </p:nvSpPr>
        <p:spPr>
          <a:xfrm>
            <a:off x="819150" y="2108200"/>
            <a:ext cx="993140" cy="355600"/>
          </a:xfrm>
          <a:prstGeom prst="roundRect">
            <a:avLst/>
          </a:prstGeom>
          <a:solidFill>
            <a:srgbClr val="E9F0FC"/>
          </a:solidFill>
          <a:ln w="6350">
            <a:solidFill>
              <a:srgbClr val="CED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Strict 预付 P3"/>
          <p:cNvSpPr txBox="1"/>
          <p:nvPr/>
        </p:nvSpPr>
        <p:spPr>
          <a:xfrm>
            <a:off x="863600" y="2127250"/>
            <a:ext cx="90424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315FCC"/>
                </a:solidFill>
                <a:latin typeface="Segoe UI"/>
                <a:ea typeface="Microsoft YaHei"/>
              </a:rPr>
              <a:t>预付 P3</a:t>
            </a:r>
          </a:p>
        </p:txBody>
      </p:sp>
      <p:sp>
        <p:nvSpPr>
          <p:cNvPr id="68" name="Strict 一年买断&#10;量大有折扣"/>
          <p:cNvSpPr txBox="1"/>
          <p:nvPr/>
        </p:nvSpPr>
        <p:spPr>
          <a:xfrm>
            <a:off x="863600" y="2254250"/>
            <a:ext cx="90424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一年买断</a:t>
            </a:r>
          </a:p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量大有折扣</a:t>
            </a:r>
          </a:p>
        </p:txBody>
      </p:sp>
      <p:sp>
        <p:nvSpPr>
          <p:cNvPr id="69" name="Procurement mode"/>
          <p:cNvSpPr/>
          <p:nvPr/>
        </p:nvSpPr>
        <p:spPr>
          <a:xfrm>
            <a:off x="1850390" y="2108200"/>
            <a:ext cx="993140" cy="355600"/>
          </a:xfrm>
          <a:prstGeom prst="roundRect">
            <a:avLst/>
          </a:prstGeom>
          <a:solidFill>
            <a:srgbClr val="E9F0FC"/>
          </a:solidFill>
          <a:ln w="6350">
            <a:solidFill>
              <a:srgbClr val="CED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Strict PAYG"/>
          <p:cNvSpPr txBox="1"/>
          <p:nvPr/>
        </p:nvSpPr>
        <p:spPr>
          <a:xfrm>
            <a:off x="1894840" y="2127250"/>
            <a:ext cx="90424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315FCC"/>
                </a:solidFill>
                <a:latin typeface="Segoe UI"/>
                <a:ea typeface="Microsoft YaHei"/>
              </a:rPr>
              <a:t>PAYG</a:t>
            </a:r>
          </a:p>
        </p:txBody>
      </p:sp>
      <p:sp>
        <p:nvSpPr>
          <p:cNvPr id="71" name="Strict 用多少付多少&#10;$0.01/Credit"/>
          <p:cNvSpPr txBox="1"/>
          <p:nvPr/>
        </p:nvSpPr>
        <p:spPr>
          <a:xfrm>
            <a:off x="1894840" y="2254250"/>
            <a:ext cx="90424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用多少付多少</a:t>
            </a:r>
          </a:p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$0.01/Credit</a:t>
            </a:r>
          </a:p>
        </p:txBody>
      </p:sp>
      <p:sp>
        <p:nvSpPr>
          <p:cNvPr id="72" name="Procurement mode"/>
          <p:cNvSpPr/>
          <p:nvPr/>
        </p:nvSpPr>
        <p:spPr>
          <a:xfrm>
            <a:off x="2881630" y="2108200"/>
            <a:ext cx="993140" cy="355600"/>
          </a:xfrm>
          <a:prstGeom prst="roundRect">
            <a:avLst/>
          </a:prstGeom>
          <a:solidFill>
            <a:srgbClr val="E9F0FC"/>
          </a:solidFill>
          <a:ln w="6350">
            <a:solidFill>
              <a:srgbClr val="CED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Strict 混合"/>
          <p:cNvSpPr txBox="1"/>
          <p:nvPr/>
        </p:nvSpPr>
        <p:spPr>
          <a:xfrm>
            <a:off x="2926080" y="2127250"/>
            <a:ext cx="90424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315FCC"/>
                </a:solidFill>
                <a:latin typeface="Segoe UI"/>
                <a:ea typeface="Microsoft YaHei"/>
              </a:rPr>
              <a:t>混合</a:t>
            </a:r>
          </a:p>
        </p:txBody>
      </p:sp>
      <p:sp>
        <p:nvSpPr>
          <p:cNvPr id="74" name="Strict 预付打底&#10;超了自动转 PAYG"/>
          <p:cNvSpPr txBox="1"/>
          <p:nvPr/>
        </p:nvSpPr>
        <p:spPr>
          <a:xfrm>
            <a:off x="2926080" y="2254250"/>
            <a:ext cx="90424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预付打底</a:t>
            </a:r>
          </a:p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超了自动转 PAYG</a:t>
            </a:r>
          </a:p>
        </p:txBody>
      </p:sp>
      <p:sp>
        <p:nvSpPr>
          <p:cNvPr id="75" name="Relationship gap"/>
          <p:cNvSpPr/>
          <p:nvPr/>
        </p:nvSpPr>
        <p:spPr>
          <a:xfrm>
            <a:off x="4047046" y="1385760"/>
            <a:ext cx="368300" cy="45527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Strict →"/>
          <p:cNvSpPr txBox="1"/>
          <p:nvPr/>
        </p:nvSpPr>
        <p:spPr>
          <a:xfrm>
            <a:off x="4047046" y="3492500"/>
            <a:ext cx="368300" cy="222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146CF"/>
                </a:solidFill>
                <a:latin typeface="Segoe UI"/>
                <a:ea typeface="Microsoft YaHei"/>
              </a:rPr>
              <a:t>→</a:t>
            </a:r>
          </a:p>
        </p:txBody>
      </p:sp>
      <p:sp>
        <p:nvSpPr>
          <p:cNvPr id="77" name="Strict 分配下去"/>
          <p:cNvSpPr txBox="1"/>
          <p:nvPr/>
        </p:nvSpPr>
        <p:spPr>
          <a:xfrm>
            <a:off x="4047046" y="3727450"/>
            <a:ext cx="3683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分配下去</a:t>
            </a:r>
          </a:p>
        </p:txBody>
      </p:sp>
      <p:sp>
        <p:nvSpPr>
          <p:cNvPr id="78" name="Relationship gap"/>
          <p:cNvSpPr/>
          <p:nvPr/>
        </p:nvSpPr>
        <p:spPr>
          <a:xfrm>
            <a:off x="7776591" y="1385760"/>
            <a:ext cx="368300" cy="45527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Strict →"/>
          <p:cNvSpPr txBox="1"/>
          <p:nvPr/>
        </p:nvSpPr>
        <p:spPr>
          <a:xfrm>
            <a:off x="7776591" y="3492500"/>
            <a:ext cx="368300" cy="222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146CF"/>
                </a:solidFill>
                <a:latin typeface="Segoe UI"/>
                <a:ea typeface="Microsoft YaHei"/>
              </a:rPr>
              <a:t>→</a:t>
            </a:r>
          </a:p>
        </p:txBody>
      </p:sp>
      <p:sp>
        <p:nvSpPr>
          <p:cNvPr id="80" name="Strict 再收口"/>
          <p:cNvSpPr txBox="1"/>
          <p:nvPr/>
        </p:nvSpPr>
        <p:spPr>
          <a:xfrm>
            <a:off x="7776591" y="3727450"/>
            <a:ext cx="3683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再收口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28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385788"/>
            <a:ext cx="10820400" cy="1258491"/>
          </a:xfrm>
          <a:prstGeom prst="rect">
            <a:avLst/>
          </a:prstGeom>
        </p:spPr>
      </p:pic>
      <p:pic>
        <p:nvPicPr>
          <p:cNvPr id="5" name="Picture 4" descr="slide28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758579"/>
            <a:ext cx="2321520" cy="3052167"/>
          </a:xfrm>
          <a:prstGeom prst="rect">
            <a:avLst/>
          </a:prstGeom>
        </p:spPr>
      </p:pic>
      <p:pic>
        <p:nvPicPr>
          <p:cNvPr id="6" name="Picture 5" descr="slide28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53320" y="2758579"/>
            <a:ext cx="2321520" cy="3052167"/>
          </a:xfrm>
          <a:prstGeom prst="rect">
            <a:avLst/>
          </a:prstGeom>
        </p:spPr>
      </p:pic>
      <p:pic>
        <p:nvPicPr>
          <p:cNvPr id="7" name="Picture 6" descr="slide28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5141" y="2758579"/>
            <a:ext cx="2321620" cy="3052167"/>
          </a:xfrm>
          <a:prstGeom prst="rect">
            <a:avLst/>
          </a:prstGeom>
        </p:spPr>
      </p:pic>
      <p:pic>
        <p:nvPicPr>
          <p:cNvPr id="8" name="Picture 7" descr="slide28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7060" y="2758579"/>
            <a:ext cx="2321520" cy="3052167"/>
          </a:xfrm>
          <a:prstGeom prst="rect">
            <a:avLst/>
          </a:prstGeom>
        </p:spPr>
      </p:pic>
      <p:pic>
        <p:nvPicPr>
          <p:cNvPr id="9" name="Picture 8" descr="slide28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8880" y="2758579"/>
            <a:ext cx="2321620" cy="3052167"/>
          </a:xfrm>
          <a:prstGeom prst="rect">
            <a:avLst/>
          </a:prstGeom>
        </p:spPr>
      </p:pic>
      <p:pic>
        <p:nvPicPr>
          <p:cNvPr id="10" name="Picture 9" descr="slide28-deco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2480" y="5683746"/>
            <a:ext cx="6423720" cy="678954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12B · GOVERN BUILD-TIME 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新变化：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还没上线就开始计费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——开发阶段怎么管住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550" y="1519138"/>
            <a:ext cx="4231481" cy="663575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4550" y="1519138"/>
            <a:ext cx="4231481" cy="663575"/>
          </a:xfrm>
          <a:prstGeom prst="rect">
            <a:avLst/>
          </a:prstGeom>
          <a:noFill/>
        </p:spPr>
        <p:txBody>
          <a:bodyPr wrap="square" lIns="127000" tIns="101600" rIns="127000" bIns="101600" anchor="t"/>
          <a:lstStyle/>
          <a:p>
            <a:pPr algn="l">
              <a:lnSpc>
                <a:spcPts val="1275"/>
              </a:lnSpc>
            </a:pPr>
            <a:r>
              <a:rPr lang="zh-CN" sz="575" b="1" spc="46" dirty="0">
                <a:solidFill>
                  <a:srgbClr val="8A99AD"/>
                </a:solidFill>
                <a:latin typeface="Segoe UI"/>
                <a:ea typeface="Noto Sans SC"/>
                <a:cs typeface="Segoe UI"/>
              </a:rPr>
              <a:t>以前</a:t>
            </a:r>
            <a:br>
              <a:rPr sz="850"/>
            </a:br>
            <a:r>
              <a:rPr lang="en-US" sz="850" dirty="0">
                <a:solidFill>
                  <a:srgbClr val="5B6577"/>
                </a:solidFill>
                <a:latin typeface="Segoe UI"/>
                <a:cs typeface="Segoe UI"/>
              </a:rPr>
              <a:t>Agent</a:t>
            </a: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发布到生产</a:t>
            </a: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才产生消耗</a:t>
            </a:r>
            <a:br>
              <a:rPr sz="850"/>
            </a:br>
            <a:r>
              <a:rPr lang="zh-CN" sz="625" dirty="0">
                <a:solidFill>
                  <a:srgbClr val="97A3B5"/>
                </a:solidFill>
                <a:latin typeface="Segoe UI"/>
                <a:ea typeface="Noto Sans SC"/>
                <a:cs typeface="Segoe UI"/>
              </a:rPr>
              <a:t>没上线 = 不花钱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0331" y="1723926"/>
            <a:ext cx="330200" cy="3556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rgbClr val="E0457B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34831" y="1519138"/>
            <a:ext cx="5712619" cy="663575"/>
          </a:xfrm>
          <a:prstGeom prst="rect">
            <a:avLst/>
          </a:prstGeom>
          <a:solidFill>
            <a:srgbClr val="FFFFFF"/>
          </a:solidFill>
          <a:ln w="6350">
            <a:solidFill>
              <a:srgbClr val="E0457B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34831" y="1519138"/>
            <a:ext cx="5712619" cy="663575"/>
          </a:xfrm>
          <a:prstGeom prst="rect">
            <a:avLst/>
          </a:prstGeom>
          <a:noFill/>
        </p:spPr>
        <p:txBody>
          <a:bodyPr wrap="square" lIns="127000" tIns="101600" rIns="127000" bIns="101600" anchor="t"/>
          <a:lstStyle/>
          <a:p>
            <a:pPr algn="l">
              <a:lnSpc>
                <a:spcPts val="1275"/>
              </a:lnSpc>
            </a:pPr>
            <a:r>
              <a:rPr lang="zh-CN" sz="575" b="1" spc="46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现在（GHCP harness）</a:t>
            </a:r>
            <a:br>
              <a:rPr sz="850"/>
            </a:br>
            <a:r>
              <a:rPr lang="en-US" sz="850" dirty="0">
                <a:solidFill>
                  <a:srgbClr val="5B6577"/>
                </a:solidFill>
                <a:latin typeface="Segoe UI"/>
                <a:cs typeface="Segoe UI"/>
              </a:rPr>
              <a:t>maker</a:t>
            </a: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搭建 / 预览 / 评估</a:t>
            </a: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时就在消耗 Credits</a:t>
            </a:r>
            <a:br>
              <a:rPr sz="850"/>
            </a:br>
            <a:r>
              <a:rPr lang="zh-CN" sz="625" dirty="0">
                <a:solidFill>
                  <a:srgbClr val="97A3B5"/>
                </a:solidFill>
                <a:latin typeface="Segoe UI"/>
                <a:ea typeface="Noto Sans SC"/>
                <a:cs typeface="Segoe UI"/>
              </a:rPr>
              <a:t>一个纯探索的环境，可能从没发布过任何东西，账单已经在走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4550" y="2297013"/>
            <a:ext cx="10502900" cy="0"/>
          </a:xfrm>
          <a:prstGeom prst="line">
            <a:avLst/>
          </a:prstGeom>
          <a:ln w="6350">
            <a:solidFill>
              <a:srgbClr val="E0457B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4550" y="2297013"/>
            <a:ext cx="10502900" cy="213916"/>
          </a:xfrm>
          <a:prstGeom prst="rect">
            <a:avLst/>
          </a:prstGeom>
          <a:noFill/>
        </p:spPr>
        <p:txBody>
          <a:bodyPr wrap="square" lIns="0" tIns="69850" rIns="0" bIns="0" anchor="t"/>
          <a:lstStyle/>
          <a:p>
            <a:pPr algn="l">
              <a:lnSpc>
                <a:spcPts val="1085"/>
              </a:lnSpc>
            </a:pPr>
            <a:r>
              <a:rPr lang="zh-CN" sz="7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注意口径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</a:t>
            </a:r>
            <a:r>
              <a:rPr lang="zh-CN" sz="7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手动配置不计费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（Build / Monitor 里点选、连数据都免费）；只有</a:t>
            </a:r>
            <a:r>
              <a:rPr lang="zh-CN" sz="7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自然语言构建、评估、测试面板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会消耗，因为它们真的在调模型。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150" y="3625850"/>
            <a:ext cx="190500" cy="19050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9150" y="3625850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150" y="4108450"/>
            <a:ext cx="1797050" cy="59174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15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用 Power Platform Inventory 查 GHCP harness 的 Agent——官方标识是</a:t>
            </a:r>
            <a:r>
              <a:rPr lang="en-US" sz="697" b="1" dirty="0">
                <a:solidFill>
                  <a:srgbClr val="4A53D6"/>
                </a:solidFill>
                <a:latin typeface="Calibri"/>
                <a:cs typeface="Calibri"/>
              </a:rPr>
              <a:t> isCLIAgent = true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，能同时拿到它所在的环境和所有者。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50" y="3892550"/>
            <a:ext cx="182622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先找出来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00970" y="3703935"/>
            <a:ext cx="190500" cy="19050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000970" y="3703935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00970" y="4186535"/>
            <a:ext cx="1809750" cy="56624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15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把环境分成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「开发探索」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和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「有预算的生产」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控件是同一套，但用法完全不同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：开发要的是一条边界，生产要的是成本归属。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00970" y="3970635"/>
            <a:ext cx="182622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再分两类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82791" y="3703935"/>
            <a:ext cx="190500" cy="19050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82791" y="3703935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2791" y="4186535"/>
            <a:ext cx="1809750" cy="56624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15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分配一块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有限的预留容量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，并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关掉「从租户池抽」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——否则限额设了也没用，它会继续从全公司的池子里拿。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2791" y="3970635"/>
            <a:ext cx="182632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给开发环境划边界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64710" y="3703935"/>
            <a:ext cx="190500" cy="19050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364710" y="3703935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4710" y="4186535"/>
            <a:ext cx="1815405" cy="4355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15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新建的 GHCP Agent 自动套用组织默认月度上限，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并通知到 Agent 所有者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——因为内置告警只发给管理员，不一定发给建的人。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4710" y="3970635"/>
            <a:ext cx="182622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给每个 Agent 设默认限额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46530" y="3703935"/>
            <a:ext cx="190500" cy="19050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546530" y="3703935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6530" y="4186535"/>
            <a:ext cx="1809750" cy="56624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15"/>
              </a:lnSpc>
            </a:pP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新建环境可能默认就开着「从租户池抽」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，老环境配置也会漂移。对照登记表定期比对，不符就改回来。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46530" y="3970635"/>
            <a:ext cx="182632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定期巡检纠偏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83746"/>
            <a:ext cx="4282380" cy="678954"/>
          </a:xfrm>
          <a:prstGeom prst="rect">
            <a:avLst/>
          </a:prstGeom>
          <a:solidFill>
            <a:srgbClr val="F6F8FC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85800" y="5683746"/>
            <a:ext cx="4282380" cy="882640"/>
          </a:xfrm>
          <a:prstGeom prst="rect">
            <a:avLst/>
          </a:prstGeom>
          <a:noFill/>
        </p:spPr>
        <p:txBody>
          <a:bodyPr wrap="square" lIns="127000" tIns="101600" rIns="127000" bIns="101600" anchor="t"/>
          <a:lstStyle/>
          <a:p>
            <a:pPr algn="l">
              <a:lnSpc>
                <a:spcPts val="128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规模小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在 PPAC 点一点就够；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规模大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走 Power Platform API 批量配置 + 自动巡检。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15830" y="5791696"/>
            <a:ext cx="1143000" cy="139700"/>
          </a:xfrm>
          <a:prstGeom prst="roundRect">
            <a:avLst>
              <a:gd name="adj" fmla="val 50000"/>
            </a:avLst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215830" y="5791696"/>
            <a:ext cx="1143000" cy="195580"/>
          </a:xfrm>
          <a:prstGeom prst="rect">
            <a:avLst/>
          </a:prstGeom>
          <a:noFill/>
        </p:spPr>
        <p:txBody>
          <a:bodyPr wrap="none" lIns="0" tIns="19050" rIns="0" bIns="19050" anchor="t"/>
          <a:lstStyle/>
          <a:p>
            <a:pPr algn="ctr">
              <a:lnSpc>
                <a:spcPts val="720"/>
              </a:lnSpc>
            </a:pPr>
            <a:r>
              <a:rPr lang="zh-CN" sz="600" b="1" spc="36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官方治理指南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CAT · GHCP harness 成本治理指南 · 2026-08</a:t>
            </a:r>
          </a:p>
        </p:txBody>
      </p:sp>
      <p:sp>
        <p:nvSpPr>
          <p:cNvPr id="47" name="Strict 28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28 / 30</a:t>
            </a:r>
          </a:p>
        </p:txBody>
      </p:sp>
      <p:sp>
        <p:nvSpPr>
          <p:cNvPr id="48" name="Strict microsoft.github.io/mcsc"/>
          <p:cNvSpPr txBox="1"/>
          <p:nvPr/>
        </p:nvSpPr>
        <p:spPr>
          <a:xfrm>
            <a:off x="5215830" y="5969496"/>
            <a:ext cx="6157020" cy="139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microsoft.github.io/mcscatblog/posts/copilot-harness-cost-governance/</a:t>
            </a:r>
          </a:p>
        </p:txBody>
      </p:sp>
      <p:sp>
        <p:nvSpPr>
          <p:cNvPr id="49" name="Strict Adopting the GitHub Copi"/>
          <p:cNvSpPr txBox="1"/>
          <p:nvPr/>
        </p:nvSpPr>
        <p:spPr>
          <a:xfrm>
            <a:off x="5215830" y="6121896"/>
            <a:ext cx="615702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Segoe UI"/>
                <a:ea typeface="Microsoft YaHei"/>
              </a:rPr>
              <a:t>Adopting the GitHub Copilot Harness: Cost Control and Governance in Copilot Studio</a:t>
            </a:r>
          </a:p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Segoe UI"/>
                <a:ea typeface="Microsoft YaHei"/>
              </a:rPr>
              <a:t>含 Inventory / 分配 / 限额的完整 API 示例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29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373088"/>
            <a:ext cx="5327650" cy="382399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44550" y="2377877"/>
            <a:ext cx="5010150" cy="441821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44550" y="2876848"/>
            <a:ext cx="5010150" cy="441821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4550" y="3375819"/>
            <a:ext cx="5010150" cy="441821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4550" y="3874790"/>
            <a:ext cx="5010150" cy="441821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lide29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8850" y="1373088"/>
            <a:ext cx="5607050" cy="411609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337300" y="2785765"/>
            <a:ext cx="5010150" cy="651371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2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37300" y="3494286"/>
            <a:ext cx="5010150" cy="651371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2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37300" y="4202807"/>
            <a:ext cx="5010150" cy="651371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2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slide29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285978"/>
            <a:ext cx="10820400" cy="325041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05 · USE CASES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两条 harness 各自的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典型 Use Case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：分别能接哪些场景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4550" y="1506438"/>
            <a:ext cx="879574" cy="158750"/>
          </a:xfrm>
          <a:prstGeom prst="roundRect">
            <a:avLst>
              <a:gd name="adj" fmla="val 50000"/>
            </a:avLst>
          </a:prstGeom>
          <a:solidFill>
            <a:srgbClr val="3D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4550" y="1506438"/>
            <a:ext cx="879574" cy="158750"/>
          </a:xfrm>
          <a:prstGeom prst="rect">
            <a:avLst/>
          </a:prstGeom>
          <a:noFill/>
        </p:spPr>
        <p:txBody>
          <a:bodyPr wrap="square" lIns="88900" tIns="25400" rIns="88900" bIns="25400" anchor="t"/>
          <a:lstStyle/>
          <a:p>
            <a:pPr algn="l">
              <a:lnSpc>
                <a:spcPts val="780"/>
              </a:lnSpc>
            </a:pPr>
            <a:r>
              <a:rPr lang="en-US" sz="650" b="1" dirty="0">
                <a:solidFill>
                  <a:srgbClr val="FFFFFF"/>
                </a:solidFill>
                <a:latin typeface="Segoe UI"/>
                <a:cs typeface="Segoe UI"/>
              </a:rPr>
              <a:t>Standard harness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550" y="2196306"/>
            <a:ext cx="612180" cy="16891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675" b="1" dirty="0">
                <a:solidFill>
                  <a:srgbClr val="5B6675"/>
                </a:solidFill>
                <a:latin typeface="Segoe UI"/>
                <a:ea typeface="Noto Sans SC"/>
                <a:cs typeface="Segoe UI"/>
              </a:rPr>
              <a:t>符合这些特征 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13880" y="2173486"/>
            <a:ext cx="752475" cy="166291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 w="6350">
            <a:solidFill>
              <a:srgbClr val="2B7FFF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513880" y="2173486"/>
            <a:ext cx="752475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2258B8"/>
                </a:solidFill>
                <a:latin typeface="Segoe UI"/>
                <a:ea typeface="Noto Sans SC"/>
                <a:cs typeface="Segoe UI"/>
              </a:rPr>
              <a:t>答案能事先配好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10805" y="2173486"/>
            <a:ext cx="666750" cy="166291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 w="6350">
            <a:solidFill>
              <a:srgbClr val="2B7FFF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310805" y="2173486"/>
            <a:ext cx="66675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2258B8"/>
                </a:solidFill>
                <a:latin typeface="Segoe UI"/>
                <a:ea typeface="Noto Sans SC"/>
                <a:cs typeface="Segoe UI"/>
              </a:rPr>
              <a:t>步骤固定不变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22005" y="2173486"/>
            <a:ext cx="666750" cy="166291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 w="6350">
            <a:solidFill>
              <a:srgbClr val="2B7FFF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022005" y="2173486"/>
            <a:ext cx="66675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2258B8"/>
                </a:solidFill>
                <a:latin typeface="Segoe UI"/>
                <a:ea typeface="Noto Sans SC"/>
                <a:cs typeface="Segoe UI"/>
              </a:rPr>
              <a:t>不用临场判断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33205" y="2173486"/>
            <a:ext cx="923925" cy="166291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 w="6350">
            <a:solidFill>
              <a:srgbClr val="2B7FFF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33205" y="2173486"/>
            <a:ext cx="923925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2258B8"/>
                </a:solidFill>
                <a:latin typeface="Segoe UI"/>
                <a:ea typeface="Noto Sans SC"/>
                <a:cs typeface="Segoe UI"/>
              </a:rPr>
              <a:t>要快、要稳、可复现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150" y="2454077"/>
            <a:ext cx="81409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员工 IT 自助问答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17390" y="2463602"/>
            <a:ext cx="361851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817390" y="2463602"/>
            <a:ext cx="361851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IT 支持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150" y="2612827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密码怎么改、VPN 怎么连——问题有限、答案固定，配好 Topic 就能稳定回。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150" y="2953048"/>
            <a:ext cx="6477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官网客服分流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51000" y="2962573"/>
            <a:ext cx="500162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651000" y="2962573"/>
            <a:ext cx="500162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市场 / 客服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150" y="3111798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先问 3 个问题分类，够条件的自助解决，不够的转人工，路径全是规则。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150" y="3452019"/>
            <a:ext cx="6477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实时语音客服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51000" y="3461544"/>
            <a:ext cx="411262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651000" y="3461544"/>
            <a:ext cx="411262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呼叫中心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150" y="3610769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电话接入后实时应答与转接，</a:t>
            </a: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低延迟是硬指标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，话术与路径事先配好。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150" y="3950990"/>
            <a:ext cx="759718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报名 / 预约收集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63018" y="3960515"/>
            <a:ext cx="256480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763018" y="3960515"/>
            <a:ext cx="256480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运营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6150" y="4109740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按顺序把字段问全，校验后写进系统，每一步都不需要临场判断。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4550" y="4854178"/>
            <a:ext cx="5010150" cy="293370"/>
          </a:xfrm>
          <a:prstGeom prst="rect">
            <a:avLst/>
          </a:prstGeom>
          <a:noFill/>
        </p:spPr>
        <p:txBody>
          <a:bodyPr wrap="none" lIns="0" tIns="82550" rIns="0" bIns="0" anchor="t"/>
          <a:lstStyle/>
          <a:p>
            <a:pPr algn="l">
              <a:lnSpc>
                <a:spcPts val="900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这些场景：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能画成一张确定的流程图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37300" y="1506438"/>
            <a:ext cx="1120279" cy="158750"/>
          </a:xfrm>
          <a:prstGeom prst="roundRect">
            <a:avLst>
              <a:gd name="adj" fmla="val 50000"/>
            </a:avLst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37300" y="1506438"/>
            <a:ext cx="1120279" cy="158750"/>
          </a:xfrm>
          <a:prstGeom prst="rect">
            <a:avLst/>
          </a:prstGeom>
          <a:noFill/>
        </p:spPr>
        <p:txBody>
          <a:bodyPr wrap="square" lIns="88900" tIns="25400" rIns="88900" bIns="25400" anchor="t"/>
          <a:lstStyle/>
          <a:p>
            <a:pPr algn="l">
              <a:lnSpc>
                <a:spcPts val="780"/>
              </a:lnSpc>
            </a:pPr>
            <a:r>
              <a:rPr lang="en-US" sz="650" b="1" dirty="0">
                <a:solidFill>
                  <a:srgbClr val="FFFFFF"/>
                </a:solidFill>
                <a:latin typeface="Segoe UI"/>
                <a:cs typeface="Segoe UI"/>
              </a:rPr>
              <a:t>GitHub Copilot harness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7300" y="2393454"/>
            <a:ext cx="612180" cy="16891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675" b="1" dirty="0">
                <a:solidFill>
                  <a:srgbClr val="5B6675"/>
                </a:solidFill>
                <a:latin typeface="Segoe UI"/>
                <a:ea typeface="Noto Sans SC"/>
                <a:cs typeface="Segoe UI"/>
              </a:rPr>
              <a:t>符合这些特征 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006630" y="2370634"/>
            <a:ext cx="1181100" cy="166291"/>
          </a:xfrm>
          <a:prstGeom prst="roundRect">
            <a:avLst>
              <a:gd name="adj" fmla="val 50000"/>
            </a:avLst>
          </a:prstGeom>
          <a:solidFill>
            <a:srgbClr val="E0457B">
              <a:alpha val="10000"/>
            </a:srgbClr>
          </a:solidFill>
          <a:ln w="6350">
            <a:solidFill>
              <a:srgbClr val="E0457B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006630" y="2370634"/>
            <a:ext cx="118110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B12F66"/>
                </a:solidFill>
                <a:latin typeface="Segoe UI"/>
                <a:ea typeface="Noto Sans SC"/>
                <a:cs typeface="Segoe UI"/>
              </a:rPr>
              <a:t>只能定义目标、说不清步骤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32180" y="2370634"/>
            <a:ext cx="666750" cy="166291"/>
          </a:xfrm>
          <a:prstGeom prst="roundRect">
            <a:avLst>
              <a:gd name="adj" fmla="val 50000"/>
            </a:avLst>
          </a:prstGeom>
          <a:solidFill>
            <a:srgbClr val="E0457B">
              <a:alpha val="10000"/>
            </a:srgbClr>
          </a:solidFill>
          <a:ln w="6350">
            <a:solidFill>
              <a:srgbClr val="E0457B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32180" y="2370634"/>
            <a:ext cx="66675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B12F66"/>
                </a:solidFill>
                <a:latin typeface="Segoe UI"/>
                <a:ea typeface="Noto Sans SC"/>
                <a:cs typeface="Segoe UI"/>
              </a:rPr>
              <a:t>每单都不一样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43380" y="2370634"/>
            <a:ext cx="1032867" cy="166291"/>
          </a:xfrm>
          <a:prstGeom prst="roundRect">
            <a:avLst>
              <a:gd name="adj" fmla="val 50000"/>
            </a:avLst>
          </a:prstGeom>
          <a:solidFill>
            <a:srgbClr val="E0457B">
              <a:alpha val="10000"/>
            </a:srgbClr>
          </a:solidFill>
          <a:ln w="6350">
            <a:solidFill>
              <a:srgbClr val="E0457B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943380" y="2370634"/>
            <a:ext cx="1032867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B12F66"/>
                </a:solidFill>
                <a:latin typeface="Segoe UI"/>
                <a:ea typeface="Noto Sans SC"/>
                <a:cs typeface="Segoe UI"/>
              </a:rPr>
              <a:t>要理解内容 + 临场判断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020697" y="2370634"/>
            <a:ext cx="666750" cy="166291"/>
          </a:xfrm>
          <a:prstGeom prst="roundRect">
            <a:avLst>
              <a:gd name="adj" fmla="val 50000"/>
            </a:avLst>
          </a:prstGeom>
          <a:solidFill>
            <a:srgbClr val="E0457B">
              <a:alpha val="10000"/>
            </a:srgbClr>
          </a:solidFill>
          <a:ln w="6350">
            <a:solidFill>
              <a:srgbClr val="E0457B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020697" y="2370634"/>
            <a:ext cx="66675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B12F66"/>
                </a:solidFill>
                <a:latin typeface="Segoe UI"/>
                <a:ea typeface="Noto Sans SC"/>
                <a:cs typeface="Segoe UI"/>
              </a:rPr>
              <a:t>跨系统调工具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37300" y="2581374"/>
            <a:ext cx="838200" cy="166291"/>
          </a:xfrm>
          <a:prstGeom prst="roundRect">
            <a:avLst>
              <a:gd name="adj" fmla="val 50000"/>
            </a:avLst>
          </a:prstGeom>
          <a:solidFill>
            <a:srgbClr val="E0457B">
              <a:alpha val="10000"/>
            </a:srgbClr>
          </a:solidFill>
          <a:ln w="6350">
            <a:solidFill>
              <a:srgbClr val="E0457B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37300" y="2581374"/>
            <a:ext cx="83820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B12F66"/>
                </a:solidFill>
                <a:latin typeface="Segoe UI"/>
                <a:ea typeface="Noto Sans SC"/>
                <a:cs typeface="Segoe UI"/>
              </a:rPr>
              <a:t>失败要能自己恢复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38900" y="2861965"/>
            <a:ext cx="6477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合同条款分诊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43750" y="2871490"/>
            <a:ext cx="411262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143750" y="2871490"/>
            <a:ext cx="411262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法务合规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38900" y="3020715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目标：把风险条款挑出来送审。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38900" y="3218061"/>
            <a:ext cx="517227" cy="133350"/>
          </a:xfrm>
          <a:prstGeom prst="rect">
            <a:avLst/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438900" y="3218061"/>
            <a:ext cx="517227" cy="133350"/>
          </a:xfrm>
          <a:prstGeom prst="rect">
            <a:avLst/>
          </a:prstGeom>
          <a:noFill/>
        </p:spPr>
        <p:txBody>
          <a:bodyPr wrap="square" lIns="57150" tIns="19050" rIns="57150" bIns="19050" anchor="t"/>
          <a:lstStyle/>
          <a:p>
            <a:pPr algn="l">
              <a:lnSpc>
                <a:spcPts val="690"/>
              </a:lnSpc>
            </a:pPr>
            <a:r>
              <a:rPr lang="zh-CN" sz="575" b="1" spc="12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AI 自动编排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06927" y="3208536"/>
            <a:ext cx="365125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006927" y="3208536"/>
            <a:ext cx="365125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读条款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3802" y="3218061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472759" y="3208536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472759" y="3208536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比对标准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49009" y="3218061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17966" y="3208536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017966" y="3208536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判风险级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94216" y="3218061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63173" y="3208536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563173" y="3208536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异常送审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38900" y="3570486"/>
            <a:ext cx="75565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工单分诊与回复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51700" y="3580011"/>
            <a:ext cx="411262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7251700" y="3580011"/>
            <a:ext cx="411262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客服运营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38900" y="3729236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目标：看懂诉求并给出回复。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38900" y="3926582"/>
            <a:ext cx="517227" cy="133350"/>
          </a:xfrm>
          <a:prstGeom prst="rect">
            <a:avLst/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6438900" y="3926582"/>
            <a:ext cx="517227" cy="133350"/>
          </a:xfrm>
          <a:prstGeom prst="rect">
            <a:avLst/>
          </a:prstGeom>
          <a:noFill/>
        </p:spPr>
        <p:txBody>
          <a:bodyPr wrap="square" lIns="57150" tIns="19050" rIns="57150" bIns="19050" anchor="t"/>
          <a:lstStyle/>
          <a:p>
            <a:pPr algn="l">
              <a:lnSpc>
                <a:spcPts val="690"/>
              </a:lnSpc>
            </a:pPr>
            <a:r>
              <a:rPr lang="zh-CN" sz="575" b="1" spc="12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AI 自动编排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006927" y="3917057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7006927" y="3917057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解析工单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83177" y="3926582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552134" y="3917057"/>
            <a:ext cx="562173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7552134" y="3917057"/>
            <a:ext cx="562173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查订单/日志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146058" y="3926582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15015" y="3917057"/>
            <a:ext cx="365125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215015" y="3917057"/>
            <a:ext cx="365125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拟回复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611890" y="3926582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680847" y="3917057"/>
            <a:ext cx="523875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680847" y="3917057"/>
            <a:ext cx="523875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判是否升级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38900" y="4279007"/>
            <a:ext cx="74672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RFP / 标书审阅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242770" y="4288532"/>
            <a:ext cx="500162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7242770" y="4288532"/>
            <a:ext cx="500162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售前 / 投标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438900" y="4437757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目标：把上百页标书拆成一份风险清单。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438900" y="4635103"/>
            <a:ext cx="517227" cy="133350"/>
          </a:xfrm>
          <a:prstGeom prst="rect">
            <a:avLst/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6438900" y="4635103"/>
            <a:ext cx="517227" cy="133350"/>
          </a:xfrm>
          <a:prstGeom prst="rect">
            <a:avLst/>
          </a:prstGeom>
          <a:noFill/>
        </p:spPr>
        <p:txBody>
          <a:bodyPr wrap="square" lIns="57150" tIns="19050" rIns="57150" bIns="19050" anchor="t"/>
          <a:lstStyle/>
          <a:p>
            <a:pPr algn="l">
              <a:lnSpc>
                <a:spcPts val="690"/>
              </a:lnSpc>
            </a:pPr>
            <a:r>
              <a:rPr lang="zh-CN" sz="575" b="1" spc="12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AI 自动编排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006927" y="4625578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7006927" y="4625578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通读全文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483177" y="4635103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552134" y="4625578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7552134" y="4625578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拆解模块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028384" y="4635103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097341" y="4625578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8097341" y="4625578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标风险项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73591" y="4635103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642548" y="4625578"/>
            <a:ext cx="60325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8642548" y="4625578"/>
            <a:ext cx="60325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汇总排优先级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37300" y="4854178"/>
            <a:ext cx="5010150" cy="293370"/>
          </a:xfrm>
          <a:prstGeom prst="rect">
            <a:avLst/>
          </a:prstGeom>
          <a:noFill/>
        </p:spPr>
        <p:txBody>
          <a:bodyPr wrap="none" lIns="0" tIns="82550" rIns="0" bIns="0" anchor="t"/>
          <a:lstStyle/>
          <a:p>
            <a:pPr algn="l">
              <a:lnSpc>
                <a:spcPts val="900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这些场景：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只能定义目标，定不了步骤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→ 步骤交给 AI 编排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5800" y="5285978"/>
            <a:ext cx="10820400" cy="325041"/>
          </a:xfrm>
          <a:prstGeom prst="rect">
            <a:avLst/>
          </a:prstGeom>
          <a:noFill/>
        </p:spPr>
        <p:txBody>
          <a:bodyPr wrap="square" lIns="127000" tIns="82550" rIns="127000" bIns="82550" anchor="t"/>
          <a:lstStyle/>
          <a:p>
            <a:pPr algn="l">
              <a:lnSpc>
                <a:spcPts val="116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一句话记忆 →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场景能写成固定流程图，走</a:t>
            </a:r>
            <a:r>
              <a:rPr lang="en-US" sz="800" b="1" dirty="0">
                <a:solidFill>
                  <a:srgbClr val="1B2030"/>
                </a:solidFill>
                <a:latin typeface="Segoe UI"/>
                <a:cs typeface="Segoe UI"/>
              </a:rPr>
              <a:t> Standard harness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；场景只能说清目标、说不清步骤，才需要</a:t>
            </a:r>
            <a:r>
              <a:rPr lang="en-US" sz="800" b="1" dirty="0">
                <a:solidFill>
                  <a:srgbClr val="1B2030"/>
                </a:solidFill>
                <a:latin typeface="Segoe UI"/>
                <a:cs typeface="Segoe UI"/>
              </a:rPr>
              <a:t> GitHub Copilot harness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让 AI 自己编排。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Studio · 2026-08 · 官方场景示例（Legal / CS Ops / Presales）</a:t>
            </a:r>
          </a:p>
        </p:txBody>
      </p:sp>
      <p:sp>
        <p:nvSpPr>
          <p:cNvPr id="115" name="Native Standard heading"/>
          <p:cNvSpPr txBox="1"/>
          <p:nvPr/>
        </p:nvSpPr>
        <p:spPr>
          <a:xfrm>
            <a:off x="844550" y="1703260"/>
            <a:ext cx="501015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规则清楚、路径固定的场景</a:t>
            </a:r>
          </a:p>
        </p:txBody>
      </p:sp>
      <p:sp>
        <p:nvSpPr>
          <p:cNvPr id="116" name="Native Standard subtitle"/>
          <p:cNvSpPr txBox="1"/>
          <p:nvPr/>
        </p:nvSpPr>
        <p:spPr>
          <a:xfrm>
            <a:off x="844550" y="1925828"/>
            <a:ext cx="501015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75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B6577"/>
                </a:solidFill>
                <a:latin typeface="Segoe UI"/>
                <a:ea typeface="Microsoft YaHei"/>
              </a:rPr>
              <a:t>答案你事先配好，AI 负责稳定应答</a:t>
            </a:r>
          </a:p>
        </p:txBody>
      </p:sp>
      <p:sp>
        <p:nvSpPr>
          <p:cNvPr id="117" name="Native GHCP heading"/>
          <p:cNvSpPr txBox="1"/>
          <p:nvPr/>
        </p:nvSpPr>
        <p:spPr>
          <a:xfrm>
            <a:off x="6337300" y="1703260"/>
            <a:ext cx="501015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要临场判断、每单都不一样的场景</a:t>
            </a:r>
          </a:p>
        </p:txBody>
      </p:sp>
      <p:sp>
        <p:nvSpPr>
          <p:cNvPr id="118" name="Native GHCP subtitle"/>
          <p:cNvSpPr txBox="1"/>
          <p:nvPr/>
        </p:nvSpPr>
        <p:spPr>
          <a:xfrm>
            <a:off x="6337300" y="1925828"/>
            <a:ext cx="501015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75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B6577"/>
                </a:solidFill>
                <a:latin typeface="Segoe UI"/>
                <a:ea typeface="Microsoft YaHei"/>
              </a:rPr>
              <a:t>你只给目标，中间步骤</a:t>
            </a:r>
          </a:p>
        </p:txBody>
      </p:sp>
      <p:sp>
        <p:nvSpPr>
          <p:cNvPr id="119" name="Native GHCP emphasis"/>
          <p:cNvSpPr txBox="1"/>
          <p:nvPr/>
        </p:nvSpPr>
        <p:spPr>
          <a:xfrm>
            <a:off x="6337300" y="2059178"/>
            <a:ext cx="501015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5B6577"/>
                </a:solidFill>
                <a:latin typeface="Segoe UI"/>
                <a:ea typeface="Microsoft YaHei"/>
              </a:rPr>
              <a:t>AI 自己排、自己跑</a:t>
            </a:r>
          </a:p>
        </p:txBody>
      </p:sp>
      <p:sp>
        <p:nvSpPr>
          <p:cNvPr id="120" name="Strict 29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30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373088"/>
            <a:ext cx="2871788" cy="2461220"/>
          </a:xfrm>
          <a:prstGeom prst="rect">
            <a:avLst/>
          </a:prstGeom>
        </p:spPr>
      </p:pic>
      <p:pic>
        <p:nvPicPr>
          <p:cNvPr id="5" name="Picture 4" descr="slide30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" y="2192635"/>
            <a:ext cx="214312" cy="123924"/>
          </a:xfrm>
          <a:prstGeom prst="rect">
            <a:avLst/>
          </a:prstGeom>
        </p:spPr>
      </p:pic>
      <p:pic>
        <p:nvPicPr>
          <p:cNvPr id="6" name="Picture 5" descr="slide30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97238" y="1373088"/>
            <a:ext cx="2871788" cy="2461220"/>
          </a:xfrm>
          <a:prstGeom prst="rect">
            <a:avLst/>
          </a:prstGeom>
        </p:spPr>
      </p:pic>
      <p:pic>
        <p:nvPicPr>
          <p:cNvPr id="7" name="Picture 6" descr="slide30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25838" y="2109291"/>
            <a:ext cx="222746" cy="123924"/>
          </a:xfrm>
          <a:prstGeom prst="rect">
            <a:avLst/>
          </a:prstGeom>
        </p:spPr>
      </p:pic>
      <p:pic>
        <p:nvPicPr>
          <p:cNvPr id="8" name="Picture 7" descr="slide30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2975" y="1373088"/>
            <a:ext cx="2871788" cy="2461220"/>
          </a:xfrm>
          <a:prstGeom prst="rect">
            <a:avLst/>
          </a:prstGeom>
        </p:spPr>
      </p:pic>
      <p:pic>
        <p:nvPicPr>
          <p:cNvPr id="9" name="Picture 8" descr="slide30-deco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1575" y="2122587"/>
            <a:ext cx="222746" cy="123924"/>
          </a:xfrm>
          <a:prstGeom prst="rect">
            <a:avLst/>
          </a:prstGeom>
        </p:spPr>
      </p:pic>
      <p:pic>
        <p:nvPicPr>
          <p:cNvPr id="10" name="Picture 9" descr="slide30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8712" y="1373088"/>
            <a:ext cx="2871788" cy="2461220"/>
          </a:xfrm>
          <a:prstGeom prst="rect">
            <a:avLst/>
          </a:prstGeom>
        </p:spPr>
      </p:pic>
      <p:pic>
        <p:nvPicPr>
          <p:cNvPr id="11" name="Picture 10" descr="slide30-deco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77312" y="2122587"/>
            <a:ext cx="224334" cy="123924"/>
          </a:xfrm>
          <a:prstGeom prst="rect">
            <a:avLst/>
          </a:prstGeom>
        </p:spPr>
      </p:pic>
      <p:pic>
        <p:nvPicPr>
          <p:cNvPr id="12" name="Picture 11" descr="slide30-deco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" y="3688259"/>
            <a:ext cx="2871788" cy="2461320"/>
          </a:xfrm>
          <a:prstGeom prst="rect">
            <a:avLst/>
          </a:prstGeom>
        </p:spPr>
      </p:pic>
      <p:pic>
        <p:nvPicPr>
          <p:cNvPr id="13" name="Picture 12" descr="slide30-deco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100" y="4437856"/>
            <a:ext cx="222746" cy="123924"/>
          </a:xfrm>
          <a:prstGeom prst="rect">
            <a:avLst/>
          </a:prstGeom>
        </p:spPr>
      </p:pic>
      <p:pic>
        <p:nvPicPr>
          <p:cNvPr id="14" name="Picture 13" descr="slide30-deco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97238" y="3688259"/>
            <a:ext cx="2871788" cy="2461320"/>
          </a:xfrm>
          <a:prstGeom prst="rect">
            <a:avLst/>
          </a:prstGeom>
        </p:spPr>
      </p:pic>
      <p:pic>
        <p:nvPicPr>
          <p:cNvPr id="15" name="Picture 14" descr="slide30-deco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25838" y="4437856"/>
            <a:ext cx="222746" cy="123924"/>
          </a:xfrm>
          <a:prstGeom prst="rect">
            <a:avLst/>
          </a:prstGeom>
        </p:spPr>
      </p:pic>
      <p:pic>
        <p:nvPicPr>
          <p:cNvPr id="16" name="Picture 15" descr="slide30-deco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22975" y="3688259"/>
            <a:ext cx="2871788" cy="2461320"/>
          </a:xfrm>
          <a:prstGeom prst="rect">
            <a:avLst/>
          </a:prstGeom>
        </p:spPr>
      </p:pic>
      <p:pic>
        <p:nvPicPr>
          <p:cNvPr id="17" name="Picture 16" descr="slide30-deco1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51575" y="4437856"/>
            <a:ext cx="222746" cy="123924"/>
          </a:xfrm>
          <a:prstGeom prst="rect">
            <a:avLst/>
          </a:prstGeom>
        </p:spPr>
      </p:pic>
      <p:pic>
        <p:nvPicPr>
          <p:cNvPr id="18" name="Picture 17" descr="slide30-deco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48712" y="3688259"/>
            <a:ext cx="2871788" cy="2461320"/>
          </a:xfrm>
          <a:prstGeom prst="rect">
            <a:avLst/>
          </a:prstGeom>
        </p:spPr>
      </p:pic>
      <p:pic>
        <p:nvPicPr>
          <p:cNvPr id="19" name="Picture 18" descr="slide30-deco18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77312" y="4437856"/>
            <a:ext cx="222746" cy="123924"/>
          </a:xfrm>
          <a:prstGeom prst="rect">
            <a:avLst/>
          </a:prstGeom>
        </p:spPr>
      </p:pic>
      <p:pic>
        <p:nvPicPr>
          <p:cNvPr id="20" name="Picture 19" descr="slide30-deco19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5800" y="6022578"/>
            <a:ext cx="10820400" cy="340122"/>
          </a:xfrm>
          <a:prstGeom prst="rect">
            <a:avLst/>
          </a:prstGeom>
        </p:spPr>
      </p:pic>
      <p:cxnSp>
        <p:nvCxnSpPr>
          <p:cNvPr id="21" name="Connector 20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zh-CN" sz="950" b="1" spc="152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FAQ · 常见问题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客户最常问的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八个问题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，我先替你们答一遍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" y="2192635"/>
            <a:ext cx="214312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12" y="2179935"/>
            <a:ext cx="1870373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我们已经买的 License，这次会不会变？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" y="2378472"/>
            <a:ext cx="2414588" cy="42029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不会。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Chat 和 Standard harness 的商业模式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完全维持原样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，包括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在 M365 Copilot 许可里的合理使用不变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。新的按用量计费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只针对 GHCP harness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，而且要你主动选它才发生。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5838" y="2109291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30638" y="2109291"/>
            <a:ext cx="2038052" cy="3654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它叫 GitHub Copilot，那要不要买 GitHub Copilot？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5838" y="2449215"/>
            <a:ext cx="2414588" cy="420291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不用。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它把 GitHub Copilot SDK 的编排能力搬进了 Copilot</a:t>
            </a:r>
            <a:br>
              <a:rPr sz="690"/>
            </a:b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Studio，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你既不用买 GitHub Copilot 许可，也不用配 GitHub</a:t>
            </a:r>
            <a:br>
              <a:rPr sz="690"/>
            </a:b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环境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。在 Studio 里直接选用，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只消耗 Copilot Credits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1575" y="2122587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25121" y="2109887"/>
            <a:ext cx="1838920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老 Agent 会不会坏？能一键迁过去吗？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1575" y="230842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不会坏，也不会被强制迁移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——老 Agent 继续跑、继续能编辑。但要说实话：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目前没有自动迁移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，因为各条 harness 的能力不完全对应，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要换就得重建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。好消息是官方反馈重建通常很快，团队也在探索用自然语言辅助迁移。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7312" y="2122587"/>
            <a:ext cx="224334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2446" y="2109887"/>
            <a:ext cx="1653282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Standard harness 会不会被废弃？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7312" y="230842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不会，没有停用计划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，继续完整支持。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但有一句实话要讲清楚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新能力的投资绝大部分在 GHCP 架构上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。所以我的建议是——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老场景安心留在 Standard，新的复杂场景往 GHCP 上走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" y="4437856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3646" y="4425156"/>
            <a:ext cx="2050355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GHCP 上没有 Topics，那确定性怎么保证？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" y="462369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Topics 是 Standard 用得最多的功能，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在 GHCP 里没有直接对应物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。需要确定性响应时，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用 Workflow 来替代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——把必须每次一样的步骤画成流程。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后续会用 Hooks 补充确定性编排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；触发器支持也接近完成。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5838" y="4437856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9384" y="4425156"/>
            <a:ext cx="1986359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什么时候开始扣费？8/3 之前建的怎么算？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5838" y="462369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这条最容易漏，请务必说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8/3 之前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建的 GHCP Agent，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沿用原商业模式到 9 月 1 日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，之后转按量；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8/3 及以后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建的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立即按量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。另外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手动搭建不计费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，只有自然语言构建、评估、测试面板会消耗。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51575" y="4437856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25121" y="4425156"/>
            <a:ext cx="1885950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能不能用我们自己的模型？会被锁死吗？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1575" y="462369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能。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Agent 层用内置 frontier 模型，图的是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不用自己管部署和版本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；要用自研或 Foundry 目录里的模型，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挂在 Workflow 的模型节点上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。内部系统走 MCP 或自定义连接器，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只接一次两边都能用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77312" y="4437856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0859" y="4425156"/>
            <a:ext cx="1362075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治理和合规要重新审一遍吗？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77312" y="462369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不用。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环境控制、连接器策略、身份认证、DLP、合规承诺与安全架构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全部沿用现有那一套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，GHCP harness 只是换了编排方式，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没有替换你们已经建立的治理框架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，也不需要重新做认证或安全评估。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6022578"/>
            <a:ext cx="10820400" cy="340122"/>
          </a:xfrm>
          <a:prstGeom prst="rect">
            <a:avLst/>
          </a:prstGeom>
          <a:noFill/>
        </p:spPr>
        <p:txBody>
          <a:bodyPr wrap="square" lIns="139700" tIns="82550" rIns="139700" bIns="82550" anchor="t"/>
          <a:lstStyle/>
          <a:p>
            <a:pPr algn="l">
              <a:lnSpc>
                <a:spcPts val="1279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如果只让你们记住一句 →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这次升级</a:t>
            </a: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没有动任何人已经买的东西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，它只是在原来的 Copilot Studio 里，</a:t>
            </a: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多给了你一条能接更复杂业务的路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——要不要走、走多少，完全由你控制。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Billing details &amp; Capacity management · 2026-08</a:t>
            </a:r>
          </a:p>
        </p:txBody>
      </p:sp>
      <p:sp>
        <p:nvSpPr>
          <p:cNvPr id="50" name="Strict 30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14308</Words>
  <Application>Microsoft Office PowerPoint</Application>
  <PresentationFormat>宽屏</PresentationFormat>
  <Paragraphs>1812</Paragraphs>
  <Slides>30</Slides>
  <Notes>30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3" baseType="lpstr">
      <vt:lpstr>Noto Sans SC</vt:lpstr>
      <vt:lpstr>Noto Serif SC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Ganmianzhang</cp:lastModifiedBy>
  <cp:revision>2</cp:revision>
  <dcterms:created xsi:type="dcterms:W3CDTF">2013-01-27T09:14:16Z</dcterms:created>
  <dcterms:modified xsi:type="dcterms:W3CDTF">2026-09-05T12:46:56Z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2026-09-05T12:46:31Z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899aca58-7bdc-45e9-bec6-1cc9d3f12894</vt:lpwstr>
  </property>
  <property fmtid="{D5CDD505-2E9C-101B-9397-08002B2CF9AE}" pid="7" name="MSIP_Label_defa4170-0d19-0005-0004-bc88714345d2_ActionId">
    <vt:lpwstr>d10b53c7-8ee3-49f2-9379-542d8d3d8333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